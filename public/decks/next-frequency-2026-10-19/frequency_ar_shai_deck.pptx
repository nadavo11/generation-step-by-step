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1a54d8f3-9869-29f5-455c-071c57d4e43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Appendix" id="{4cfd5fb3-618d-f484-05dc-92f2bcde4a59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 one-slide state of the project.
Claim: on FFHQ-64, our frequency-autoregressive model A1 (11.1M parameters) reaches FID-50K 9.46 with recall 0.413 using a validated UniPC schedule of 46 serial network evaluations. Our own DCTdiff port R0 (44.2M) with the same solver family reaches 8.68 / 0.440 at 15 evaluations. Both are measured with the same q90 reference and EDM Inception evaluator on 50k samples.
What is genuinely promising: 4x fewer parameters at ~1.09x the FID; on FFHQ the causal model beats its own joint control (slide 7).
What is weak: serial depth (46 vs 15), 1.84x latency at batch 16, and 1.72x the training H100-hours to get there. The sample strip is uncurated: seed 9 shows the single-token G3 checkerboard tail artifact, which we diagnose on slide 10.
Likely objection: "the UniPC gain is just a solver" — correct, and we applied it to R0 too; the gap persists.
Sources: reports/dct_causal/efficiency/phase2_verdict.json, bench.json, bench_r0.json; reports/dct_causal/efficiency/baseline.json.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position the factorization against the two standard ones.
Joint diffusion (DCTdiff, EDM...) denoises everything at a shared noise level; spectral coarse-to-fine behaviour is emergent (DCTdiff even argues diffusion is implicitly spectral AR). Spatial AR generates pixels/patches serially. Ours makes frequency the explicit causal axis: four groups of block-DCT coefficients, each generated as an entire 8x8 spatial field, conditioned on all lower groups.
The bottom row is real data, not model output: decoding a real FFHQ-64 image with only G0 gives the 16x16 luma / 8x8 chroma block means; adding G1 gives edges; G2 and G3 add detail.
Important honesty point: we do not assume frequency causality is superior. The interesting questions are whether it helps quality, conditional diversity, training efficiency or sampling efficiency. The rest of the deck answers each separately.
Source: reports/dct_causal/efficiency real10k cache; lsb/dct_causal/ffhq64_eff.py lowpass convention.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exact model, from the code (libs/axial_freqk.py, AxialFreqK with rep dct4x4k9; config ffhq64_exp.py:a1_d256).
Representation: DCTdiff's own FFHQ representation ported to 64x64: YCbCr 4:2:0, 4x4 block DCT, first 9 zig-zag coefficients; one token = an 8x8-pixel area = 4 luma blocks + Cb + Cr, 6 blocks x 9 = 54 channels, 64 tokens. Groups are u+v of the zig-zag position: G0 = DC; G1 = (0,1),(1,0); G2 = (2,0),(1,1),(0,2); G3 = (0,3),(1,2),(2,1). Note (3,0) is not in the 9 retained coefficients, so G3 is not orientation-symmetric.
Trunk: the state is [batch, slots, 1+64 tokens, 256]. Each block does split-head axial attention with one shared QKV: 3 spatial heads attend densely over the 65 tokens within a slot (no spatial order), 1 frequency head attends across slots at the same spatial position under the mask on the right. Training packs clean G0..G2 (teacher forcing) and noisy G0..G3 (independent t per stage) into one forward; noisy G_k sees clean G_&lt;k and itself only, so all four conditionals are trained per example.
Parameter sharing: all 13 blocks, positional and time embeddings are shared across stages; only the per-stage input/output linear adapters and the stage embedding are stage-specific.
Sampling: an outer loop over k; for each k an inner UniPC ODE (20/10/8/8 calls) integrates the noisy field while the clean prefix's per-layer frequency-head keys/values are computed once and cached (exact: clean slots never depend on noisy slots or on t).
Do not confuse: the outer autoregression is over frequency groups; the inner process is a standard diffusion ODE over one spatial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make "next-frequency prediction" concrete with genuine samples.
Left: six uncurated samples (std seeds 0-5) from A1 at 250k with the UniPC [20,10,8,8] sampler. Row 1 shows only G0 - the DC of every 4x4 block, i.e. a 16x16 luma / 8x8 chroma mosaic: it already fixes identity-level layout, pose, colour. G1 adds first-order gradients (edges), G2 and G3 add texture and sharpness.
Right: what each group contributes on its own (contrast-stretched; G1-G3 have very different energies). The bar chart is the measured noise influence: re-sampling only G0's noise changes 98% of pixel variance and 99% of the Inception-feature change of a fully independent draw; G1 noise moves 31% of the features but under 3% of pixels; G3 only 12%.
So G0 decides the layout almost completely. This is why a G0 error is so consequential, and why our efficient sampler gives G0 the most solver calls.
Source: decoded from /dev/shm/nadavo_dct/eff/runs/j20_10_8_8/s0_coef.pt; phase1_verdict.json noise_pixel_share / noise_feature_share.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make clear which comparison answers which question.
R0 is DCTdiff's official FFHQ-128 "small" U-ViT recipe ported to 64x64, run in our environment with our evaluator (44.2M parameters). It reproduces the authors' released CIFAR checkpoint (FID-10K 8.50 vs 8.54), so we trust the port.
A0 and A1 are the same 11.09M-parameter axial network. A0 makes all four groups noisy at one shared t with bidirectional frequency attention: it is a joint diffusion model with our backbone. A1 adds the clean prefix slots, independent noise levels per stage, and the causal mask.
So A1 - A0 is the clean test of the factorization. A1 - R0 asks whether the whole package is competitive, but mixes backbone, capacity and token design.
Likely objection: A1 does 1.75x A0's training FLOPs per image (31.1 vs 17.8 GFLOP) because the clean prefix is re-encoded. We therefore report matched steps, matched H100-hours and matched FLOPs separately (slide 7).
Earlier designs (spatial-causal U-ViT - wrong axis; 256-token block-causal staging - 4.18x FLOPs; channel-lane causality - capacity confounded) are in appendix A5.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first evidence, including the part that went against us.
On CIFAR-10 at D192, A1 looked almost free relative to its joint control (A1/A0 = 1.05 at 100k). With the wider D256 network trained to 250k, A0 kept improving (13.99 -&gt; 10.98) while A1 flattened near 12.8, so A0/A1 went 0.95 -&gt; 0.83: the causal penalty grows with training. The early comparison was misleading.
Single-axis screens (all 100k, pre-registered rules): width is the only clear win; more spectral stages in the same 4x4 DCT (K3 -&gt; K7) gave 0.95x FID at 2.06x compute; the full-image DCT with 8 bands overfit badly - each early global band has ~12 degrees of freedom per image so the next band becomes a lookup (train loss falls, held-out loss rises); a persistent Gaussian context G_-1 and stage-noise jitter were neutral.
The sample rows show the single-token checkerboard already on CIFAR (frog, car).
Do not compare these FIDs with FFHQ numbers: different dataset, representation (2x2 DCT, 3 groups) and reference statistics.
Source: reports/dct_causal/scaling/summary.json; narrative SCALING_SUMMARY and D256_NOTE.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result that made the project interesting again.
Protocol (PREREG_FFHQ64.md): jpeg-ar's q90 FFHQ-64 (all 70k images), NVlabs EDM Inception FID against the q90 reference; every arm gets 3.34 H100-hours, R0's measured time to 250k. Throughput probes set A1 to 146k steps and A0 to 174k. Final checkpoints scored with FID-50K and precision/recall at n=50k; all with the original matched Euler sampler (100 calls per stage).
Result: R0 12.66, A1 15.08 (1.19x R0), A0 18.49. On FFHQ the frequency-AR model beats its joint control at matched steps, matched H100-hours and recall - the reverse of CIFAR. Per training FLOP it is roughly a tie, because A1 does 1.75x A0's FLOPs per image; A1's hour advantage partly comes from better GPU utilisation.
BandJoint (our older design, 122.5M parameters, different architecture and training budget) is shown only as a historical point under the same evaluator: A1 is 1.41x better with 11x fewer parameters.
Caveats to say out loud: one training seed per arm; all arms short of maturity; this is not proof that low-to-high frequency order is universally better (slide 11 has the reverse-order control).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what more training buys, and why we stopped.
The compute-matched A1 (146k) was resumed from its full state (weights, EMA, AdamW moments, scheduler) with everything frozen except the step count (PREREG_A1_FFHQ64_MATURITY.md). The pre-registered 200k gate passed; the 200k-&gt;250k leg was a weak improvement (-0.31 FID-10K). The FID-50K rule then triggered: 13.69 at 250k, 1.08x R0's 12.66.
That is quality proximity, not efficiency: it took 5.77 H100-hours (1.72x R0) and 1.77x R0's training FLOPs, and recall stays below R0 (.347 vs .375). The G3 tail outlier rate also grows with training (2.9% -&gt; 3.6%).
Panel (a) mixes nothing: all FID-10K, all Euler. Panel (b) is FID-50K only at the checkpoints where it was evaluated. FID-10K is systematically ~1.2-1.3 higher than FID-50K here, which is why we never place them on one axis.
Important framing: this was our conclusion before solver optimization - the next slide changes the sampling picture, not the training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largest single improvement, stated with its fairness control.
Phase 2 of the efficiency campaign kept A1's 250k weights frozen and only changed the sampler. The original Euler sampler (100 calls per stage, 400 serial calls) was both under-converged and badly allocated. Per-stage allocation curves showed G0 needs 15-20 UniPC calls (its errors amplify 3-4x into later bands) while G2/G3 tolerate 8. The winning joint schedule [20,10,8,8] = 46 calls gives FID-50K 9.46 vs 13.75 (paired seeds, -31%) and recall +0.064, at 8.0x lower batch-500 GPU-seconds and 9.3x lower batch-16 latency.
The fairness control is essential: the same UniPC applied to R0 gives FID-50K 8.68 at 15 calls (8.69 at 20). So A1/R0 stays ~1.09 and A1 remains 1.4-1.8x slower to sample. Distilling G2/G3 to 1-2 calls would save at most 12 of 46 calls and cannot close the serial-depth gap, so it was not run.
Likely objection: "you tuned A1's schedule more than R0's" - R0 was swept over UniPC 10/15/20/30/50, with 15 and 20 confirmed on a second seed set; both give FID-50K ~8.7.
Source: efficiency/phase2_verdict.json, bench.json, bench_r0.json, runs.json (f50_*).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locate the remaining deficit, carefully distinguishing interventions from attribution.
(1) G0 is the most influential group (its noise controls 98% of pixel variance and perturbations amplify 3-4x downstream) but is adequately modelled: its PCA-64 coverage matches the real-vs-real reference and spread/skill is 0.99.
(2) The real-prefix oracle (an intervention): replacing G0 with the real image's coefficients drops FID-10K 14.92 -&gt; 11.11; adding real G1 -&gt; 7.31; G2 -&gt; 4.13; all real -&gt; 3.01 (the representation floor). Shares 32/32/27/9%. These are cumulative increments along one path, not additive causal attributions; and real prefixes are training images that are also in the FID reference.
(3) The deficit grows with frequency and is a diversity/scale problem: with a REAL prefix, G2/G3 already have spread/skill 0.83/0.81 and energy 0.90/0.88 (under-dispersed conditionals); with the model's own prefix the coverage gap widens to -0.13/-0.22 and energy to 0.84/0.71. The pre-registered rules make H1 (conditional variance under-estimation compounding through the chain) primary, H2 (spatial capacity) marginal; H3 (exposure bias) fails its rule.
(4) A zero-training probe that rescales each generated group about the data mean (alpha fitted on a separate calibration set) improves FID-10K 10.77 -&gt; 10.50 and recall +0.015 - consistent with H1, and the motivation for the running candidate A.
(5) The tail artifact: one token's G3 coefficients explode when that token's own Gaussian noise has norm beyond ~3 sigma; the network under-predicts extreme input noise at t=1, and sigma/alpha amplifies it. It is visible in ~2-3% of images but costs nothing measurable in FID (truncating the noise tail changes FID by +0.05 on CIFAR).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one dashboard of the screens that changed our interpretation. Green = clear gain, grey = neutral, red = regression/negative, yellow = partial or important-but-provisional, cyan = gain that is not architectural.
CIFAR (100k, pre-registered helps &lt;= 0.90x / hurts &gt;= 1.10x): width is the only single-axis win. Finer spectral serialization buys little at large cost. The full-image DCT construction memorises (on 50k images, early global bands carry ~12 numbers per image). Refinement by the joint model recovers ~70% of the A1-&gt;A0 gap but never beats A0.
FFHQ (50k screens, canonical UniPC sampler, raw and EMA): shallower, more finely serialized (6 Euclidean rings) or less spatial (8x8 blocks, 16 tokens) variants all regress; editing earlier groups at inference through the frozen model's own loss does nothing beyond random edits.
Two FFHQ results matter most for the paper question:
- Reverse order (G3 -&gt; G2 -&gt; G1 -&gt; G0, same parameters, verified leakage-free) is catastrophic at 100k: FID-10K 46.8 vs 13.7 with each direction's best sampler, 48.9 vs 17.4 at equal calls (UniPC-15 per stage). Low-to-high order matters for this architecture. Caveat: the prereg requires inspecting stagewise teacher-forced losses before attributing a &gt;2x failure purely to ordering; that write-up is pending, and other orders (e.g. interleaved) were not tested.
- The variance probe is small but directional evidence for the H1 diagnosis.
Newest row (evaluated 11:22 IDT today): per-group data-std preconditioning, the training-time version of the variance probe. Paired over two seed sets it improves EMA FID-10K by 11.8% and recall by +0.07-0.08, but raw-weight FID is 0.6% worse (within seed noise), so under the strict pre-registered survivor rule it is borderline. Not yet adjudicated by the campaign - present it as early evidence only.
The UniPC row is included only so the dashboard is complete; it is a sampler, not an architecture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the honest frontier, with three separately labelled axes.
A (quality vs sampling GPU-seconds, isolated H100 benchmark): R0 with UniPC-15 is better and cheaper than any A1 configuration. A1's UniPC point is 1.36x R0's GPU-seconds (and 1.84x its batch-16 latency).
B (quality vs training H100-hours): R0 reached 8.68 with 3.34 h; A1 needed 5.77 h for 9.46. We do not have a UniPC FID-50K for A1 at 146k (the equal-hours checkpoint), so we do not claim one.
C (quality vs parameters, marker area = recall): A1 and R0 are both on the frontier - neither dominates. This is the one axis where A1 wins: 11.1M vs 44.2M parameters.
I verified Pareto status only among the points plotted. A0 appears only with Euler because its UniPC result is FID-10K only (15.00, vs A1 at 250k 10.77 on the same protocol). BandJoint is a different architecture trained on A5000s; it appears only in the size plot and is clearly dominated.
Conclusion sentence is the requested one, and it is what the data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an accurate novelty map, so we do not overclaim.
Categories: explicit coefficient AR (DCTransformer: quantized sparse DCT triples, one scalar per step; JPEG-LM: an LLM over JPEG bytes); joint diffusion in DCT space (DCTdiff - our R0 and our representation); groupwise sequential diffusion over frequency (GDM); frequency/scale-level AR with tokenizers (FAR-Yu with continuous latents and a per-token diffusion MLP; NFIG with frequency-guided residual VQ; SpectralAR with nested spectral tokens; VAR with scales); continuous-token AR with non-diffusion heads (GIVT GMM, JetFormer flow+GMM, MAR diffusion MLP); multi-scale conditional flows (Wavelet Flow).
What we cannot claim: frequency-ordered AR, per-stage diffusion over frequency groups, DCT diffusion, or the solver.
What might be defensible, if supported by controls: making frequency an explicit causal axis inside one axial network with an exact prefix cache, and generating each group as a jointly modelled spatial field (FAR-Yu and MAR use per-token heads; Nash is per-scalar). The reverse-order result and the measured per-band evaluation allocation are candidate findings, not yet mechanisms.
Missing: a written-up order mechanism, any frontier win against optimized DCTdiff, the F1 diffusion-free result, and a second dataset/resolution.
All rows were checked against the papers (links in appendix A10).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what we will run, its status, and how outcomes map to claims.
A (order): completed as a 100k screen - reverse order is catastrophic, recall collapses to 0.055. Remaining: the pre-registered inspection of stagewise teacher-forced losses before we attribute the failure purely to order; an interleaved order would make the claim sharper.
B (diffusion-free head): the prior-art audit chose a conditional affine-coupling flow over each whole field (GMM-per-location discards within-field spatial dependence; MaskGIT needs quantization). All seven pre-training gates pass (round trip 1.3e-5, exact log-det, synthetic density gap 0.007 nats/dim, zero leakage, spatially coupled samples). The 50k pilot is queued, not run.
C (coefficient-plane K=9): authorized only. Our own evidence (CIFAR K7 neutral at 2x compute; FFHQ 6-ring K6 -42% raw FID) makes a positive outcome unlikely; if run, generator family is held fixed so granularity is the only change.
D (late-group dispersion): candidate A (per-stage data-std preconditioning, motivated by the H1 diagnosis and the variance probe) finished its 50k pilot this morning. Paired FID-10K (mean of std and 31M seeds) vs the A1 50k control: EMA 28.81 -&gt; 25.41 (-11.8%), raw 26.80 -&gt; 26.96 (+0.6%, within ~0.2 seed noise); recall +0.077 (EMA) / +0.070 (raw). Strictly, the FID clause fails on raw and the recall clause needs 'FID not worse', which raw misses by 0.16 - borderline. The campaign has not adjudicated it; I report it as early and unadjudicated. Candidate B (depthwise 3x3 mixer with an equal-parameter 1x1 control) started training at ~11:22 IDT.
Survivor rule (pre-registered): &gt;=5% better paired FID-10K in raw AND EMA at 50k, or +0.02 recall without FID loss, with serial calls unchanged and &lt;=10% per-call latency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invite a decision, not applause.
Strongest claim we can defend today: on FFHQ-64, with the backbone held fixed, explicit causal frequency generation beats joint generation at equal compute, and the reverse order is catastrophic - so the order is not arbitrary for this model. Practically, A1 matches DCTdiff to within 9% FID with a quarter of the parameters.
Main threat: FAR (Yu et al. 2025) already does next-frequency AR with a diffusion head on continuous tokens; GDM sequentially diffuses frequency groups; Nash et al. did low-to-high DCT AR. Our distinctions are real but are design combinations.
Missing: anything that beats optimized DCTdiff on training or latency, a written-up mechanism for why order matters, a second dataset/resolution, and the diffusion-free head.
Questions for Shai: (1) is frequency causality a distinct inductive bias or just a schedule; (2) what is the simplest stochastic field generator that keeps diversity; (3) which single experiment would make the work both competitive and differentiated.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material for questions. Every slide carries its source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packing from the code. The zig-zag truncation at 9 coefficients means G3 contains (0,3),(1,2),(2,1) but not (3,0); this asymmetry is inherited from DCTdiff and is the reason the F2 coefficient-plane order needs an explicit tie-break convention.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mask shown is generated by the same rule as libs/axial_freq.slot_mask. The verification JSON stores the actual mask used in a traced forward, and the Jacobian tests are numerical, not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Solver curves: UniPC beats DPM-Solver++(2M) and Euler for A1 at every budget; A1 FID rises with more uniform calls (UniPC-10 better than UniPC-50), i.e. a mildly over-dispersed fine solve trades precision for recall. R0 is flat from 15 calls on. The allocation figure is the evidence for giving G0 the most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q90: the BandJoint campaign trained on q90-decoded images, and to compare against its 21.32 winner we kept its protocol. The official-reference FID is reported separately because it includes the codec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kept for completeness; none produced a model we compare against. The spatial-causal run was a specification error (wrong axis); the others were correct but either too costly or confounded by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FLOPs come from torch FlopCounterMode (matmul/conv/attention, forward+backward; elementwise ops not counted). The CIFAR profile showed the same pattern: A1 at D192 used 0.72x R0 FLOPs but 1.55x GEMM time because 192-wide matmuls underuse tensor 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rows of tiles are the three worst FFHQ UniPC samples by max |coef|/data-max, decoded cumulatively: the artifact is absent until G3 is added. On CIFAR the diagnosis was done by noise/prefix swaps at a fixed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numbers behind slides 6 and 11. CIFAR FIDs and FFHQ FIDs are on different scales and must not be compared across the two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rows share the same initial noise tensor for each column (generator 20261017, shard 0). This is a qualitative cross-check of the quantitative claims: UniPC is the same model with a better solve; R0 and A0, both joint ODEs, learn nearly the same noise-to-image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entry was opened on arXiv (abstract page) on 19 Oct 2026; venue info from CVF/PMLR/ECVA where listed. FAR appears twice in the literature under the same acronym (Yu et al. frequency AR; Hang et al. fast AR) - they are different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png"/><Relationship Id="rId19" Type="http://schemas.openxmlformats.org/officeDocument/2006/relationships/image" Target="../media/image-25-19.png"/><Relationship Id="rId20" Type="http://schemas.openxmlformats.org/officeDocument/2006/relationships/image" Target="../media/image-25-20.png"/><Relationship Id="rId21" Type="http://schemas.openxmlformats.org/officeDocument/2006/relationships/image" Target="../media/image-25-21.png"/><Relationship Id="rId22" Type="http://schemas.openxmlformats.org/officeDocument/2006/relationships/image" Target="../media/image-25-22.png"/><Relationship Id="rId23" Type="http://schemas.openxmlformats.org/officeDocument/2006/relationships/image" Target="../media/image-25-23.png"/><Relationship Id="rId24" Type="http://schemas.openxmlformats.org/officeDocument/2006/relationships/image" Target="../media/image-25-24.png"/><Relationship Id="rId25" Type="http://schemas.openxmlformats.org/officeDocument/2006/relationships/image" Target="../media/image-25-25.png"/><Relationship Id="rId26" Type="http://schemas.openxmlformats.org/officeDocument/2006/relationships/image" Target="../media/image-25-26.png"/><Relationship Id="rId27" Type="http://schemas.openxmlformats.org/officeDocument/2006/relationships/image" Target="../media/image-25-27.png"/><Relationship Id="rId28" Type="http://schemas.openxmlformats.org/officeDocument/2006/relationships/image" Target="../media/image-25-28.png"/><Relationship Id="rId29" Type="http://schemas.openxmlformats.org/officeDocument/2006/relationships/image" Target="../media/image-25-29.png"/><Relationship Id="rId30" Type="http://schemas.openxmlformats.org/officeDocument/2006/relationships/image" Target="../media/image-25-30.png"/><Relationship Id="rId31" Type="http://schemas.openxmlformats.org/officeDocument/2006/relationships/image" Target="../media/image-25-31.png"/><Relationship Id="rId32" Type="http://schemas.openxmlformats.org/officeDocument/2006/relationships/image" Target="../media/image-25-32.png"/><Relationship Id="rId33" Type="http://schemas.openxmlformats.org/officeDocument/2006/relationships/image" Target="../media/image-25-33.png"/><Relationship Id="rId34" Type="http://schemas.openxmlformats.org/officeDocument/2006/relationships/image" Target="../media/image-25-34.png"/><Relationship Id="rId35" Type="http://schemas.openxmlformats.org/officeDocument/2006/relationships/image" Target="../media/image-25-35.png"/><Relationship Id="rId36" Type="http://schemas.openxmlformats.org/officeDocument/2006/relationships/image" Target="../media/image-25-36.png"/><Relationship Id="rId37" Type="http://schemas.openxmlformats.org/officeDocument/2006/relationships/image" Target="../media/image-25-37.png"/><Relationship Id="rId38" Type="http://schemas.openxmlformats.org/officeDocument/2006/relationships/image" Target="../media/image-25-38.png"/><Relationship Id="rId39" Type="http://schemas.openxmlformats.org/officeDocument/2006/relationships/image" Target="../media/image-25-39.png"/><Relationship Id="rId40" Type="http://schemas.openxmlformats.org/officeDocument/2006/relationships/image" Target="../media/image-25-40.png"/><Relationship Id="rId41" Type="http://schemas.openxmlformats.org/officeDocument/2006/relationships/image" Target="../media/image-25-41.png"/><Relationship Id="rId42" Type="http://schemas.openxmlformats.org/officeDocument/2006/relationships/image" Target="../media/image-25-42.png"/><Relationship Id="rId43" Type="http://schemas.openxmlformats.org/officeDocument/2006/relationships/image" Target="../media/image-25-43.png"/><Relationship Id="rId44" Type="http://schemas.openxmlformats.org/officeDocument/2006/relationships/image" Target="../media/image-25-44.png"/><Relationship Id="rId45" Type="http://schemas.openxmlformats.org/officeDocument/2006/relationships/image" Target="../media/image-25-45.png"/><Relationship Id="rId46" Type="http://schemas.openxmlformats.org/officeDocument/2006/relationships/image" Target="../media/image-25-46.png"/><Relationship Id="rId47" Type="http://schemas.openxmlformats.org/officeDocument/2006/relationships/image" Target="../media/image-25-47.png"/><Relationship Id="rId48" Type="http://schemas.openxmlformats.org/officeDocument/2006/relationships/image" Target="../media/image-25-48.png"/><Relationship Id="rId49" Type="http://schemas.openxmlformats.org/officeDocument/2006/relationships/image" Target="../media/image-25-49.png"/><Relationship Id="rId50" Type="http://schemas.openxmlformats.org/officeDocument/2006/relationships/image" Target="../media/image-25-50.png"/><Relationship Id="rId51" Type="http://schemas.openxmlformats.org/officeDocument/2006/relationships/image" Target="../media/image-25-51.png"/><Relationship Id="rId52" Type="http://schemas.openxmlformats.org/officeDocument/2006/relationships/image" Target="../media/image-25-52.png"/><Relationship Id="rId53" Type="http://schemas.openxmlformats.org/officeDocument/2006/relationships/image" Target="../media/image-25-53.png"/><Relationship Id="rId54" Type="http://schemas.openxmlformats.org/officeDocument/2006/relationships/image" Target="../media/image-25-54.png"/><Relationship Id="rId55" Type="http://schemas.openxmlformats.org/officeDocument/2006/relationships/image" Target="../media/image-25-55.png"/><Relationship Id="rId56" Type="http://schemas.openxmlformats.org/officeDocument/2006/relationships/image" Target="../media/image-25-56.png"/><Relationship Id="rId57" Type="http://schemas.openxmlformats.org/officeDocument/2006/relationships/image" Target="../media/image-25-57.png"/><Relationship Id="rId58" Type="http://schemas.openxmlformats.org/officeDocument/2006/relationships/image" Target="../media/image-25-58.png"/><Relationship Id="rId59" Type="http://schemas.openxmlformats.org/officeDocument/2006/relationships/image" Target="../media/image-25-59.png"/><Relationship Id="rId60" Type="http://schemas.openxmlformats.org/officeDocument/2006/relationships/image" Target="../media/image-25-60.png"/><Relationship Id="rId61" Type="http://schemas.openxmlformats.org/officeDocument/2006/relationships/image" Target="../media/image-25-61.png"/><Relationship Id="rId62" Type="http://schemas.openxmlformats.org/officeDocument/2006/relationships/image" Target="../media/image-25-62.png"/><Relationship Id="rId63" Type="http://schemas.openxmlformats.org/officeDocument/2006/relationships/image" Target="../media/image-25-63.png"/><Relationship Id="rId64" Type="http://schemas.openxmlformats.org/officeDocument/2006/relationships/image" Target="../media/image-25-64.png"/><Relationship Id="rId65" Type="http://schemas.openxmlformats.org/officeDocument/2006/relationships/image" Target="../media/image-25-65.png"/><Relationship Id="rId66" Type="http://schemas.openxmlformats.org/officeDocument/2006/relationships/image" Target="../media/image-25-66.png"/><Relationship Id="rId67" Type="http://schemas.openxmlformats.org/officeDocument/2006/relationships/image" Target="../media/image-25-67.png"/><Relationship Id="rId68" Type="http://schemas.openxmlformats.org/officeDocument/2006/relationships/image" Target="../media/image-25-68.png"/><Relationship Id="rId69" Type="http://schemas.openxmlformats.org/officeDocument/2006/relationships/image" Target="../media/image-25-69.png"/><Relationship Id="rId70" Type="http://schemas.openxmlformats.org/officeDocument/2006/relationships/image" Target="../media/image-25-70.png"/><Relationship Id="rId71" Type="http://schemas.openxmlformats.org/officeDocument/2006/relationships/image" Target="../media/image-25-71.png"/><Relationship Id="rId72" Type="http://schemas.openxmlformats.org/officeDocument/2006/relationships/image" Target="../media/image-25-72.png"/><Relationship Id="rId73" Type="http://schemas.openxmlformats.org/officeDocument/2006/relationships/slideLayout" Target="../slideLayouts/slideLayout2.xml"/><Relationship Id="rId7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103.03841" TargetMode="External"/><Relationship Id="rId2" Type="http://schemas.openxmlformats.org/officeDocument/2006/relationships/hyperlink" Target="https://arxiv.org/abs/2408.08459" TargetMode="External"/><Relationship Id="rId3" Type="http://schemas.openxmlformats.org/officeDocument/2006/relationships/hyperlink" Target="https://arxiv.org/abs/2412.15032" TargetMode="External"/><Relationship Id="rId4" Type="http://schemas.openxmlformats.org/officeDocument/2006/relationships/hyperlink" Target="https://arxiv.org/abs/2310.01400" TargetMode="External"/><Relationship Id="rId5" Type="http://schemas.openxmlformats.org/officeDocument/2006/relationships/hyperlink" Target="https://arxiv.org/abs/2503.05305" TargetMode="External"/><Relationship Id="rId6" Type="http://schemas.openxmlformats.org/officeDocument/2006/relationships/hyperlink" Target="https://arxiv.org/abs/2503.07076" TargetMode="External"/><Relationship Id="rId7" Type="http://schemas.openxmlformats.org/officeDocument/2006/relationships/hyperlink" Target="https://arxiv.org/abs/2506.10962" TargetMode="External"/><Relationship Id="rId8" Type="http://schemas.openxmlformats.org/officeDocument/2006/relationships/hyperlink" Target="https://arxiv.org/abs/2404.02905" TargetMode="External"/><Relationship Id="rId9" Type="http://schemas.openxmlformats.org/officeDocument/2006/relationships/hyperlink" Target="https://arxiv.org/abs/2406.11838" TargetMode="External"/><Relationship Id="rId10" Type="http://schemas.openxmlformats.org/officeDocument/2006/relationships/hyperlink" Target="https://arxiv.org/abs/2312.02116" TargetMode="External"/><Relationship Id="rId11" Type="http://schemas.openxmlformats.org/officeDocument/2006/relationships/hyperlink" Target="https://arxiv.org/abs/2411.19722" TargetMode="External"/><Relationship Id="rId12" Type="http://schemas.openxmlformats.org/officeDocument/2006/relationships/hyperlink" Target="https://arxiv.org/abs/2010.13821" TargetMode="External"/><Relationship Id="rId13" Type="http://schemas.openxmlformats.org/officeDocument/2006/relationships/hyperlink" Target="https://arxiv.org/abs/2504.18391" TargetMode="External"/><Relationship Id="rId14" Type="http://schemas.openxmlformats.org/officeDocument/2006/relationships/hyperlink" Target="https://arxiv.org/abs/2511.19365" TargetMode="External"/><Relationship Id="rId15" Type="http://schemas.openxmlformats.org/officeDocument/2006/relationships/hyperlink" Target="https://arxiv.org/abs/2302.04867" TargetMode="External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 ·  FFHQ-64  ·  STATUS 19 OCT 2026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Frequency-AR image generation: what have we learned?</a:t>
            </a:r>
            <a:endParaRPr lang="en-US" sz="2800" dirty="0"/>
          </a:p>
        </p:txBody>
      </p:sp>
      <p:pic>
        <p:nvPicPr>
          <p:cNvPr id="4" name="img_1" descr="/home/nada/PycharmProjects/learned-spectral-basis/.claude/worktrees/shai-deck/reports/shai_deck/figures/samples/j20_10_8_8_s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73252" cy="873252"/>
          </a:xfrm>
          <a:prstGeom prst="rect">
            <a:avLst/>
          </a:prstGeom>
        </p:spPr>
      </p:pic>
      <p:pic>
        <p:nvPicPr>
          <p:cNvPr id="5" name="img_2" descr="/home/nada/PycharmProjects/learned-spectral-basis/.claude/worktrees/shai-deck/reports/shai_deck/figures/samples/j20_10_8_8_s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756" y="1371600"/>
            <a:ext cx="873252" cy="873252"/>
          </a:xfrm>
          <a:prstGeom prst="rect">
            <a:avLst/>
          </a:prstGeom>
        </p:spPr>
      </p:pic>
      <p:pic>
        <p:nvPicPr>
          <p:cNvPr id="6" name="img_3" descr="/home/nada/PycharmProjects/learned-spectral-basis/.claude/worktrees/shai-deck/reports/shai_deck/figures/samples/j20_10_8_8_s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1371600"/>
            <a:ext cx="873252" cy="873252"/>
          </a:xfrm>
          <a:prstGeom prst="rect">
            <a:avLst/>
          </a:prstGeom>
        </p:spPr>
      </p:pic>
      <p:pic>
        <p:nvPicPr>
          <p:cNvPr id="7" name="img_4" descr="/home/nada/PycharmProjects/learned-spectral-basis/.claude/worktrees/shai-deck/reports/shai_deck/figures/samples/j20_10_8_8_s0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988" y="1371600"/>
            <a:ext cx="873252" cy="873252"/>
          </a:xfrm>
          <a:prstGeom prst="rect">
            <a:avLst/>
          </a:prstGeom>
        </p:spPr>
      </p:pic>
      <p:pic>
        <p:nvPicPr>
          <p:cNvPr id="8" name="img_5" descr="/home/nada/PycharmProjects/learned-spectral-basis/.claude/worktrees/shai-deck/reports/shai_deck/figures/samples/j20_10_8_8_s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104" y="1371600"/>
            <a:ext cx="873252" cy="873252"/>
          </a:xfrm>
          <a:prstGeom prst="rect">
            <a:avLst/>
          </a:prstGeom>
        </p:spPr>
      </p:pic>
      <p:pic>
        <p:nvPicPr>
          <p:cNvPr id="9" name="img_6" descr="/home/nada/PycharmProjects/learned-spectral-basis/.claude/worktrees/shai-deck/reports/shai_deck/figures/samples/j20_10_8_8_s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9220" y="1371600"/>
            <a:ext cx="873252" cy="873252"/>
          </a:xfrm>
          <a:prstGeom prst="rect">
            <a:avLst/>
          </a:prstGeom>
        </p:spPr>
      </p:pic>
      <p:pic>
        <p:nvPicPr>
          <p:cNvPr id="10" name="img_7" descr="/home/nada/PycharmProjects/learned-spectral-basis/.claude/worktrees/shai-deck/reports/shai_deck/figures/samples/j20_10_8_8_s0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336" y="1371600"/>
            <a:ext cx="873252" cy="873252"/>
          </a:xfrm>
          <a:prstGeom prst="rect">
            <a:avLst/>
          </a:prstGeom>
        </p:spPr>
      </p:pic>
      <p:pic>
        <p:nvPicPr>
          <p:cNvPr id="11" name="img_8" descr="/home/nada/PycharmProjects/learned-spectral-basis/.claude/worktrees/shai-deck/reports/shai_deck/figures/samples/j20_10_8_8_s0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5452" y="1371600"/>
            <a:ext cx="873252" cy="873252"/>
          </a:xfrm>
          <a:prstGeom prst="rect">
            <a:avLst/>
          </a:prstGeom>
        </p:spPr>
      </p:pic>
      <p:pic>
        <p:nvPicPr>
          <p:cNvPr id="12" name="img_9" descr="/home/nada/PycharmProjects/learned-spectral-basis/.claude/worktrees/shai-deck/reports/shai_deck/figures/samples/j20_10_8_8_s0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3568" y="1371600"/>
            <a:ext cx="873252" cy="873252"/>
          </a:xfrm>
          <a:prstGeom prst="rect">
            <a:avLst/>
          </a:prstGeom>
        </p:spPr>
      </p:pic>
      <p:pic>
        <p:nvPicPr>
          <p:cNvPr id="13" name="img_10" descr="/home/nada/PycharmProjects/learned-spectral-basis/.claude/worktrees/shai-deck/reports/shai_deck/figures/samples/j20_10_8_8_s0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1684" y="1371600"/>
            <a:ext cx="873252" cy="873252"/>
          </a:xfrm>
          <a:prstGeom prst="rect">
            <a:avLst/>
          </a:prstGeom>
        </p:spPr>
      </p:pic>
      <p:pic>
        <p:nvPicPr>
          <p:cNvPr id="14" name="img_11" descr="/home/nada/PycharmProjects/learned-spectral-basis/.claude/worktrees/shai-deck/reports/shai_deck/figures/samples/j20_10_8_8_s1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9800" y="1371600"/>
            <a:ext cx="873252" cy="873252"/>
          </a:xfrm>
          <a:prstGeom prst="rect">
            <a:avLst/>
          </a:prstGeom>
        </p:spPr>
      </p:pic>
      <p:pic>
        <p:nvPicPr>
          <p:cNvPr id="15" name="img_12" descr="/home/nada/PycharmProjects/learned-spectral-basis/.claude/worktrees/shai-deck/reports/shai_deck/figures/samples/j20_10_8_8_s1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57916" y="1371600"/>
            <a:ext cx="873252" cy="873252"/>
          </a:xfrm>
          <a:prstGeom prst="rect">
            <a:avLst/>
          </a:prstGeom>
        </p:spPr>
      </p:pic>
      <p:sp>
        <p:nvSpPr>
          <p:cNvPr id="16" name="text_13"/>
          <p:cNvSpPr txBox="1"/>
          <p:nvPr/>
        </p:nvSpPr>
        <p:spPr>
          <a:xfrm>
            <a:off x="548640" y="22860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(ours, 11.1M) · 250k EMA · UniPC [20,10,8,8] · std seeds 0–11, uncurated — seed 9 shows the rare single-token G3 checkerboard (slide 10)</a:t>
            </a:r>
            <a:endParaRPr lang="en-US" sz="1050" dirty="0"/>
          </a:p>
        </p:txBody>
      </p:sp>
      <p:sp>
        <p:nvSpPr>
          <p:cNvPr id="17" name="box_14"/>
          <p:cNvSpPr/>
          <p:nvPr/>
        </p:nvSpPr>
        <p:spPr>
          <a:xfrm>
            <a:off x="548640" y="2743200"/>
            <a:ext cx="4160520" cy="3246120"/>
          </a:xfrm>
          <a:prstGeom prst="roundRect">
            <a:avLst>
              <a:gd name="adj" fmla="val 2254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8" name="text_15"/>
          <p:cNvSpPr txBox="1"/>
          <p:nvPr/>
        </p:nvSpPr>
        <p:spPr>
          <a:xfrm>
            <a:off x="749808" y="28895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19" name="text_16"/>
          <p:cNvSpPr txBox="1"/>
          <p:nvPr/>
        </p:nvSpPr>
        <p:spPr>
          <a:xfrm>
            <a:off x="749808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p(X) = </a:t>
            </a:r>
            <a:r>
              <a:rPr lang="en-US" sz="18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∏</a:t>
            </a:r>
            <a:r>
              <a:rPr lang="en-US" sz="1800" baseline="-400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k</a:t>
            </a:r>
            <a:r>
              <a:rPr lang="en-US" sz="18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p(G</a:t>
            </a:r>
            <a:r>
              <a:rPr lang="en-US" sz="1800" baseline="-400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k</a:t>
            </a:r>
            <a:r>
              <a:rPr lang="en-US" sz="18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| G</a:t>
            </a:r>
            <a:r>
              <a:rPr lang="en-US" sz="1800" baseline="-400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&lt;k</a:t>
            </a:r>
            <a:r>
              <a:rPr lang="en-US" sz="18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endParaRPr lang="en-US" sz="1800" dirty="0"/>
          </a:p>
        </p:txBody>
      </p:sp>
      <p:sp>
        <p:nvSpPr>
          <p:cNvPr id="20" name="box_17"/>
          <p:cNvSpPr/>
          <p:nvPr/>
        </p:nvSpPr>
        <p:spPr>
          <a:xfrm>
            <a:off x="749808" y="3639312"/>
            <a:ext cx="310896" cy="310896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21" name="text_18"/>
          <p:cNvSpPr txBox="1"/>
          <p:nvPr/>
        </p:nvSpPr>
        <p:spPr>
          <a:xfrm>
            <a:off x="1152144" y="36393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  DC</a:t>
            </a:r>
            <a:endParaRPr lang="en-US" sz="1150" dirty="0"/>
          </a:p>
        </p:txBody>
      </p:sp>
      <p:sp>
        <p:nvSpPr>
          <p:cNvPr id="22" name="text_19"/>
          <p:cNvSpPr txBox="1"/>
          <p:nvPr/>
        </p:nvSpPr>
        <p:spPr>
          <a:xfrm>
            <a:off x="3474720" y="3639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UniPC 20 calls</a:t>
            </a:r>
            <a:endParaRPr lang="en-US" sz="1100" dirty="0"/>
          </a:p>
        </p:txBody>
      </p:sp>
      <p:sp>
        <p:nvSpPr>
          <p:cNvPr id="23" name="line_20"/>
          <p:cNvSpPr/>
          <p:nvPr/>
        </p:nvSpPr>
        <p:spPr>
          <a:xfrm>
            <a:off x="905256" y="3959352"/>
            <a:ext cx="91" cy="91440"/>
          </a:xfrm>
          <a:prstGeom prst="line">
            <a:avLst/>
          </a:prstGeom>
          <a:noFill/>
          <a:ln w="12700">
            <a:solidFill>
              <a:srgbClr val="9AA6B8"/>
            </a:solidFill>
            <a:prstDash val="solid"/>
            <a:headEnd type="none"/>
            <a:tailEnd type="triangle"/>
          </a:ln>
        </p:spPr>
      </p:sp>
      <p:sp>
        <p:nvSpPr>
          <p:cNvPr id="24" name="box_21"/>
          <p:cNvSpPr/>
          <p:nvPr/>
        </p:nvSpPr>
        <p:spPr>
          <a:xfrm>
            <a:off x="749808" y="4059936"/>
            <a:ext cx="310896" cy="310896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5" name="text_22"/>
          <p:cNvSpPr txBox="1"/>
          <p:nvPr/>
        </p:nvSpPr>
        <p:spPr>
          <a:xfrm>
            <a:off x="1152144" y="4059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G1  (0,1) (1,0)</a:t>
            </a:r>
            <a:endParaRPr lang="en-US" sz="1150" dirty="0"/>
          </a:p>
        </p:txBody>
      </p:sp>
      <p:sp>
        <p:nvSpPr>
          <p:cNvPr id="26" name="text_23"/>
          <p:cNvSpPr txBox="1"/>
          <p:nvPr/>
        </p:nvSpPr>
        <p:spPr>
          <a:xfrm>
            <a:off x="3474720" y="40599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UniPC 10 calls</a:t>
            </a:r>
            <a:endParaRPr lang="en-US" sz="1100" dirty="0"/>
          </a:p>
        </p:txBody>
      </p:sp>
      <p:sp>
        <p:nvSpPr>
          <p:cNvPr id="27" name="line_24"/>
          <p:cNvSpPr/>
          <p:nvPr/>
        </p:nvSpPr>
        <p:spPr>
          <a:xfrm>
            <a:off x="905256" y="4379976"/>
            <a:ext cx="91" cy="91440"/>
          </a:xfrm>
          <a:prstGeom prst="line">
            <a:avLst/>
          </a:prstGeom>
          <a:noFill/>
          <a:ln w="12700">
            <a:solidFill>
              <a:srgbClr val="9AA6B8"/>
            </a:solidFill>
            <a:prstDash val="solid"/>
            <a:headEnd type="none"/>
            <a:tailEnd type="triangle"/>
          </a:ln>
        </p:spPr>
      </p:sp>
      <p:sp>
        <p:nvSpPr>
          <p:cNvPr id="28" name="box_25"/>
          <p:cNvSpPr/>
          <p:nvPr/>
        </p:nvSpPr>
        <p:spPr>
          <a:xfrm>
            <a:off x="749808" y="4480560"/>
            <a:ext cx="310896" cy="310896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29" name="text_26"/>
          <p:cNvSpPr txBox="1"/>
          <p:nvPr/>
        </p:nvSpPr>
        <p:spPr>
          <a:xfrm>
            <a:off x="1152144" y="4480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  (2,0) (1,1) (0,2)</a:t>
            </a:r>
            <a:endParaRPr lang="en-US" sz="1150" dirty="0"/>
          </a:p>
        </p:txBody>
      </p:sp>
      <p:sp>
        <p:nvSpPr>
          <p:cNvPr id="30" name="text_27"/>
          <p:cNvSpPr txBox="1"/>
          <p:nvPr/>
        </p:nvSpPr>
        <p:spPr>
          <a:xfrm>
            <a:off x="3474720" y="4480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UniPC 8 calls</a:t>
            </a:r>
            <a:endParaRPr lang="en-US" sz="1100" dirty="0"/>
          </a:p>
        </p:txBody>
      </p:sp>
      <p:sp>
        <p:nvSpPr>
          <p:cNvPr id="31" name="line_28"/>
          <p:cNvSpPr/>
          <p:nvPr/>
        </p:nvSpPr>
        <p:spPr>
          <a:xfrm>
            <a:off x="905256" y="4800600"/>
            <a:ext cx="91" cy="91440"/>
          </a:xfrm>
          <a:prstGeom prst="line">
            <a:avLst/>
          </a:prstGeom>
          <a:noFill/>
          <a:ln w="12700">
            <a:solidFill>
              <a:srgbClr val="9AA6B8"/>
            </a:solidFill>
            <a:prstDash val="solid"/>
            <a:headEnd type="none"/>
            <a:tailEnd type="triangle"/>
          </a:ln>
        </p:spPr>
      </p:sp>
      <p:sp>
        <p:nvSpPr>
          <p:cNvPr id="32" name="box_29"/>
          <p:cNvSpPr/>
          <p:nvPr/>
        </p:nvSpPr>
        <p:spPr>
          <a:xfrm>
            <a:off x="749808" y="4901184"/>
            <a:ext cx="310896" cy="310896"/>
          </a:xfrm>
          <a:prstGeom prst="rect">
            <a:avLst/>
          </a:prstGeom>
          <a:solidFill>
            <a:srgbClr val="E8D44D"/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33" name="text_30"/>
          <p:cNvSpPr txBox="1"/>
          <p:nvPr/>
        </p:nvSpPr>
        <p:spPr>
          <a:xfrm>
            <a:off x="1152144" y="49011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G3  (0,3) (1,2) (2,1)</a:t>
            </a:r>
            <a:endParaRPr lang="en-US" sz="1150" dirty="0"/>
          </a:p>
        </p:txBody>
      </p:sp>
      <p:sp>
        <p:nvSpPr>
          <p:cNvPr id="34" name="text_31"/>
          <p:cNvSpPr txBox="1"/>
          <p:nvPr/>
        </p:nvSpPr>
        <p:spPr>
          <a:xfrm>
            <a:off x="3474720" y="49011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UniPC 8 calls</a:t>
            </a:r>
            <a:endParaRPr lang="en-US" sz="1100" dirty="0"/>
          </a:p>
        </p:txBody>
      </p:sp>
      <p:sp>
        <p:nvSpPr>
          <p:cNvPr id="35" name="text_32"/>
          <p:cNvSpPr txBox="1"/>
          <p:nvPr/>
        </p:nvSpPr>
        <p:spPr>
          <a:xfrm>
            <a:off x="749808" y="5321808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Outer: AR over 4 groups of 4×4 block-DCT coefficients. Inner: a conditional diffusion ODE samples each group’s whole 8×8 field (one axial transformer, exact prefix cache).</a:t>
            </a:r>
            <a:endParaRPr lang="en-US" sz="1050" dirty="0"/>
          </a:p>
        </p:txBody>
      </p:sp>
      <p:sp>
        <p:nvSpPr>
          <p:cNvPr id="36" name="box_33"/>
          <p:cNvSpPr/>
          <p:nvPr/>
        </p:nvSpPr>
        <p:spPr>
          <a:xfrm>
            <a:off x="4937760" y="2743200"/>
            <a:ext cx="1705356" cy="2331720"/>
          </a:xfrm>
          <a:prstGeom prst="roundRect">
            <a:avLst>
              <a:gd name="adj" fmla="val 4290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37" name="text_34"/>
          <p:cNvSpPr txBox="1"/>
          <p:nvPr/>
        </p:nvSpPr>
        <p:spPr>
          <a:xfrm>
            <a:off x="5102352" y="28803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freq-AR</a:t>
            </a:r>
            <a:endParaRPr lang="en-US" sz="1200" dirty="0"/>
          </a:p>
        </p:txBody>
      </p:sp>
      <p:sp>
        <p:nvSpPr>
          <p:cNvPr id="38" name="text_35"/>
          <p:cNvSpPr txBox="1"/>
          <p:nvPr/>
        </p:nvSpPr>
        <p:spPr>
          <a:xfrm>
            <a:off x="5102352" y="3154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9.46</a:t>
            </a:r>
            <a:endParaRPr lang="en-US" sz="3800" dirty="0"/>
          </a:p>
        </p:txBody>
      </p:sp>
      <p:sp>
        <p:nvSpPr>
          <p:cNvPr id="39" name="text_36"/>
          <p:cNvSpPr txBox="1"/>
          <p:nvPr/>
        </p:nvSpPr>
        <p:spPr>
          <a:xfrm>
            <a:off x="5102352" y="37764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FID-50K</a:t>
            </a:r>
            <a:endParaRPr lang="en-US" sz="1050" dirty="0"/>
          </a:p>
        </p:txBody>
      </p:sp>
      <p:sp>
        <p:nvSpPr>
          <p:cNvPr id="40" name="text_37"/>
          <p:cNvSpPr txBox="1"/>
          <p:nvPr/>
        </p:nvSpPr>
        <p:spPr>
          <a:xfrm>
            <a:off x="5102352" y="40416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 11.1M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0.413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serial calls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5.77 H100-h</a:t>
            </a:r>
            <a:endParaRPr lang="en-US" sz="1150" dirty="0"/>
          </a:p>
        </p:txBody>
      </p:sp>
      <p:sp>
        <p:nvSpPr>
          <p:cNvPr id="41" name="box_38"/>
          <p:cNvSpPr/>
          <p:nvPr/>
        </p:nvSpPr>
        <p:spPr>
          <a:xfrm>
            <a:off x="6752844" y="2743200"/>
            <a:ext cx="1705356" cy="2331720"/>
          </a:xfrm>
          <a:prstGeom prst="roundRect">
            <a:avLst>
              <a:gd name="adj" fmla="val 4290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42" name="text_39"/>
          <p:cNvSpPr txBox="1"/>
          <p:nvPr/>
        </p:nvSpPr>
        <p:spPr>
          <a:xfrm>
            <a:off x="6917436" y="28803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 DCTdiff</a:t>
            </a:r>
            <a:endParaRPr lang="en-US" sz="1200" dirty="0"/>
          </a:p>
        </p:txBody>
      </p:sp>
      <p:sp>
        <p:nvSpPr>
          <p:cNvPr id="43" name="text_40"/>
          <p:cNvSpPr txBox="1"/>
          <p:nvPr/>
        </p:nvSpPr>
        <p:spPr>
          <a:xfrm>
            <a:off x="6917436" y="3154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8.68</a:t>
            </a:r>
            <a:endParaRPr lang="en-US" sz="3800" dirty="0"/>
          </a:p>
        </p:txBody>
      </p:sp>
      <p:sp>
        <p:nvSpPr>
          <p:cNvPr id="44" name="text_41"/>
          <p:cNvSpPr txBox="1"/>
          <p:nvPr/>
        </p:nvSpPr>
        <p:spPr>
          <a:xfrm>
            <a:off x="6917436" y="37764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FID-50K</a:t>
            </a:r>
            <a:endParaRPr lang="en-US" sz="1050" dirty="0"/>
          </a:p>
        </p:txBody>
      </p:sp>
      <p:sp>
        <p:nvSpPr>
          <p:cNvPr id="45" name="text_42"/>
          <p:cNvSpPr txBox="1"/>
          <p:nvPr/>
        </p:nvSpPr>
        <p:spPr>
          <a:xfrm>
            <a:off x="6917436" y="40416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 44.2M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0.440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serial calls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3.34 H100-h</a:t>
            </a:r>
            <a:endParaRPr lang="en-US" sz="1150" dirty="0"/>
          </a:p>
        </p:txBody>
      </p:sp>
      <p:sp>
        <p:nvSpPr>
          <p:cNvPr id="46" name="text_43"/>
          <p:cNvSpPr txBox="1"/>
          <p:nvPr/>
        </p:nvSpPr>
        <p:spPr>
          <a:xfrm>
            <a:off x="4937760" y="51389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Both: validated UniPC samplers, same q90 evaluator</a:t>
            </a:r>
            <a:endParaRPr lang="en-US" sz="1050" dirty="0"/>
          </a:p>
        </p:txBody>
      </p:sp>
      <p:sp>
        <p:nvSpPr>
          <p:cNvPr id="47" name="box_44"/>
          <p:cNvSpPr/>
          <p:nvPr/>
        </p:nvSpPr>
        <p:spPr>
          <a:xfrm>
            <a:off x="8641080" y="2743200"/>
            <a:ext cx="3017520" cy="2331720"/>
          </a:xfrm>
          <a:prstGeom prst="roundRect">
            <a:avLst>
              <a:gd name="adj" fmla="val 313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48" name="text_45"/>
          <p:cNvSpPr txBox="1"/>
          <p:nvPr/>
        </p:nvSpPr>
        <p:spPr>
          <a:xfrm>
            <a:off x="882396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WON</a:t>
            </a:r>
            <a:endParaRPr lang="en-US" sz="1100" dirty="0"/>
          </a:p>
        </p:txBody>
      </p:sp>
      <p:sp>
        <p:nvSpPr>
          <p:cNvPr id="49" name="text_46"/>
          <p:cNvSpPr txBox="1"/>
          <p:nvPr/>
        </p:nvSpPr>
        <p:spPr>
          <a:xfrm>
            <a:off x="8823960" y="320040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vs 15</a:t>
            </a: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serial evaluations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1.84×</a:t>
            </a: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latency, 1.36× GPU-s (H100)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1.72×</a:t>
            </a: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H100-h for this FID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gap</a:t>
            </a: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grows G1→G3</a:t>
            </a:r>
            <a:endParaRPr lang="en-US" sz="1300" dirty="0"/>
          </a:p>
        </p:txBody>
      </p:sp>
      <p:sp>
        <p:nvSpPr>
          <p:cNvPr id="50" name="box_47"/>
          <p:cNvSpPr/>
          <p:nvPr/>
        </p:nvSpPr>
        <p:spPr>
          <a:xfrm>
            <a:off x="4937760" y="5559552"/>
            <a:ext cx="6720840" cy="621792"/>
          </a:xfrm>
          <a:prstGeom prst="roundRect">
            <a:avLst>
              <a:gd name="adj" fmla="val 11765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1" name="text_48"/>
          <p:cNvSpPr txBox="1"/>
          <p:nvPr/>
        </p:nvSpPr>
        <p:spPr>
          <a:xfrm>
            <a:off x="5102352" y="5577840"/>
            <a:ext cx="6446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  </a:t>
            </a: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explicit frequency causality a distinct, useful inductive bias — and can its per-field generator be made cheap enough to win the quality–compute frontier, not just the parameter count?</a:t>
            </a:r>
            <a:endParaRPr lang="en-US" sz="1250" dirty="0"/>
          </a:p>
        </p:txBody>
      </p:sp>
      <p:sp>
        <p:nvSpPr>
          <p:cNvPr id="52" name="text_49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FFHQ64-q90 (70k), EDM Inception FID-50K + k=3 P/R; A1 a1_d256 250k EMA, R0 our DCTdiff port 250k EMA; latency: isolated H100 NVL bench (bs 500 / bs 16). efficiency/phase2_verdict.json, bench*.json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order image generation by frequency?</a:t>
            </a:r>
            <a:endParaRPr lang="en-US" sz="2800" dirty="0"/>
          </a:p>
        </p:txBody>
      </p:sp>
      <p:sp>
        <p:nvSpPr>
          <p:cNvPr id="4" name="box_50"/>
          <p:cNvSpPr/>
          <p:nvPr/>
        </p:nvSpPr>
        <p:spPr>
          <a:xfrm>
            <a:off x="548640" y="1371600"/>
            <a:ext cx="3538728" cy="2606040"/>
          </a:xfrm>
          <a:prstGeom prst="roundRect">
            <a:avLst>
              <a:gd name="adj" fmla="val 280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5" name="text_51"/>
          <p:cNvSpPr txBox="1"/>
          <p:nvPr/>
        </p:nvSpPr>
        <p:spPr>
          <a:xfrm>
            <a:off x="731520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diffusion</a:t>
            </a:r>
            <a:endParaRPr lang="en-US" sz="1450" dirty="0"/>
          </a:p>
        </p:txBody>
      </p:sp>
      <p:sp>
        <p:nvSpPr>
          <p:cNvPr id="6" name="box_52"/>
          <p:cNvSpPr/>
          <p:nvPr/>
        </p:nvSpPr>
        <p:spPr>
          <a:xfrm>
            <a:off x="1216152" y="187452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7" name="box_53"/>
          <p:cNvSpPr/>
          <p:nvPr/>
        </p:nvSpPr>
        <p:spPr>
          <a:xfrm>
            <a:off x="1371600" y="187452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8" name="box_54"/>
          <p:cNvSpPr/>
          <p:nvPr/>
        </p:nvSpPr>
        <p:spPr>
          <a:xfrm>
            <a:off x="1527048" y="187452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9" name="box_55"/>
          <p:cNvSpPr/>
          <p:nvPr/>
        </p:nvSpPr>
        <p:spPr>
          <a:xfrm>
            <a:off x="1682496" y="187452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10" name="box_56"/>
          <p:cNvSpPr/>
          <p:nvPr/>
        </p:nvSpPr>
        <p:spPr>
          <a:xfrm>
            <a:off x="1837944" y="187452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11" name="box_57"/>
          <p:cNvSpPr/>
          <p:nvPr/>
        </p:nvSpPr>
        <p:spPr>
          <a:xfrm>
            <a:off x="1993392" y="187452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12" name="box_58"/>
          <p:cNvSpPr/>
          <p:nvPr/>
        </p:nvSpPr>
        <p:spPr>
          <a:xfrm>
            <a:off x="1216152" y="2029968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13" name="box_59"/>
          <p:cNvSpPr/>
          <p:nvPr/>
        </p:nvSpPr>
        <p:spPr>
          <a:xfrm>
            <a:off x="1371600" y="2029968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14" name="box_60"/>
          <p:cNvSpPr/>
          <p:nvPr/>
        </p:nvSpPr>
        <p:spPr>
          <a:xfrm>
            <a:off x="1527048" y="2029968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15" name="box_61"/>
          <p:cNvSpPr/>
          <p:nvPr/>
        </p:nvSpPr>
        <p:spPr>
          <a:xfrm>
            <a:off x="1682496" y="2029968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16" name="box_62"/>
          <p:cNvSpPr/>
          <p:nvPr/>
        </p:nvSpPr>
        <p:spPr>
          <a:xfrm>
            <a:off x="1837944" y="2029968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17" name="box_63"/>
          <p:cNvSpPr/>
          <p:nvPr/>
        </p:nvSpPr>
        <p:spPr>
          <a:xfrm>
            <a:off x="1993392" y="2029968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18" name="box_64"/>
          <p:cNvSpPr/>
          <p:nvPr/>
        </p:nvSpPr>
        <p:spPr>
          <a:xfrm>
            <a:off x="1216152" y="2185416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19" name="box_65"/>
          <p:cNvSpPr/>
          <p:nvPr/>
        </p:nvSpPr>
        <p:spPr>
          <a:xfrm>
            <a:off x="1371600" y="2185416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20" name="box_66"/>
          <p:cNvSpPr/>
          <p:nvPr/>
        </p:nvSpPr>
        <p:spPr>
          <a:xfrm>
            <a:off x="1527048" y="2185416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21" name="box_67"/>
          <p:cNvSpPr/>
          <p:nvPr/>
        </p:nvSpPr>
        <p:spPr>
          <a:xfrm>
            <a:off x="1682496" y="2185416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22" name="box_68"/>
          <p:cNvSpPr/>
          <p:nvPr/>
        </p:nvSpPr>
        <p:spPr>
          <a:xfrm>
            <a:off x="1837944" y="2185416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23" name="box_69"/>
          <p:cNvSpPr/>
          <p:nvPr/>
        </p:nvSpPr>
        <p:spPr>
          <a:xfrm>
            <a:off x="1993392" y="2185416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24" name="box_70"/>
          <p:cNvSpPr/>
          <p:nvPr/>
        </p:nvSpPr>
        <p:spPr>
          <a:xfrm>
            <a:off x="1216152" y="2340864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25" name="box_71"/>
          <p:cNvSpPr/>
          <p:nvPr/>
        </p:nvSpPr>
        <p:spPr>
          <a:xfrm>
            <a:off x="1371600" y="2340864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26" name="box_72"/>
          <p:cNvSpPr/>
          <p:nvPr/>
        </p:nvSpPr>
        <p:spPr>
          <a:xfrm>
            <a:off x="1527048" y="2340864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27" name="box_73"/>
          <p:cNvSpPr/>
          <p:nvPr/>
        </p:nvSpPr>
        <p:spPr>
          <a:xfrm>
            <a:off x="1682496" y="2340864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28" name="box_74"/>
          <p:cNvSpPr/>
          <p:nvPr/>
        </p:nvSpPr>
        <p:spPr>
          <a:xfrm>
            <a:off x="1837944" y="2340864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29" name="box_75"/>
          <p:cNvSpPr/>
          <p:nvPr/>
        </p:nvSpPr>
        <p:spPr>
          <a:xfrm>
            <a:off x="1993392" y="2340864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30" name="box_76"/>
          <p:cNvSpPr/>
          <p:nvPr/>
        </p:nvSpPr>
        <p:spPr>
          <a:xfrm>
            <a:off x="1216152" y="2496312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31" name="box_77"/>
          <p:cNvSpPr/>
          <p:nvPr/>
        </p:nvSpPr>
        <p:spPr>
          <a:xfrm>
            <a:off x="1371600" y="2496312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32" name="box_78"/>
          <p:cNvSpPr/>
          <p:nvPr/>
        </p:nvSpPr>
        <p:spPr>
          <a:xfrm>
            <a:off x="1527048" y="2496312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33" name="box_79"/>
          <p:cNvSpPr/>
          <p:nvPr/>
        </p:nvSpPr>
        <p:spPr>
          <a:xfrm>
            <a:off x="1682496" y="2496312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34" name="box_80"/>
          <p:cNvSpPr/>
          <p:nvPr/>
        </p:nvSpPr>
        <p:spPr>
          <a:xfrm>
            <a:off x="1837944" y="2496312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35" name="box_81"/>
          <p:cNvSpPr/>
          <p:nvPr/>
        </p:nvSpPr>
        <p:spPr>
          <a:xfrm>
            <a:off x="1993392" y="2496312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36" name="box_82"/>
          <p:cNvSpPr/>
          <p:nvPr/>
        </p:nvSpPr>
        <p:spPr>
          <a:xfrm>
            <a:off x="1216152" y="265176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37" name="box_83"/>
          <p:cNvSpPr/>
          <p:nvPr/>
        </p:nvSpPr>
        <p:spPr>
          <a:xfrm>
            <a:off x="1371600" y="265176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38" name="box_84"/>
          <p:cNvSpPr/>
          <p:nvPr/>
        </p:nvSpPr>
        <p:spPr>
          <a:xfrm>
            <a:off x="1527048" y="265176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39" name="box_85"/>
          <p:cNvSpPr/>
          <p:nvPr/>
        </p:nvSpPr>
        <p:spPr>
          <a:xfrm>
            <a:off x="1682496" y="265176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40" name="box_86"/>
          <p:cNvSpPr/>
          <p:nvPr/>
        </p:nvSpPr>
        <p:spPr>
          <a:xfrm>
            <a:off x="1837944" y="265176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41" name="box_87"/>
          <p:cNvSpPr/>
          <p:nvPr/>
        </p:nvSpPr>
        <p:spPr>
          <a:xfrm>
            <a:off x="1993392" y="2651760"/>
            <a:ext cx="132588" cy="132588"/>
          </a:xfrm>
          <a:prstGeom prst="rect">
            <a:avLst/>
          </a:prstGeom>
          <a:solidFill>
            <a:srgbClr val="8A823F"/>
          </a:solidFill>
          <a:ln w="12700">
            <a:solidFill>
              <a:srgbClr val="8A823F"/>
            </a:solidFill>
            <a:prstDash val="solid"/>
          </a:ln>
        </p:spPr>
      </p:sp>
      <p:sp>
        <p:nvSpPr>
          <p:cNvPr id="42" name="box_88"/>
          <p:cNvSpPr/>
          <p:nvPr/>
        </p:nvSpPr>
        <p:spPr>
          <a:xfrm>
            <a:off x="1069848" y="196596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43" name="box_89"/>
          <p:cNvSpPr/>
          <p:nvPr/>
        </p:nvSpPr>
        <p:spPr>
          <a:xfrm>
            <a:off x="1225296" y="196596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44" name="box_90"/>
          <p:cNvSpPr/>
          <p:nvPr/>
        </p:nvSpPr>
        <p:spPr>
          <a:xfrm>
            <a:off x="1380744" y="196596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45" name="box_91"/>
          <p:cNvSpPr/>
          <p:nvPr/>
        </p:nvSpPr>
        <p:spPr>
          <a:xfrm>
            <a:off x="1536192" y="196596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46" name="box_92"/>
          <p:cNvSpPr/>
          <p:nvPr/>
        </p:nvSpPr>
        <p:spPr>
          <a:xfrm>
            <a:off x="1691640" y="196596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47" name="box_93"/>
          <p:cNvSpPr/>
          <p:nvPr/>
        </p:nvSpPr>
        <p:spPr>
          <a:xfrm>
            <a:off x="1847088" y="196596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48" name="box_94"/>
          <p:cNvSpPr/>
          <p:nvPr/>
        </p:nvSpPr>
        <p:spPr>
          <a:xfrm>
            <a:off x="1069848" y="2121408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49" name="box_95"/>
          <p:cNvSpPr/>
          <p:nvPr/>
        </p:nvSpPr>
        <p:spPr>
          <a:xfrm>
            <a:off x="1225296" y="2121408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50" name="box_96"/>
          <p:cNvSpPr/>
          <p:nvPr/>
        </p:nvSpPr>
        <p:spPr>
          <a:xfrm>
            <a:off x="1380744" y="2121408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51" name="box_97"/>
          <p:cNvSpPr/>
          <p:nvPr/>
        </p:nvSpPr>
        <p:spPr>
          <a:xfrm>
            <a:off x="1536192" y="2121408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52" name="box_98"/>
          <p:cNvSpPr/>
          <p:nvPr/>
        </p:nvSpPr>
        <p:spPr>
          <a:xfrm>
            <a:off x="1691640" y="2121408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53" name="box_99"/>
          <p:cNvSpPr/>
          <p:nvPr/>
        </p:nvSpPr>
        <p:spPr>
          <a:xfrm>
            <a:off x="1847088" y="2121408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54" name="box_100"/>
          <p:cNvSpPr/>
          <p:nvPr/>
        </p:nvSpPr>
        <p:spPr>
          <a:xfrm>
            <a:off x="1069848" y="2276856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55" name="box_101"/>
          <p:cNvSpPr/>
          <p:nvPr/>
        </p:nvSpPr>
        <p:spPr>
          <a:xfrm>
            <a:off x="1225296" y="2276856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56" name="box_102"/>
          <p:cNvSpPr/>
          <p:nvPr/>
        </p:nvSpPr>
        <p:spPr>
          <a:xfrm>
            <a:off x="1380744" y="2276856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57" name="box_103"/>
          <p:cNvSpPr/>
          <p:nvPr/>
        </p:nvSpPr>
        <p:spPr>
          <a:xfrm>
            <a:off x="1536192" y="2276856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58" name="box_104"/>
          <p:cNvSpPr/>
          <p:nvPr/>
        </p:nvSpPr>
        <p:spPr>
          <a:xfrm>
            <a:off x="1691640" y="2276856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59" name="box_105"/>
          <p:cNvSpPr/>
          <p:nvPr/>
        </p:nvSpPr>
        <p:spPr>
          <a:xfrm>
            <a:off x="1847088" y="2276856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60" name="box_106"/>
          <p:cNvSpPr/>
          <p:nvPr/>
        </p:nvSpPr>
        <p:spPr>
          <a:xfrm>
            <a:off x="1069848" y="2432304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61" name="box_107"/>
          <p:cNvSpPr/>
          <p:nvPr/>
        </p:nvSpPr>
        <p:spPr>
          <a:xfrm>
            <a:off x="1225296" y="2432304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62" name="box_108"/>
          <p:cNvSpPr/>
          <p:nvPr/>
        </p:nvSpPr>
        <p:spPr>
          <a:xfrm>
            <a:off x="1380744" y="2432304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63" name="box_109"/>
          <p:cNvSpPr/>
          <p:nvPr/>
        </p:nvSpPr>
        <p:spPr>
          <a:xfrm>
            <a:off x="1536192" y="2432304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64" name="box_110"/>
          <p:cNvSpPr/>
          <p:nvPr/>
        </p:nvSpPr>
        <p:spPr>
          <a:xfrm>
            <a:off x="1691640" y="2432304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65" name="box_111"/>
          <p:cNvSpPr/>
          <p:nvPr/>
        </p:nvSpPr>
        <p:spPr>
          <a:xfrm>
            <a:off x="1847088" y="2432304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66" name="box_112"/>
          <p:cNvSpPr/>
          <p:nvPr/>
        </p:nvSpPr>
        <p:spPr>
          <a:xfrm>
            <a:off x="1069848" y="2587752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67" name="box_113"/>
          <p:cNvSpPr/>
          <p:nvPr/>
        </p:nvSpPr>
        <p:spPr>
          <a:xfrm>
            <a:off x="1225296" y="2587752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68" name="box_114"/>
          <p:cNvSpPr/>
          <p:nvPr/>
        </p:nvSpPr>
        <p:spPr>
          <a:xfrm>
            <a:off x="1380744" y="2587752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69" name="box_115"/>
          <p:cNvSpPr/>
          <p:nvPr/>
        </p:nvSpPr>
        <p:spPr>
          <a:xfrm>
            <a:off x="1536192" y="2587752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70" name="box_116"/>
          <p:cNvSpPr/>
          <p:nvPr/>
        </p:nvSpPr>
        <p:spPr>
          <a:xfrm>
            <a:off x="1691640" y="2587752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71" name="box_117"/>
          <p:cNvSpPr/>
          <p:nvPr/>
        </p:nvSpPr>
        <p:spPr>
          <a:xfrm>
            <a:off x="1847088" y="2587752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72" name="box_118"/>
          <p:cNvSpPr/>
          <p:nvPr/>
        </p:nvSpPr>
        <p:spPr>
          <a:xfrm>
            <a:off x="1069848" y="274320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73" name="box_119"/>
          <p:cNvSpPr/>
          <p:nvPr/>
        </p:nvSpPr>
        <p:spPr>
          <a:xfrm>
            <a:off x="1225296" y="274320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74" name="box_120"/>
          <p:cNvSpPr/>
          <p:nvPr/>
        </p:nvSpPr>
        <p:spPr>
          <a:xfrm>
            <a:off x="1380744" y="274320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75" name="box_121"/>
          <p:cNvSpPr/>
          <p:nvPr/>
        </p:nvSpPr>
        <p:spPr>
          <a:xfrm>
            <a:off x="1536192" y="274320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76" name="box_122"/>
          <p:cNvSpPr/>
          <p:nvPr/>
        </p:nvSpPr>
        <p:spPr>
          <a:xfrm>
            <a:off x="1691640" y="274320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77" name="box_123"/>
          <p:cNvSpPr/>
          <p:nvPr/>
        </p:nvSpPr>
        <p:spPr>
          <a:xfrm>
            <a:off x="1847088" y="2743200"/>
            <a:ext cx="132588" cy="132588"/>
          </a:xfrm>
          <a:prstGeom prst="rect">
            <a:avLst/>
          </a:prstGeom>
          <a:solidFill>
            <a:srgbClr val="497C47"/>
          </a:solidFill>
          <a:ln w="12700">
            <a:solidFill>
              <a:srgbClr val="497C47"/>
            </a:solidFill>
            <a:prstDash val="solid"/>
          </a:ln>
        </p:spPr>
      </p:sp>
      <p:sp>
        <p:nvSpPr>
          <p:cNvPr id="78" name="box_124"/>
          <p:cNvSpPr/>
          <p:nvPr/>
        </p:nvSpPr>
        <p:spPr>
          <a:xfrm>
            <a:off x="923544" y="205740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79" name="box_125"/>
          <p:cNvSpPr/>
          <p:nvPr/>
        </p:nvSpPr>
        <p:spPr>
          <a:xfrm>
            <a:off x="1078992" y="205740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80" name="box_126"/>
          <p:cNvSpPr/>
          <p:nvPr/>
        </p:nvSpPr>
        <p:spPr>
          <a:xfrm>
            <a:off x="1234440" y="205740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81" name="box_127"/>
          <p:cNvSpPr/>
          <p:nvPr/>
        </p:nvSpPr>
        <p:spPr>
          <a:xfrm>
            <a:off x="1389888" y="205740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82" name="box_128"/>
          <p:cNvSpPr/>
          <p:nvPr/>
        </p:nvSpPr>
        <p:spPr>
          <a:xfrm>
            <a:off x="1545336" y="205740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83" name="box_129"/>
          <p:cNvSpPr/>
          <p:nvPr/>
        </p:nvSpPr>
        <p:spPr>
          <a:xfrm>
            <a:off x="1700784" y="205740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84" name="box_130"/>
          <p:cNvSpPr/>
          <p:nvPr/>
        </p:nvSpPr>
        <p:spPr>
          <a:xfrm>
            <a:off x="923544" y="2212848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85" name="box_131"/>
          <p:cNvSpPr/>
          <p:nvPr/>
        </p:nvSpPr>
        <p:spPr>
          <a:xfrm>
            <a:off x="1078992" y="2212848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86" name="box_132"/>
          <p:cNvSpPr/>
          <p:nvPr/>
        </p:nvSpPr>
        <p:spPr>
          <a:xfrm>
            <a:off x="1234440" y="2212848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87" name="box_133"/>
          <p:cNvSpPr/>
          <p:nvPr/>
        </p:nvSpPr>
        <p:spPr>
          <a:xfrm>
            <a:off x="1389888" y="2212848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88" name="box_134"/>
          <p:cNvSpPr/>
          <p:nvPr/>
        </p:nvSpPr>
        <p:spPr>
          <a:xfrm>
            <a:off x="1545336" y="2212848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89" name="box_135"/>
          <p:cNvSpPr/>
          <p:nvPr/>
        </p:nvSpPr>
        <p:spPr>
          <a:xfrm>
            <a:off x="1700784" y="2212848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90" name="box_136"/>
          <p:cNvSpPr/>
          <p:nvPr/>
        </p:nvSpPr>
        <p:spPr>
          <a:xfrm>
            <a:off x="923544" y="2368296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91" name="box_137"/>
          <p:cNvSpPr/>
          <p:nvPr/>
        </p:nvSpPr>
        <p:spPr>
          <a:xfrm>
            <a:off x="1078992" y="2368296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92" name="box_138"/>
          <p:cNvSpPr/>
          <p:nvPr/>
        </p:nvSpPr>
        <p:spPr>
          <a:xfrm>
            <a:off x="1234440" y="2368296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93" name="box_139"/>
          <p:cNvSpPr/>
          <p:nvPr/>
        </p:nvSpPr>
        <p:spPr>
          <a:xfrm>
            <a:off x="1389888" y="2368296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94" name="box_140"/>
          <p:cNvSpPr/>
          <p:nvPr/>
        </p:nvSpPr>
        <p:spPr>
          <a:xfrm>
            <a:off x="1545336" y="2368296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95" name="box_141"/>
          <p:cNvSpPr/>
          <p:nvPr/>
        </p:nvSpPr>
        <p:spPr>
          <a:xfrm>
            <a:off x="1700784" y="2368296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96" name="box_142"/>
          <p:cNvSpPr/>
          <p:nvPr/>
        </p:nvSpPr>
        <p:spPr>
          <a:xfrm>
            <a:off x="923544" y="2523744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97" name="box_143"/>
          <p:cNvSpPr/>
          <p:nvPr/>
        </p:nvSpPr>
        <p:spPr>
          <a:xfrm>
            <a:off x="1078992" y="2523744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98" name="box_144"/>
          <p:cNvSpPr/>
          <p:nvPr/>
        </p:nvSpPr>
        <p:spPr>
          <a:xfrm>
            <a:off x="1234440" y="2523744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99" name="box_145"/>
          <p:cNvSpPr/>
          <p:nvPr/>
        </p:nvSpPr>
        <p:spPr>
          <a:xfrm>
            <a:off x="1389888" y="2523744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00" name="box_146"/>
          <p:cNvSpPr/>
          <p:nvPr/>
        </p:nvSpPr>
        <p:spPr>
          <a:xfrm>
            <a:off x="1545336" y="2523744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01" name="box_147"/>
          <p:cNvSpPr/>
          <p:nvPr/>
        </p:nvSpPr>
        <p:spPr>
          <a:xfrm>
            <a:off x="1700784" y="2523744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02" name="box_148"/>
          <p:cNvSpPr/>
          <p:nvPr/>
        </p:nvSpPr>
        <p:spPr>
          <a:xfrm>
            <a:off x="923544" y="2679192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03" name="box_149"/>
          <p:cNvSpPr/>
          <p:nvPr/>
        </p:nvSpPr>
        <p:spPr>
          <a:xfrm>
            <a:off x="1078992" y="2679192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04" name="box_150"/>
          <p:cNvSpPr/>
          <p:nvPr/>
        </p:nvSpPr>
        <p:spPr>
          <a:xfrm>
            <a:off x="1234440" y="2679192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05" name="box_151"/>
          <p:cNvSpPr/>
          <p:nvPr/>
        </p:nvSpPr>
        <p:spPr>
          <a:xfrm>
            <a:off x="1389888" y="2679192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06" name="box_152"/>
          <p:cNvSpPr/>
          <p:nvPr/>
        </p:nvSpPr>
        <p:spPr>
          <a:xfrm>
            <a:off x="1545336" y="2679192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07" name="box_153"/>
          <p:cNvSpPr/>
          <p:nvPr/>
        </p:nvSpPr>
        <p:spPr>
          <a:xfrm>
            <a:off x="1700784" y="2679192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08" name="box_154"/>
          <p:cNvSpPr/>
          <p:nvPr/>
        </p:nvSpPr>
        <p:spPr>
          <a:xfrm>
            <a:off x="923544" y="283464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09" name="box_155"/>
          <p:cNvSpPr/>
          <p:nvPr/>
        </p:nvSpPr>
        <p:spPr>
          <a:xfrm>
            <a:off x="1078992" y="283464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10" name="box_156"/>
          <p:cNvSpPr/>
          <p:nvPr/>
        </p:nvSpPr>
        <p:spPr>
          <a:xfrm>
            <a:off x="1234440" y="283464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11" name="box_157"/>
          <p:cNvSpPr/>
          <p:nvPr/>
        </p:nvSpPr>
        <p:spPr>
          <a:xfrm>
            <a:off x="1389888" y="283464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12" name="box_158"/>
          <p:cNvSpPr/>
          <p:nvPr/>
        </p:nvSpPr>
        <p:spPr>
          <a:xfrm>
            <a:off x="1545336" y="283464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13" name="box_159"/>
          <p:cNvSpPr/>
          <p:nvPr/>
        </p:nvSpPr>
        <p:spPr>
          <a:xfrm>
            <a:off x="1700784" y="2834640"/>
            <a:ext cx="132588" cy="132588"/>
          </a:xfrm>
          <a:prstGeom prst="rect">
            <a:avLst/>
          </a:prstGeom>
          <a:solidFill>
            <a:srgbClr val="246A6D"/>
          </a:solidFill>
          <a:ln w="12700">
            <a:solidFill>
              <a:srgbClr val="246A6D"/>
            </a:solidFill>
            <a:prstDash val="solid"/>
          </a:ln>
        </p:spPr>
      </p:sp>
      <p:sp>
        <p:nvSpPr>
          <p:cNvPr id="114" name="box_160"/>
          <p:cNvSpPr/>
          <p:nvPr/>
        </p:nvSpPr>
        <p:spPr>
          <a:xfrm>
            <a:off x="777240" y="214884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15" name="box_161"/>
          <p:cNvSpPr/>
          <p:nvPr/>
        </p:nvSpPr>
        <p:spPr>
          <a:xfrm>
            <a:off x="932688" y="214884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16" name="box_162"/>
          <p:cNvSpPr/>
          <p:nvPr/>
        </p:nvSpPr>
        <p:spPr>
          <a:xfrm>
            <a:off x="1088136" y="214884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17" name="box_163"/>
          <p:cNvSpPr/>
          <p:nvPr/>
        </p:nvSpPr>
        <p:spPr>
          <a:xfrm>
            <a:off x="1243584" y="214884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18" name="box_164"/>
          <p:cNvSpPr/>
          <p:nvPr/>
        </p:nvSpPr>
        <p:spPr>
          <a:xfrm>
            <a:off x="1399032" y="214884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19" name="box_165"/>
          <p:cNvSpPr/>
          <p:nvPr/>
        </p:nvSpPr>
        <p:spPr>
          <a:xfrm>
            <a:off x="1554480" y="214884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20" name="box_166"/>
          <p:cNvSpPr/>
          <p:nvPr/>
        </p:nvSpPr>
        <p:spPr>
          <a:xfrm>
            <a:off x="777240" y="2304288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21" name="box_167"/>
          <p:cNvSpPr/>
          <p:nvPr/>
        </p:nvSpPr>
        <p:spPr>
          <a:xfrm>
            <a:off x="932688" y="2304288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22" name="box_168"/>
          <p:cNvSpPr/>
          <p:nvPr/>
        </p:nvSpPr>
        <p:spPr>
          <a:xfrm>
            <a:off x="1088136" y="2304288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23" name="box_169"/>
          <p:cNvSpPr/>
          <p:nvPr/>
        </p:nvSpPr>
        <p:spPr>
          <a:xfrm>
            <a:off x="1243584" y="2304288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24" name="box_170"/>
          <p:cNvSpPr/>
          <p:nvPr/>
        </p:nvSpPr>
        <p:spPr>
          <a:xfrm>
            <a:off x="1399032" y="2304288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25" name="box_171"/>
          <p:cNvSpPr/>
          <p:nvPr/>
        </p:nvSpPr>
        <p:spPr>
          <a:xfrm>
            <a:off x="1554480" y="2304288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26" name="box_172"/>
          <p:cNvSpPr/>
          <p:nvPr/>
        </p:nvSpPr>
        <p:spPr>
          <a:xfrm>
            <a:off x="777240" y="2459736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27" name="box_173"/>
          <p:cNvSpPr/>
          <p:nvPr/>
        </p:nvSpPr>
        <p:spPr>
          <a:xfrm>
            <a:off x="932688" y="2459736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28" name="box_174"/>
          <p:cNvSpPr/>
          <p:nvPr/>
        </p:nvSpPr>
        <p:spPr>
          <a:xfrm>
            <a:off x="1088136" y="2459736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29" name="box_175"/>
          <p:cNvSpPr/>
          <p:nvPr/>
        </p:nvSpPr>
        <p:spPr>
          <a:xfrm>
            <a:off x="1243584" y="2459736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30" name="box_176"/>
          <p:cNvSpPr/>
          <p:nvPr/>
        </p:nvSpPr>
        <p:spPr>
          <a:xfrm>
            <a:off x="1399032" y="2459736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31" name="box_177"/>
          <p:cNvSpPr/>
          <p:nvPr/>
        </p:nvSpPr>
        <p:spPr>
          <a:xfrm>
            <a:off x="1554480" y="2459736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32" name="box_178"/>
          <p:cNvSpPr/>
          <p:nvPr/>
        </p:nvSpPr>
        <p:spPr>
          <a:xfrm>
            <a:off x="777240" y="2615184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33" name="box_179"/>
          <p:cNvSpPr/>
          <p:nvPr/>
        </p:nvSpPr>
        <p:spPr>
          <a:xfrm>
            <a:off x="932688" y="2615184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34" name="box_180"/>
          <p:cNvSpPr/>
          <p:nvPr/>
        </p:nvSpPr>
        <p:spPr>
          <a:xfrm>
            <a:off x="1088136" y="2615184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35" name="box_181"/>
          <p:cNvSpPr/>
          <p:nvPr/>
        </p:nvSpPr>
        <p:spPr>
          <a:xfrm>
            <a:off x="1243584" y="2615184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36" name="box_182"/>
          <p:cNvSpPr/>
          <p:nvPr/>
        </p:nvSpPr>
        <p:spPr>
          <a:xfrm>
            <a:off x="1399032" y="2615184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37" name="box_183"/>
          <p:cNvSpPr/>
          <p:nvPr/>
        </p:nvSpPr>
        <p:spPr>
          <a:xfrm>
            <a:off x="1554480" y="2615184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38" name="box_184"/>
          <p:cNvSpPr/>
          <p:nvPr/>
        </p:nvSpPr>
        <p:spPr>
          <a:xfrm>
            <a:off x="777240" y="2770632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39" name="box_185"/>
          <p:cNvSpPr/>
          <p:nvPr/>
        </p:nvSpPr>
        <p:spPr>
          <a:xfrm>
            <a:off x="932688" y="2770632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40" name="box_186"/>
          <p:cNvSpPr/>
          <p:nvPr/>
        </p:nvSpPr>
        <p:spPr>
          <a:xfrm>
            <a:off x="1088136" y="2770632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41" name="box_187"/>
          <p:cNvSpPr/>
          <p:nvPr/>
        </p:nvSpPr>
        <p:spPr>
          <a:xfrm>
            <a:off x="1243584" y="2770632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42" name="box_188"/>
          <p:cNvSpPr/>
          <p:nvPr/>
        </p:nvSpPr>
        <p:spPr>
          <a:xfrm>
            <a:off x="1399032" y="2770632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43" name="box_189"/>
          <p:cNvSpPr/>
          <p:nvPr/>
        </p:nvSpPr>
        <p:spPr>
          <a:xfrm>
            <a:off x="1554480" y="2770632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44" name="box_190"/>
          <p:cNvSpPr/>
          <p:nvPr/>
        </p:nvSpPr>
        <p:spPr>
          <a:xfrm>
            <a:off x="777240" y="292608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45" name="box_191"/>
          <p:cNvSpPr/>
          <p:nvPr/>
        </p:nvSpPr>
        <p:spPr>
          <a:xfrm>
            <a:off x="932688" y="292608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46" name="box_192"/>
          <p:cNvSpPr/>
          <p:nvPr/>
        </p:nvSpPr>
        <p:spPr>
          <a:xfrm>
            <a:off x="1088136" y="292608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47" name="box_193"/>
          <p:cNvSpPr/>
          <p:nvPr/>
        </p:nvSpPr>
        <p:spPr>
          <a:xfrm>
            <a:off x="1243584" y="292608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48" name="box_194"/>
          <p:cNvSpPr/>
          <p:nvPr/>
        </p:nvSpPr>
        <p:spPr>
          <a:xfrm>
            <a:off x="1399032" y="292608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49" name="box_195"/>
          <p:cNvSpPr/>
          <p:nvPr/>
        </p:nvSpPr>
        <p:spPr>
          <a:xfrm>
            <a:off x="1554480" y="2926080"/>
            <a:ext cx="132588" cy="132588"/>
          </a:xfrm>
          <a:prstGeom prst="rect">
            <a:avLst/>
          </a:prstGeom>
          <a:solidFill>
            <a:srgbClr val="3C5190"/>
          </a:solidFill>
          <a:ln w="12700">
            <a:solidFill>
              <a:srgbClr val="3C5190"/>
            </a:solidFill>
            <a:prstDash val="solid"/>
          </a:ln>
        </p:spPr>
      </p:sp>
      <p:sp>
        <p:nvSpPr>
          <p:cNvPr id="150" name="text_196"/>
          <p:cNvSpPr txBox="1"/>
          <p:nvPr/>
        </p:nvSpPr>
        <p:spPr>
          <a:xfrm>
            <a:off x="256032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level 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by all</a:t>
            </a:r>
            <a:endParaRPr lang="en-US" sz="1050" dirty="0"/>
          </a:p>
        </p:txBody>
      </p:sp>
      <p:sp>
        <p:nvSpPr>
          <p:cNvPr id="151" name="text_197"/>
          <p:cNvSpPr txBox="1"/>
          <p:nvPr/>
        </p:nvSpPr>
        <p:spPr>
          <a:xfrm>
            <a:off x="731520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p(X) via one reverse-time ODE over all of X</a:t>
            </a:r>
            <a:endParaRPr lang="en-US" sz="1350" dirty="0"/>
          </a:p>
        </p:txBody>
      </p:sp>
      <p:sp>
        <p:nvSpPr>
          <p:cNvPr id="152" name="text_198"/>
          <p:cNvSpPr txBox="1"/>
          <p:nvPr/>
        </p:nvSpPr>
        <p:spPr>
          <a:xfrm>
            <a:off x="731520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position and every frequency is denoised together; coarse-to-fine emerges only implicitly</a:t>
            </a:r>
            <a:endParaRPr lang="en-US" sz="1100" dirty="0"/>
          </a:p>
        </p:txBody>
      </p:sp>
      <p:sp>
        <p:nvSpPr>
          <p:cNvPr id="153" name="box_199"/>
          <p:cNvSpPr/>
          <p:nvPr/>
        </p:nvSpPr>
        <p:spPr>
          <a:xfrm>
            <a:off x="4315968" y="1371600"/>
            <a:ext cx="3538728" cy="2606040"/>
          </a:xfrm>
          <a:prstGeom prst="roundRect">
            <a:avLst>
              <a:gd name="adj" fmla="val 280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54" name="text_200"/>
          <p:cNvSpPr txBox="1"/>
          <p:nvPr/>
        </p:nvSpPr>
        <p:spPr>
          <a:xfrm>
            <a:off x="4498848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autoregression</a:t>
            </a:r>
            <a:endParaRPr lang="en-US" sz="1450" dirty="0"/>
          </a:p>
        </p:txBody>
      </p:sp>
      <p:sp>
        <p:nvSpPr>
          <p:cNvPr id="155" name="box_201"/>
          <p:cNvSpPr/>
          <p:nvPr/>
        </p:nvSpPr>
        <p:spPr>
          <a:xfrm>
            <a:off x="4544568" y="187452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56" name="box_202"/>
          <p:cNvSpPr/>
          <p:nvPr/>
        </p:nvSpPr>
        <p:spPr>
          <a:xfrm>
            <a:off x="4738878" y="187452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57" name="box_203"/>
          <p:cNvSpPr/>
          <p:nvPr/>
        </p:nvSpPr>
        <p:spPr>
          <a:xfrm>
            <a:off x="4933188" y="187452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58" name="box_204"/>
          <p:cNvSpPr/>
          <p:nvPr/>
        </p:nvSpPr>
        <p:spPr>
          <a:xfrm>
            <a:off x="5127498" y="187452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59" name="box_205"/>
          <p:cNvSpPr/>
          <p:nvPr/>
        </p:nvSpPr>
        <p:spPr>
          <a:xfrm>
            <a:off x="5321808" y="187452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60" name="box_206"/>
          <p:cNvSpPr/>
          <p:nvPr/>
        </p:nvSpPr>
        <p:spPr>
          <a:xfrm>
            <a:off x="5516118" y="187452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61" name="box_207"/>
          <p:cNvSpPr/>
          <p:nvPr/>
        </p:nvSpPr>
        <p:spPr>
          <a:xfrm>
            <a:off x="4544568" y="206883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62" name="box_208"/>
          <p:cNvSpPr/>
          <p:nvPr/>
        </p:nvSpPr>
        <p:spPr>
          <a:xfrm>
            <a:off x="4738878" y="206883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63" name="box_209"/>
          <p:cNvSpPr/>
          <p:nvPr/>
        </p:nvSpPr>
        <p:spPr>
          <a:xfrm>
            <a:off x="4933188" y="206883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64" name="box_210"/>
          <p:cNvSpPr/>
          <p:nvPr/>
        </p:nvSpPr>
        <p:spPr>
          <a:xfrm>
            <a:off x="5127498" y="206883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65" name="box_211"/>
          <p:cNvSpPr/>
          <p:nvPr/>
        </p:nvSpPr>
        <p:spPr>
          <a:xfrm>
            <a:off x="5321808" y="206883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66" name="box_212"/>
          <p:cNvSpPr/>
          <p:nvPr/>
        </p:nvSpPr>
        <p:spPr>
          <a:xfrm>
            <a:off x="5516118" y="206883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67" name="box_213"/>
          <p:cNvSpPr/>
          <p:nvPr/>
        </p:nvSpPr>
        <p:spPr>
          <a:xfrm>
            <a:off x="4544568" y="226314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68" name="box_214"/>
          <p:cNvSpPr/>
          <p:nvPr/>
        </p:nvSpPr>
        <p:spPr>
          <a:xfrm>
            <a:off x="4738878" y="226314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69" name="box_215"/>
          <p:cNvSpPr/>
          <p:nvPr/>
        </p:nvSpPr>
        <p:spPr>
          <a:xfrm>
            <a:off x="4933188" y="2263140"/>
            <a:ext cx="166878" cy="166878"/>
          </a:xfrm>
          <a:prstGeom prst="rect">
            <a:avLst/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70" name="box_216"/>
          <p:cNvSpPr/>
          <p:nvPr/>
        </p:nvSpPr>
        <p:spPr>
          <a:xfrm>
            <a:off x="5127498" y="2263140"/>
            <a:ext cx="166878" cy="16687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71" name="box_217"/>
          <p:cNvSpPr/>
          <p:nvPr/>
        </p:nvSpPr>
        <p:spPr>
          <a:xfrm>
            <a:off x="5321808" y="226314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2" name="box_218"/>
          <p:cNvSpPr/>
          <p:nvPr/>
        </p:nvSpPr>
        <p:spPr>
          <a:xfrm>
            <a:off x="5516118" y="226314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3" name="box_219"/>
          <p:cNvSpPr/>
          <p:nvPr/>
        </p:nvSpPr>
        <p:spPr>
          <a:xfrm>
            <a:off x="4544568" y="245745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4" name="box_220"/>
          <p:cNvSpPr/>
          <p:nvPr/>
        </p:nvSpPr>
        <p:spPr>
          <a:xfrm>
            <a:off x="4738878" y="245745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5" name="box_221"/>
          <p:cNvSpPr/>
          <p:nvPr/>
        </p:nvSpPr>
        <p:spPr>
          <a:xfrm>
            <a:off x="4933188" y="245745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6" name="box_222"/>
          <p:cNvSpPr/>
          <p:nvPr/>
        </p:nvSpPr>
        <p:spPr>
          <a:xfrm>
            <a:off x="5127498" y="245745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7" name="box_223"/>
          <p:cNvSpPr/>
          <p:nvPr/>
        </p:nvSpPr>
        <p:spPr>
          <a:xfrm>
            <a:off x="5321808" y="245745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8" name="box_224"/>
          <p:cNvSpPr/>
          <p:nvPr/>
        </p:nvSpPr>
        <p:spPr>
          <a:xfrm>
            <a:off x="5516118" y="245745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9" name="box_225"/>
          <p:cNvSpPr/>
          <p:nvPr/>
        </p:nvSpPr>
        <p:spPr>
          <a:xfrm>
            <a:off x="4544568" y="265176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0" name="box_226"/>
          <p:cNvSpPr/>
          <p:nvPr/>
        </p:nvSpPr>
        <p:spPr>
          <a:xfrm>
            <a:off x="4738878" y="265176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1" name="box_227"/>
          <p:cNvSpPr/>
          <p:nvPr/>
        </p:nvSpPr>
        <p:spPr>
          <a:xfrm>
            <a:off x="4933188" y="265176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2" name="box_228"/>
          <p:cNvSpPr/>
          <p:nvPr/>
        </p:nvSpPr>
        <p:spPr>
          <a:xfrm>
            <a:off x="5127498" y="265176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3" name="box_229"/>
          <p:cNvSpPr/>
          <p:nvPr/>
        </p:nvSpPr>
        <p:spPr>
          <a:xfrm>
            <a:off x="5321808" y="265176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4" name="box_230"/>
          <p:cNvSpPr/>
          <p:nvPr/>
        </p:nvSpPr>
        <p:spPr>
          <a:xfrm>
            <a:off x="5516118" y="265176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5" name="box_231"/>
          <p:cNvSpPr/>
          <p:nvPr/>
        </p:nvSpPr>
        <p:spPr>
          <a:xfrm>
            <a:off x="4544568" y="284607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6" name="box_232"/>
          <p:cNvSpPr/>
          <p:nvPr/>
        </p:nvSpPr>
        <p:spPr>
          <a:xfrm>
            <a:off x="4738878" y="284607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7" name="box_233"/>
          <p:cNvSpPr/>
          <p:nvPr/>
        </p:nvSpPr>
        <p:spPr>
          <a:xfrm>
            <a:off x="4933188" y="284607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8" name="box_234"/>
          <p:cNvSpPr/>
          <p:nvPr/>
        </p:nvSpPr>
        <p:spPr>
          <a:xfrm>
            <a:off x="5127498" y="284607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9" name="box_235"/>
          <p:cNvSpPr/>
          <p:nvPr/>
        </p:nvSpPr>
        <p:spPr>
          <a:xfrm>
            <a:off x="5321808" y="284607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0" name="box_236"/>
          <p:cNvSpPr/>
          <p:nvPr/>
        </p:nvSpPr>
        <p:spPr>
          <a:xfrm>
            <a:off x="5516118" y="2846070"/>
            <a:ext cx="166878" cy="16687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1" name="line_237"/>
          <p:cNvSpPr/>
          <p:nvPr/>
        </p:nvSpPr>
        <p:spPr>
          <a:xfrm>
            <a:off x="6053328" y="1920240"/>
            <a:ext cx="91" cy="1005840"/>
          </a:xfrm>
          <a:prstGeom prst="line">
            <a:avLst/>
          </a:prstGeom>
          <a:noFill/>
          <a:ln w="12700">
            <a:solidFill>
              <a:srgbClr val="9AA6B8"/>
            </a:solidFill>
            <a:prstDash val="solid"/>
            <a:headEnd type="none"/>
            <a:tailEnd type="triangle"/>
          </a:ln>
        </p:spPr>
      </p:sp>
      <p:sp>
        <p:nvSpPr>
          <p:cNvPr id="192" name="text_238"/>
          <p:cNvSpPr txBox="1"/>
          <p:nvPr/>
        </p:nvSpPr>
        <p:spPr>
          <a:xfrm>
            <a:off x="6144768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050" dirty="0"/>
          </a:p>
        </p:txBody>
      </p:sp>
      <p:sp>
        <p:nvSpPr>
          <p:cNvPr id="193" name="text_239"/>
          <p:cNvSpPr txBox="1"/>
          <p:nvPr/>
        </p:nvSpPr>
        <p:spPr>
          <a:xfrm>
            <a:off x="4498848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p(X) = </a:t>
            </a: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∏</a:t>
            </a:r>
            <a:r>
              <a:rPr lang="en-US" sz="1350" baseline="-400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</a:t>
            </a: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p(x</a:t>
            </a:r>
            <a:r>
              <a:rPr lang="en-US" sz="1350" baseline="-400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</a:t>
            </a: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| x</a:t>
            </a:r>
            <a:r>
              <a:rPr lang="en-US" sz="1350" baseline="-400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&lt;i</a:t>
            </a: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endParaRPr lang="en-US" sz="1350" dirty="0"/>
          </a:p>
        </p:txBody>
      </p:sp>
      <p:sp>
        <p:nvSpPr>
          <p:cNvPr id="194" name="text_240"/>
          <p:cNvSpPr txBox="1"/>
          <p:nvPr/>
        </p:nvSpPr>
        <p:spPr>
          <a:xfrm>
            <a:off x="4498848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/ patches in raster order; long serial chains, global layout decided late</a:t>
            </a:r>
            <a:endParaRPr lang="en-US" sz="1100" dirty="0"/>
          </a:p>
        </p:txBody>
      </p:sp>
      <p:sp>
        <p:nvSpPr>
          <p:cNvPr id="195" name="box_241"/>
          <p:cNvSpPr/>
          <p:nvPr/>
        </p:nvSpPr>
        <p:spPr>
          <a:xfrm>
            <a:off x="8083296" y="1371600"/>
            <a:ext cx="3538728" cy="2606040"/>
          </a:xfrm>
          <a:prstGeom prst="roundRect">
            <a:avLst>
              <a:gd name="adj" fmla="val 280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96" name="text_242"/>
          <p:cNvSpPr txBox="1"/>
          <p:nvPr/>
        </p:nvSpPr>
        <p:spPr>
          <a:xfrm>
            <a:off x="8266176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autoregression (ours)</a:t>
            </a:r>
            <a:endParaRPr lang="en-US" sz="1450" dirty="0"/>
          </a:p>
        </p:txBody>
      </p:sp>
      <p:sp>
        <p:nvSpPr>
          <p:cNvPr id="197" name="box_243"/>
          <p:cNvSpPr/>
          <p:nvPr/>
        </p:nvSpPr>
        <p:spPr>
          <a:xfrm>
            <a:off x="8750808" y="187452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198" name="box_244"/>
          <p:cNvSpPr/>
          <p:nvPr/>
        </p:nvSpPr>
        <p:spPr>
          <a:xfrm>
            <a:off x="8906256" y="187452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199" name="box_245"/>
          <p:cNvSpPr/>
          <p:nvPr/>
        </p:nvSpPr>
        <p:spPr>
          <a:xfrm>
            <a:off x="9061704" y="187452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00" name="box_246"/>
          <p:cNvSpPr/>
          <p:nvPr/>
        </p:nvSpPr>
        <p:spPr>
          <a:xfrm>
            <a:off x="9217152" y="187452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01" name="box_247"/>
          <p:cNvSpPr/>
          <p:nvPr/>
        </p:nvSpPr>
        <p:spPr>
          <a:xfrm>
            <a:off x="9372600" y="187452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02" name="box_248"/>
          <p:cNvSpPr/>
          <p:nvPr/>
        </p:nvSpPr>
        <p:spPr>
          <a:xfrm>
            <a:off x="9528048" y="187452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03" name="box_249"/>
          <p:cNvSpPr/>
          <p:nvPr/>
        </p:nvSpPr>
        <p:spPr>
          <a:xfrm>
            <a:off x="8750808" y="2029968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04" name="box_250"/>
          <p:cNvSpPr/>
          <p:nvPr/>
        </p:nvSpPr>
        <p:spPr>
          <a:xfrm>
            <a:off x="8906256" y="2029968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05" name="box_251"/>
          <p:cNvSpPr/>
          <p:nvPr/>
        </p:nvSpPr>
        <p:spPr>
          <a:xfrm>
            <a:off x="9061704" y="2029968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06" name="box_252"/>
          <p:cNvSpPr/>
          <p:nvPr/>
        </p:nvSpPr>
        <p:spPr>
          <a:xfrm>
            <a:off x="9217152" y="2029968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07" name="box_253"/>
          <p:cNvSpPr/>
          <p:nvPr/>
        </p:nvSpPr>
        <p:spPr>
          <a:xfrm>
            <a:off x="9372600" y="2029968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08" name="box_254"/>
          <p:cNvSpPr/>
          <p:nvPr/>
        </p:nvSpPr>
        <p:spPr>
          <a:xfrm>
            <a:off x="9528048" y="2029968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09" name="box_255"/>
          <p:cNvSpPr/>
          <p:nvPr/>
        </p:nvSpPr>
        <p:spPr>
          <a:xfrm>
            <a:off x="8750808" y="2185416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10" name="box_256"/>
          <p:cNvSpPr/>
          <p:nvPr/>
        </p:nvSpPr>
        <p:spPr>
          <a:xfrm>
            <a:off x="8906256" y="2185416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11" name="box_257"/>
          <p:cNvSpPr/>
          <p:nvPr/>
        </p:nvSpPr>
        <p:spPr>
          <a:xfrm>
            <a:off x="9061704" y="2185416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12" name="box_258"/>
          <p:cNvSpPr/>
          <p:nvPr/>
        </p:nvSpPr>
        <p:spPr>
          <a:xfrm>
            <a:off x="9217152" y="2185416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13" name="box_259"/>
          <p:cNvSpPr/>
          <p:nvPr/>
        </p:nvSpPr>
        <p:spPr>
          <a:xfrm>
            <a:off x="9372600" y="2185416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14" name="box_260"/>
          <p:cNvSpPr/>
          <p:nvPr/>
        </p:nvSpPr>
        <p:spPr>
          <a:xfrm>
            <a:off x="9528048" y="2185416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15" name="box_261"/>
          <p:cNvSpPr/>
          <p:nvPr/>
        </p:nvSpPr>
        <p:spPr>
          <a:xfrm>
            <a:off x="8750808" y="2340864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16" name="box_262"/>
          <p:cNvSpPr/>
          <p:nvPr/>
        </p:nvSpPr>
        <p:spPr>
          <a:xfrm>
            <a:off x="8906256" y="2340864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17" name="box_263"/>
          <p:cNvSpPr/>
          <p:nvPr/>
        </p:nvSpPr>
        <p:spPr>
          <a:xfrm>
            <a:off x="9061704" y="2340864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18" name="box_264"/>
          <p:cNvSpPr/>
          <p:nvPr/>
        </p:nvSpPr>
        <p:spPr>
          <a:xfrm>
            <a:off x="9217152" y="2340864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19" name="box_265"/>
          <p:cNvSpPr/>
          <p:nvPr/>
        </p:nvSpPr>
        <p:spPr>
          <a:xfrm>
            <a:off x="9372600" y="2340864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20" name="box_266"/>
          <p:cNvSpPr/>
          <p:nvPr/>
        </p:nvSpPr>
        <p:spPr>
          <a:xfrm>
            <a:off x="9528048" y="2340864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21" name="box_267"/>
          <p:cNvSpPr/>
          <p:nvPr/>
        </p:nvSpPr>
        <p:spPr>
          <a:xfrm>
            <a:off x="8750808" y="2496312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22" name="box_268"/>
          <p:cNvSpPr/>
          <p:nvPr/>
        </p:nvSpPr>
        <p:spPr>
          <a:xfrm>
            <a:off x="8906256" y="2496312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23" name="box_269"/>
          <p:cNvSpPr/>
          <p:nvPr/>
        </p:nvSpPr>
        <p:spPr>
          <a:xfrm>
            <a:off x="9061704" y="2496312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24" name="box_270"/>
          <p:cNvSpPr/>
          <p:nvPr/>
        </p:nvSpPr>
        <p:spPr>
          <a:xfrm>
            <a:off x="9217152" y="2496312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25" name="box_271"/>
          <p:cNvSpPr/>
          <p:nvPr/>
        </p:nvSpPr>
        <p:spPr>
          <a:xfrm>
            <a:off x="9372600" y="2496312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26" name="box_272"/>
          <p:cNvSpPr/>
          <p:nvPr/>
        </p:nvSpPr>
        <p:spPr>
          <a:xfrm>
            <a:off x="9528048" y="2496312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27" name="box_273"/>
          <p:cNvSpPr/>
          <p:nvPr/>
        </p:nvSpPr>
        <p:spPr>
          <a:xfrm>
            <a:off x="8750808" y="265176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28" name="box_274"/>
          <p:cNvSpPr/>
          <p:nvPr/>
        </p:nvSpPr>
        <p:spPr>
          <a:xfrm>
            <a:off x="8906256" y="265176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29" name="box_275"/>
          <p:cNvSpPr/>
          <p:nvPr/>
        </p:nvSpPr>
        <p:spPr>
          <a:xfrm>
            <a:off x="9061704" y="265176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30" name="box_276"/>
          <p:cNvSpPr/>
          <p:nvPr/>
        </p:nvSpPr>
        <p:spPr>
          <a:xfrm>
            <a:off x="9217152" y="265176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31" name="box_277"/>
          <p:cNvSpPr/>
          <p:nvPr/>
        </p:nvSpPr>
        <p:spPr>
          <a:xfrm>
            <a:off x="9372600" y="265176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32" name="box_278"/>
          <p:cNvSpPr/>
          <p:nvPr/>
        </p:nvSpPr>
        <p:spPr>
          <a:xfrm>
            <a:off x="9528048" y="2651760"/>
            <a:ext cx="132588" cy="132588"/>
          </a:xfrm>
          <a:prstGeom prst="rect">
            <a:avLst/>
          </a:prstGeom>
          <a:solidFill>
            <a:srgbClr val="1D2739"/>
          </a:solidFill>
          <a:ln w="6350">
            <a:solidFill>
              <a:srgbClr val="2C3850"/>
            </a:solidFill>
            <a:prstDash val="solid"/>
          </a:ln>
        </p:spPr>
      </p:sp>
      <p:sp>
        <p:nvSpPr>
          <p:cNvPr id="233" name="box_279"/>
          <p:cNvSpPr/>
          <p:nvPr/>
        </p:nvSpPr>
        <p:spPr>
          <a:xfrm>
            <a:off x="8604504" y="196596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34" name="box_280"/>
          <p:cNvSpPr/>
          <p:nvPr/>
        </p:nvSpPr>
        <p:spPr>
          <a:xfrm>
            <a:off x="8759952" y="196596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35" name="box_281"/>
          <p:cNvSpPr/>
          <p:nvPr/>
        </p:nvSpPr>
        <p:spPr>
          <a:xfrm>
            <a:off x="8915400" y="196596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36" name="box_282"/>
          <p:cNvSpPr/>
          <p:nvPr/>
        </p:nvSpPr>
        <p:spPr>
          <a:xfrm>
            <a:off x="9070848" y="196596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37" name="box_283"/>
          <p:cNvSpPr/>
          <p:nvPr/>
        </p:nvSpPr>
        <p:spPr>
          <a:xfrm>
            <a:off x="9226296" y="196596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38" name="box_284"/>
          <p:cNvSpPr/>
          <p:nvPr/>
        </p:nvSpPr>
        <p:spPr>
          <a:xfrm>
            <a:off x="9381744" y="196596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39" name="box_285"/>
          <p:cNvSpPr/>
          <p:nvPr/>
        </p:nvSpPr>
        <p:spPr>
          <a:xfrm>
            <a:off x="8604504" y="2121408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40" name="box_286"/>
          <p:cNvSpPr/>
          <p:nvPr/>
        </p:nvSpPr>
        <p:spPr>
          <a:xfrm>
            <a:off x="8759952" y="2121408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41" name="box_287"/>
          <p:cNvSpPr/>
          <p:nvPr/>
        </p:nvSpPr>
        <p:spPr>
          <a:xfrm>
            <a:off x="8915400" y="2121408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42" name="box_288"/>
          <p:cNvSpPr/>
          <p:nvPr/>
        </p:nvSpPr>
        <p:spPr>
          <a:xfrm>
            <a:off x="9070848" y="2121408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43" name="box_289"/>
          <p:cNvSpPr/>
          <p:nvPr/>
        </p:nvSpPr>
        <p:spPr>
          <a:xfrm>
            <a:off x="9226296" y="2121408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44" name="box_290"/>
          <p:cNvSpPr/>
          <p:nvPr/>
        </p:nvSpPr>
        <p:spPr>
          <a:xfrm>
            <a:off x="9381744" y="2121408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45" name="box_291"/>
          <p:cNvSpPr/>
          <p:nvPr/>
        </p:nvSpPr>
        <p:spPr>
          <a:xfrm>
            <a:off x="8604504" y="2276856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46" name="box_292"/>
          <p:cNvSpPr/>
          <p:nvPr/>
        </p:nvSpPr>
        <p:spPr>
          <a:xfrm>
            <a:off x="8759952" y="2276856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47" name="box_293"/>
          <p:cNvSpPr/>
          <p:nvPr/>
        </p:nvSpPr>
        <p:spPr>
          <a:xfrm>
            <a:off x="8915400" y="2276856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48" name="box_294"/>
          <p:cNvSpPr/>
          <p:nvPr/>
        </p:nvSpPr>
        <p:spPr>
          <a:xfrm>
            <a:off x="9070848" y="2276856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49" name="box_295"/>
          <p:cNvSpPr/>
          <p:nvPr/>
        </p:nvSpPr>
        <p:spPr>
          <a:xfrm>
            <a:off x="9226296" y="2276856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50" name="box_296"/>
          <p:cNvSpPr/>
          <p:nvPr/>
        </p:nvSpPr>
        <p:spPr>
          <a:xfrm>
            <a:off x="9381744" y="2276856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51" name="box_297"/>
          <p:cNvSpPr/>
          <p:nvPr/>
        </p:nvSpPr>
        <p:spPr>
          <a:xfrm>
            <a:off x="8604504" y="2432304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52" name="box_298"/>
          <p:cNvSpPr/>
          <p:nvPr/>
        </p:nvSpPr>
        <p:spPr>
          <a:xfrm>
            <a:off x="8759952" y="2432304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53" name="box_299"/>
          <p:cNvSpPr/>
          <p:nvPr/>
        </p:nvSpPr>
        <p:spPr>
          <a:xfrm>
            <a:off x="8915400" y="2432304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54" name="box_300"/>
          <p:cNvSpPr/>
          <p:nvPr/>
        </p:nvSpPr>
        <p:spPr>
          <a:xfrm>
            <a:off x="9070848" y="2432304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55" name="box_301"/>
          <p:cNvSpPr/>
          <p:nvPr/>
        </p:nvSpPr>
        <p:spPr>
          <a:xfrm>
            <a:off x="9226296" y="2432304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56" name="box_302"/>
          <p:cNvSpPr/>
          <p:nvPr/>
        </p:nvSpPr>
        <p:spPr>
          <a:xfrm>
            <a:off x="9381744" y="2432304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57" name="box_303"/>
          <p:cNvSpPr/>
          <p:nvPr/>
        </p:nvSpPr>
        <p:spPr>
          <a:xfrm>
            <a:off x="8604504" y="2587752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58" name="box_304"/>
          <p:cNvSpPr/>
          <p:nvPr/>
        </p:nvSpPr>
        <p:spPr>
          <a:xfrm>
            <a:off x="8759952" y="2587752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59" name="box_305"/>
          <p:cNvSpPr/>
          <p:nvPr/>
        </p:nvSpPr>
        <p:spPr>
          <a:xfrm>
            <a:off x="8915400" y="2587752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60" name="box_306"/>
          <p:cNvSpPr/>
          <p:nvPr/>
        </p:nvSpPr>
        <p:spPr>
          <a:xfrm>
            <a:off x="9070848" y="2587752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61" name="box_307"/>
          <p:cNvSpPr/>
          <p:nvPr/>
        </p:nvSpPr>
        <p:spPr>
          <a:xfrm>
            <a:off x="9226296" y="2587752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62" name="box_308"/>
          <p:cNvSpPr/>
          <p:nvPr/>
        </p:nvSpPr>
        <p:spPr>
          <a:xfrm>
            <a:off x="9381744" y="2587752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63" name="box_309"/>
          <p:cNvSpPr/>
          <p:nvPr/>
        </p:nvSpPr>
        <p:spPr>
          <a:xfrm>
            <a:off x="8604504" y="274320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64" name="box_310"/>
          <p:cNvSpPr/>
          <p:nvPr/>
        </p:nvSpPr>
        <p:spPr>
          <a:xfrm>
            <a:off x="8759952" y="274320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65" name="box_311"/>
          <p:cNvSpPr/>
          <p:nvPr/>
        </p:nvSpPr>
        <p:spPr>
          <a:xfrm>
            <a:off x="8915400" y="274320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66" name="box_312"/>
          <p:cNvSpPr/>
          <p:nvPr/>
        </p:nvSpPr>
        <p:spPr>
          <a:xfrm>
            <a:off x="9070848" y="274320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67" name="box_313"/>
          <p:cNvSpPr/>
          <p:nvPr/>
        </p:nvSpPr>
        <p:spPr>
          <a:xfrm>
            <a:off x="9226296" y="274320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68" name="box_314"/>
          <p:cNvSpPr/>
          <p:nvPr/>
        </p:nvSpPr>
        <p:spPr>
          <a:xfrm>
            <a:off x="9381744" y="2743200"/>
            <a:ext cx="132588" cy="132588"/>
          </a:xfrm>
          <a:prstGeom prst="rect">
            <a:avLst/>
          </a:prstGeom>
          <a:solidFill>
            <a:srgbClr val="406B43"/>
          </a:solidFill>
          <a:ln w="6350">
            <a:solidFill>
              <a:srgbClr val="73C95C"/>
            </a:solidFill>
            <a:prstDash val="dash"/>
          </a:ln>
        </p:spPr>
      </p:sp>
      <p:sp>
        <p:nvSpPr>
          <p:cNvPr id="269" name="box_315"/>
          <p:cNvSpPr/>
          <p:nvPr/>
        </p:nvSpPr>
        <p:spPr>
          <a:xfrm>
            <a:off x="8458200" y="205740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0" name="box_316"/>
          <p:cNvSpPr/>
          <p:nvPr/>
        </p:nvSpPr>
        <p:spPr>
          <a:xfrm>
            <a:off x="8613648" y="205740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1" name="box_317"/>
          <p:cNvSpPr/>
          <p:nvPr/>
        </p:nvSpPr>
        <p:spPr>
          <a:xfrm>
            <a:off x="8769096" y="205740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2" name="box_318"/>
          <p:cNvSpPr/>
          <p:nvPr/>
        </p:nvSpPr>
        <p:spPr>
          <a:xfrm>
            <a:off x="8924544" y="205740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3" name="box_319"/>
          <p:cNvSpPr/>
          <p:nvPr/>
        </p:nvSpPr>
        <p:spPr>
          <a:xfrm>
            <a:off x="9079992" y="205740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4" name="box_320"/>
          <p:cNvSpPr/>
          <p:nvPr/>
        </p:nvSpPr>
        <p:spPr>
          <a:xfrm>
            <a:off x="9235440" y="205740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5" name="box_321"/>
          <p:cNvSpPr/>
          <p:nvPr/>
        </p:nvSpPr>
        <p:spPr>
          <a:xfrm>
            <a:off x="8458200" y="2212848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6" name="box_322"/>
          <p:cNvSpPr/>
          <p:nvPr/>
        </p:nvSpPr>
        <p:spPr>
          <a:xfrm>
            <a:off x="8613648" y="2212848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7" name="box_323"/>
          <p:cNvSpPr/>
          <p:nvPr/>
        </p:nvSpPr>
        <p:spPr>
          <a:xfrm>
            <a:off x="8769096" y="2212848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8" name="box_324"/>
          <p:cNvSpPr/>
          <p:nvPr/>
        </p:nvSpPr>
        <p:spPr>
          <a:xfrm>
            <a:off x="8924544" y="2212848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9" name="box_325"/>
          <p:cNvSpPr/>
          <p:nvPr/>
        </p:nvSpPr>
        <p:spPr>
          <a:xfrm>
            <a:off x="9079992" y="2212848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80" name="box_326"/>
          <p:cNvSpPr/>
          <p:nvPr/>
        </p:nvSpPr>
        <p:spPr>
          <a:xfrm>
            <a:off x="9235440" y="2212848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81" name="box_327"/>
          <p:cNvSpPr/>
          <p:nvPr/>
        </p:nvSpPr>
        <p:spPr>
          <a:xfrm>
            <a:off x="8458200" y="2368296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82" name="box_328"/>
          <p:cNvSpPr/>
          <p:nvPr/>
        </p:nvSpPr>
        <p:spPr>
          <a:xfrm>
            <a:off x="8613648" y="2368296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83" name="box_329"/>
          <p:cNvSpPr/>
          <p:nvPr/>
        </p:nvSpPr>
        <p:spPr>
          <a:xfrm>
            <a:off x="8769096" y="2368296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84" name="box_330"/>
          <p:cNvSpPr/>
          <p:nvPr/>
        </p:nvSpPr>
        <p:spPr>
          <a:xfrm>
            <a:off x="8924544" y="2368296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85" name="box_331"/>
          <p:cNvSpPr/>
          <p:nvPr/>
        </p:nvSpPr>
        <p:spPr>
          <a:xfrm>
            <a:off x="9079992" y="2368296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86" name="box_332"/>
          <p:cNvSpPr/>
          <p:nvPr/>
        </p:nvSpPr>
        <p:spPr>
          <a:xfrm>
            <a:off x="9235440" y="2368296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87" name="box_333"/>
          <p:cNvSpPr/>
          <p:nvPr/>
        </p:nvSpPr>
        <p:spPr>
          <a:xfrm>
            <a:off x="8458200" y="2523744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88" name="box_334"/>
          <p:cNvSpPr/>
          <p:nvPr/>
        </p:nvSpPr>
        <p:spPr>
          <a:xfrm>
            <a:off x="8613648" y="2523744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89" name="box_335"/>
          <p:cNvSpPr/>
          <p:nvPr/>
        </p:nvSpPr>
        <p:spPr>
          <a:xfrm>
            <a:off x="8769096" y="2523744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90" name="box_336"/>
          <p:cNvSpPr/>
          <p:nvPr/>
        </p:nvSpPr>
        <p:spPr>
          <a:xfrm>
            <a:off x="8924544" y="2523744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91" name="box_337"/>
          <p:cNvSpPr/>
          <p:nvPr/>
        </p:nvSpPr>
        <p:spPr>
          <a:xfrm>
            <a:off x="9079992" y="2523744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92" name="box_338"/>
          <p:cNvSpPr/>
          <p:nvPr/>
        </p:nvSpPr>
        <p:spPr>
          <a:xfrm>
            <a:off x="9235440" y="2523744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93" name="box_339"/>
          <p:cNvSpPr/>
          <p:nvPr/>
        </p:nvSpPr>
        <p:spPr>
          <a:xfrm>
            <a:off x="8458200" y="2679192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94" name="box_340"/>
          <p:cNvSpPr/>
          <p:nvPr/>
        </p:nvSpPr>
        <p:spPr>
          <a:xfrm>
            <a:off x="8613648" y="2679192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95" name="box_341"/>
          <p:cNvSpPr/>
          <p:nvPr/>
        </p:nvSpPr>
        <p:spPr>
          <a:xfrm>
            <a:off x="8769096" y="2679192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96" name="box_342"/>
          <p:cNvSpPr/>
          <p:nvPr/>
        </p:nvSpPr>
        <p:spPr>
          <a:xfrm>
            <a:off x="8924544" y="2679192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97" name="box_343"/>
          <p:cNvSpPr/>
          <p:nvPr/>
        </p:nvSpPr>
        <p:spPr>
          <a:xfrm>
            <a:off x="9079992" y="2679192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98" name="box_344"/>
          <p:cNvSpPr/>
          <p:nvPr/>
        </p:nvSpPr>
        <p:spPr>
          <a:xfrm>
            <a:off x="9235440" y="2679192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99" name="box_345"/>
          <p:cNvSpPr/>
          <p:nvPr/>
        </p:nvSpPr>
        <p:spPr>
          <a:xfrm>
            <a:off x="8458200" y="283464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00" name="box_346"/>
          <p:cNvSpPr/>
          <p:nvPr/>
        </p:nvSpPr>
        <p:spPr>
          <a:xfrm>
            <a:off x="8613648" y="283464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01" name="box_347"/>
          <p:cNvSpPr/>
          <p:nvPr/>
        </p:nvSpPr>
        <p:spPr>
          <a:xfrm>
            <a:off x="8769096" y="283464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02" name="box_348"/>
          <p:cNvSpPr/>
          <p:nvPr/>
        </p:nvSpPr>
        <p:spPr>
          <a:xfrm>
            <a:off x="8924544" y="283464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03" name="box_349"/>
          <p:cNvSpPr/>
          <p:nvPr/>
        </p:nvSpPr>
        <p:spPr>
          <a:xfrm>
            <a:off x="9079992" y="283464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04" name="box_350"/>
          <p:cNvSpPr/>
          <p:nvPr/>
        </p:nvSpPr>
        <p:spPr>
          <a:xfrm>
            <a:off x="9235440" y="2834640"/>
            <a:ext cx="132588" cy="132588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05" name="box_351"/>
          <p:cNvSpPr/>
          <p:nvPr/>
        </p:nvSpPr>
        <p:spPr>
          <a:xfrm>
            <a:off x="8311896" y="214884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06" name="box_352"/>
          <p:cNvSpPr/>
          <p:nvPr/>
        </p:nvSpPr>
        <p:spPr>
          <a:xfrm>
            <a:off x="8467344" y="214884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07" name="box_353"/>
          <p:cNvSpPr/>
          <p:nvPr/>
        </p:nvSpPr>
        <p:spPr>
          <a:xfrm>
            <a:off x="8622792" y="214884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08" name="box_354"/>
          <p:cNvSpPr/>
          <p:nvPr/>
        </p:nvSpPr>
        <p:spPr>
          <a:xfrm>
            <a:off x="8778240" y="214884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09" name="box_355"/>
          <p:cNvSpPr/>
          <p:nvPr/>
        </p:nvSpPr>
        <p:spPr>
          <a:xfrm>
            <a:off x="8933688" y="214884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10" name="box_356"/>
          <p:cNvSpPr/>
          <p:nvPr/>
        </p:nvSpPr>
        <p:spPr>
          <a:xfrm>
            <a:off x="9089136" y="214884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11" name="box_357"/>
          <p:cNvSpPr/>
          <p:nvPr/>
        </p:nvSpPr>
        <p:spPr>
          <a:xfrm>
            <a:off x="8311896" y="2304288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12" name="box_358"/>
          <p:cNvSpPr/>
          <p:nvPr/>
        </p:nvSpPr>
        <p:spPr>
          <a:xfrm>
            <a:off x="8467344" y="2304288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13" name="box_359"/>
          <p:cNvSpPr/>
          <p:nvPr/>
        </p:nvSpPr>
        <p:spPr>
          <a:xfrm>
            <a:off x="8622792" y="2304288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14" name="box_360"/>
          <p:cNvSpPr/>
          <p:nvPr/>
        </p:nvSpPr>
        <p:spPr>
          <a:xfrm>
            <a:off x="8778240" y="2304288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15" name="box_361"/>
          <p:cNvSpPr/>
          <p:nvPr/>
        </p:nvSpPr>
        <p:spPr>
          <a:xfrm>
            <a:off x="8933688" y="2304288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16" name="box_362"/>
          <p:cNvSpPr/>
          <p:nvPr/>
        </p:nvSpPr>
        <p:spPr>
          <a:xfrm>
            <a:off x="9089136" y="2304288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17" name="box_363"/>
          <p:cNvSpPr/>
          <p:nvPr/>
        </p:nvSpPr>
        <p:spPr>
          <a:xfrm>
            <a:off x="8311896" y="2459736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18" name="box_364"/>
          <p:cNvSpPr/>
          <p:nvPr/>
        </p:nvSpPr>
        <p:spPr>
          <a:xfrm>
            <a:off x="8467344" y="2459736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19" name="box_365"/>
          <p:cNvSpPr/>
          <p:nvPr/>
        </p:nvSpPr>
        <p:spPr>
          <a:xfrm>
            <a:off x="8622792" y="2459736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20" name="box_366"/>
          <p:cNvSpPr/>
          <p:nvPr/>
        </p:nvSpPr>
        <p:spPr>
          <a:xfrm>
            <a:off x="8778240" y="2459736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21" name="box_367"/>
          <p:cNvSpPr/>
          <p:nvPr/>
        </p:nvSpPr>
        <p:spPr>
          <a:xfrm>
            <a:off x="8933688" y="2459736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22" name="box_368"/>
          <p:cNvSpPr/>
          <p:nvPr/>
        </p:nvSpPr>
        <p:spPr>
          <a:xfrm>
            <a:off x="9089136" y="2459736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23" name="box_369"/>
          <p:cNvSpPr/>
          <p:nvPr/>
        </p:nvSpPr>
        <p:spPr>
          <a:xfrm>
            <a:off x="8311896" y="2615184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24" name="box_370"/>
          <p:cNvSpPr/>
          <p:nvPr/>
        </p:nvSpPr>
        <p:spPr>
          <a:xfrm>
            <a:off x="8467344" y="2615184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25" name="box_371"/>
          <p:cNvSpPr/>
          <p:nvPr/>
        </p:nvSpPr>
        <p:spPr>
          <a:xfrm>
            <a:off x="8622792" y="2615184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26" name="box_372"/>
          <p:cNvSpPr/>
          <p:nvPr/>
        </p:nvSpPr>
        <p:spPr>
          <a:xfrm>
            <a:off x="8778240" y="2615184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27" name="box_373"/>
          <p:cNvSpPr/>
          <p:nvPr/>
        </p:nvSpPr>
        <p:spPr>
          <a:xfrm>
            <a:off x="8933688" y="2615184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28" name="box_374"/>
          <p:cNvSpPr/>
          <p:nvPr/>
        </p:nvSpPr>
        <p:spPr>
          <a:xfrm>
            <a:off x="9089136" y="2615184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29" name="box_375"/>
          <p:cNvSpPr/>
          <p:nvPr/>
        </p:nvSpPr>
        <p:spPr>
          <a:xfrm>
            <a:off x="8311896" y="2770632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30" name="box_376"/>
          <p:cNvSpPr/>
          <p:nvPr/>
        </p:nvSpPr>
        <p:spPr>
          <a:xfrm>
            <a:off x="8467344" y="2770632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31" name="box_377"/>
          <p:cNvSpPr/>
          <p:nvPr/>
        </p:nvSpPr>
        <p:spPr>
          <a:xfrm>
            <a:off x="8622792" y="2770632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32" name="box_378"/>
          <p:cNvSpPr/>
          <p:nvPr/>
        </p:nvSpPr>
        <p:spPr>
          <a:xfrm>
            <a:off x="8778240" y="2770632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33" name="box_379"/>
          <p:cNvSpPr/>
          <p:nvPr/>
        </p:nvSpPr>
        <p:spPr>
          <a:xfrm>
            <a:off x="8933688" y="2770632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34" name="box_380"/>
          <p:cNvSpPr/>
          <p:nvPr/>
        </p:nvSpPr>
        <p:spPr>
          <a:xfrm>
            <a:off x="9089136" y="2770632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35" name="box_381"/>
          <p:cNvSpPr/>
          <p:nvPr/>
        </p:nvSpPr>
        <p:spPr>
          <a:xfrm>
            <a:off x="8311896" y="292608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36" name="box_382"/>
          <p:cNvSpPr/>
          <p:nvPr/>
        </p:nvSpPr>
        <p:spPr>
          <a:xfrm>
            <a:off x="8467344" y="292608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37" name="box_383"/>
          <p:cNvSpPr/>
          <p:nvPr/>
        </p:nvSpPr>
        <p:spPr>
          <a:xfrm>
            <a:off x="8622792" y="292608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38" name="box_384"/>
          <p:cNvSpPr/>
          <p:nvPr/>
        </p:nvSpPr>
        <p:spPr>
          <a:xfrm>
            <a:off x="8778240" y="292608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39" name="box_385"/>
          <p:cNvSpPr/>
          <p:nvPr/>
        </p:nvSpPr>
        <p:spPr>
          <a:xfrm>
            <a:off x="8933688" y="292608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40" name="box_386"/>
          <p:cNvSpPr/>
          <p:nvPr/>
        </p:nvSpPr>
        <p:spPr>
          <a:xfrm>
            <a:off x="9089136" y="2926080"/>
            <a:ext cx="132588" cy="132588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41" name="text_387"/>
          <p:cNvSpPr txBox="1"/>
          <p:nvPr/>
        </p:nvSpPr>
        <p:spPr>
          <a:xfrm>
            <a:off x="10094976" y="2011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G0, G1 fixed
</a:t>
            </a:r>
            <a:r>
              <a:rPr lang="en-US" sz="1050" dirty="0">
                <a:solidFill>
                  <a:srgbClr val="73C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being sampled
</a:t>
            </a: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next</a:t>
            </a:r>
            <a:endParaRPr lang="en-US" sz="1050" dirty="0"/>
          </a:p>
        </p:txBody>
      </p:sp>
      <p:sp>
        <p:nvSpPr>
          <p:cNvPr id="342" name="text_388"/>
          <p:cNvSpPr txBox="1"/>
          <p:nvPr/>
        </p:nvSpPr>
        <p:spPr>
          <a:xfrm>
            <a:off x="8266176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p(X) = </a:t>
            </a: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∏</a:t>
            </a:r>
            <a:r>
              <a:rPr lang="en-US" sz="1350" baseline="-400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k</a:t>
            </a: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p(G</a:t>
            </a:r>
            <a:r>
              <a:rPr lang="en-US" sz="1350" baseline="-400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k</a:t>
            </a: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| G</a:t>
            </a:r>
            <a:r>
              <a:rPr lang="en-US" sz="1350" baseline="-4000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&lt;k</a:t>
            </a:r>
            <a:r>
              <a:rPr lang="en-US" sz="1350" dirty="0">
                <a:solidFill>
                  <a:srgbClr val="E8ECF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endParaRPr lang="en-US" sz="1350" dirty="0"/>
          </a:p>
        </p:txBody>
      </p:sp>
      <p:sp>
        <p:nvSpPr>
          <p:cNvPr id="343" name="text_389"/>
          <p:cNvSpPr txBox="1"/>
          <p:nvPr/>
        </p:nvSpPr>
        <p:spPr>
          <a:xfrm>
            <a:off x="8266176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spatial field per step, low → high frequency; each field sampled stochastically</a:t>
            </a:r>
            <a:endParaRPr lang="en-US" sz="1100" dirty="0"/>
          </a:p>
        </p:txBody>
      </p:sp>
      <p:sp>
        <p:nvSpPr>
          <p:cNvPr id="344" name="text_390"/>
          <p:cNvSpPr txBox="1"/>
          <p:nvPr/>
        </p:nvSpPr>
        <p:spPr>
          <a:xfrm>
            <a:off x="548640" y="4160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FFHQ-64 images rebuilt by cumulative frequency groups (data, not model)</a:t>
            </a:r>
            <a:endParaRPr lang="en-US" sz="1250" dirty="0"/>
          </a:p>
        </p:txBody>
      </p:sp>
      <p:pic>
        <p:nvPicPr>
          <p:cNvPr id="345" name="img_391" descr="/home/nada/PycharmProjects/learned-spectral-basis/.claude/worktrees/shai-deck/reports/shai_deck/figures/samples/cum_real_g0_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98848"/>
            <a:ext cx="731520" cy="731520"/>
          </a:xfrm>
          <a:prstGeom prst="rect">
            <a:avLst/>
          </a:prstGeom>
        </p:spPr>
      </p:pic>
      <p:pic>
        <p:nvPicPr>
          <p:cNvPr id="346" name="img_392" descr="/home/nada/PycharmProjects/learned-spectral-basis/.claude/worktrees/shai-deck/reports/shai_deck/figures/samples/cum_real_g1_s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4498848"/>
            <a:ext cx="731520" cy="731520"/>
          </a:xfrm>
          <a:prstGeom prst="rect">
            <a:avLst/>
          </a:prstGeom>
        </p:spPr>
      </p:pic>
      <p:pic>
        <p:nvPicPr>
          <p:cNvPr id="347" name="img_393" descr="/home/nada/PycharmProjects/learned-spectral-basis/.claude/worktrees/shai-deck/reports/shai_deck/figures/samples/cum_real_g2_s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4498848"/>
            <a:ext cx="731520" cy="731520"/>
          </a:xfrm>
          <a:prstGeom prst="rect">
            <a:avLst/>
          </a:prstGeom>
        </p:spPr>
      </p:pic>
      <p:pic>
        <p:nvPicPr>
          <p:cNvPr id="348" name="img_394" descr="/home/nada/PycharmProjects/learned-spectral-basis/.claude/worktrees/shai-deck/reports/shai_deck/figures/samples/cum_real_g3_s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4498848"/>
            <a:ext cx="731520" cy="731520"/>
          </a:xfrm>
          <a:prstGeom prst="rect">
            <a:avLst/>
          </a:prstGeom>
        </p:spPr>
      </p:pic>
      <p:pic>
        <p:nvPicPr>
          <p:cNvPr id="349" name="img_395" descr="/home/nada/PycharmProjects/learned-spectral-basis/.claude/worktrees/shai-deck/reports/shai_deck/figures/samples/cum_real_g0_s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4498848"/>
            <a:ext cx="731520" cy="731520"/>
          </a:xfrm>
          <a:prstGeom prst="rect">
            <a:avLst/>
          </a:prstGeom>
        </p:spPr>
      </p:pic>
      <p:pic>
        <p:nvPicPr>
          <p:cNvPr id="350" name="img_396" descr="/home/nada/PycharmProjects/learned-spectral-basis/.claude/worktrees/shai-deck/reports/shai_deck/figures/samples/cum_real_g1_s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288" y="4498848"/>
            <a:ext cx="731520" cy="731520"/>
          </a:xfrm>
          <a:prstGeom prst="rect">
            <a:avLst/>
          </a:prstGeom>
        </p:spPr>
      </p:pic>
      <p:pic>
        <p:nvPicPr>
          <p:cNvPr id="351" name="img_397" descr="/home/nada/PycharmProjects/learned-spectral-basis/.claude/worktrees/shai-deck/reports/shai_deck/figures/samples/cum_real_g2_s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8384" y="4498848"/>
            <a:ext cx="731520" cy="731520"/>
          </a:xfrm>
          <a:prstGeom prst="rect">
            <a:avLst/>
          </a:prstGeom>
        </p:spPr>
      </p:pic>
      <p:pic>
        <p:nvPicPr>
          <p:cNvPr id="352" name="img_398" descr="/home/nada/PycharmProjects/learned-spectral-basis/.claude/worktrees/shai-deck/reports/shai_deck/figures/samples/cum_real_g3_s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498848"/>
            <a:ext cx="731520" cy="731520"/>
          </a:xfrm>
          <a:prstGeom prst="rect">
            <a:avLst/>
          </a:prstGeom>
        </p:spPr>
      </p:pic>
      <p:pic>
        <p:nvPicPr>
          <p:cNvPr id="353" name="img_399" descr="/home/nada/PycharmProjects/learned-spectral-basis/.claude/worktrees/shai-deck/reports/shai_deck/figures/samples/cum_real_g0_s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266944"/>
            <a:ext cx="731520" cy="731520"/>
          </a:xfrm>
          <a:prstGeom prst="rect">
            <a:avLst/>
          </a:prstGeom>
        </p:spPr>
      </p:pic>
      <p:sp>
        <p:nvSpPr>
          <p:cNvPr id="354" name="text_400"/>
          <p:cNvSpPr txBox="1"/>
          <p:nvPr/>
        </p:nvSpPr>
        <p:spPr>
          <a:xfrm>
            <a:off x="548640" y="6025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1050" dirty="0"/>
          </a:p>
        </p:txBody>
      </p:sp>
      <p:pic>
        <p:nvPicPr>
          <p:cNvPr id="355" name="img_401" descr="/home/nada/PycharmProjects/learned-spectral-basis/.claude/worktrees/shai-deck/reports/shai_deck/figures/samples/cum_real_g1_s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6736" y="5266944"/>
            <a:ext cx="731520" cy="731520"/>
          </a:xfrm>
          <a:prstGeom prst="rect">
            <a:avLst/>
          </a:prstGeom>
        </p:spPr>
      </p:pic>
      <p:sp>
        <p:nvSpPr>
          <p:cNvPr id="356" name="text_402"/>
          <p:cNvSpPr txBox="1"/>
          <p:nvPr/>
        </p:nvSpPr>
        <p:spPr>
          <a:xfrm>
            <a:off x="1316736" y="6025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+G1</a:t>
            </a:r>
            <a:endParaRPr lang="en-US" sz="1050" dirty="0"/>
          </a:p>
        </p:txBody>
      </p:sp>
      <p:pic>
        <p:nvPicPr>
          <p:cNvPr id="357" name="img_403" descr="/home/nada/PycharmProjects/learned-spectral-basis/.claude/worktrees/shai-deck/reports/shai_deck/figures/samples/cum_real_g2_s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84832" y="5266944"/>
            <a:ext cx="731520" cy="731520"/>
          </a:xfrm>
          <a:prstGeom prst="rect">
            <a:avLst/>
          </a:prstGeom>
        </p:spPr>
      </p:pic>
      <p:sp>
        <p:nvSpPr>
          <p:cNvPr id="358" name="text_404"/>
          <p:cNvSpPr txBox="1"/>
          <p:nvPr/>
        </p:nvSpPr>
        <p:spPr>
          <a:xfrm>
            <a:off x="2084832" y="6025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+G2</a:t>
            </a:r>
            <a:endParaRPr lang="en-US" sz="1050" dirty="0"/>
          </a:p>
        </p:txBody>
      </p:sp>
      <p:pic>
        <p:nvPicPr>
          <p:cNvPr id="359" name="img_405" descr="/home/nada/PycharmProjects/learned-spectral-basis/.claude/worktrees/shai-deck/reports/shai_deck/figures/samples/cum_real_g3_s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2928" y="5266944"/>
            <a:ext cx="731520" cy="731520"/>
          </a:xfrm>
          <a:prstGeom prst="rect">
            <a:avLst/>
          </a:prstGeom>
        </p:spPr>
      </p:pic>
      <p:sp>
        <p:nvSpPr>
          <p:cNvPr id="360" name="text_406"/>
          <p:cNvSpPr txBox="1"/>
          <p:nvPr/>
        </p:nvSpPr>
        <p:spPr>
          <a:xfrm>
            <a:off x="2852928" y="6025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050" dirty="0"/>
          </a:p>
        </p:txBody>
      </p:sp>
      <p:pic>
        <p:nvPicPr>
          <p:cNvPr id="361" name="img_407" descr="/home/nada/PycharmProjects/learned-spectral-basis/.claude/worktrees/shai-deck/reports/shai_deck/figures/samples/cum_real_g0_s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2192" y="5266944"/>
            <a:ext cx="731520" cy="731520"/>
          </a:xfrm>
          <a:prstGeom prst="rect">
            <a:avLst/>
          </a:prstGeom>
        </p:spPr>
      </p:pic>
      <p:sp>
        <p:nvSpPr>
          <p:cNvPr id="362" name="text_408"/>
          <p:cNvSpPr txBox="1"/>
          <p:nvPr/>
        </p:nvSpPr>
        <p:spPr>
          <a:xfrm>
            <a:off x="3822192" y="6025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1050" dirty="0"/>
          </a:p>
        </p:txBody>
      </p:sp>
      <p:pic>
        <p:nvPicPr>
          <p:cNvPr id="363" name="img_409" descr="/home/nada/PycharmProjects/learned-spectral-basis/.claude/worktrees/shai-deck/reports/shai_deck/figures/samples/cum_real_g1_s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0288" y="5266944"/>
            <a:ext cx="731520" cy="731520"/>
          </a:xfrm>
          <a:prstGeom prst="rect">
            <a:avLst/>
          </a:prstGeom>
        </p:spPr>
      </p:pic>
      <p:sp>
        <p:nvSpPr>
          <p:cNvPr id="364" name="text_410"/>
          <p:cNvSpPr txBox="1"/>
          <p:nvPr/>
        </p:nvSpPr>
        <p:spPr>
          <a:xfrm>
            <a:off x="4590288" y="6025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+G1</a:t>
            </a:r>
            <a:endParaRPr lang="en-US" sz="1050" dirty="0"/>
          </a:p>
        </p:txBody>
      </p:sp>
      <p:pic>
        <p:nvPicPr>
          <p:cNvPr id="365" name="img_411" descr="/home/nada/PycharmProjects/learned-spectral-basis/.claude/worktrees/shai-deck/reports/shai_deck/figures/samples/cum_real_g2_s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58384" y="5266944"/>
            <a:ext cx="731520" cy="731520"/>
          </a:xfrm>
          <a:prstGeom prst="rect">
            <a:avLst/>
          </a:prstGeom>
        </p:spPr>
      </p:pic>
      <p:sp>
        <p:nvSpPr>
          <p:cNvPr id="366" name="text_412"/>
          <p:cNvSpPr txBox="1"/>
          <p:nvPr/>
        </p:nvSpPr>
        <p:spPr>
          <a:xfrm>
            <a:off x="5358384" y="6025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+G2</a:t>
            </a:r>
            <a:endParaRPr lang="en-US" sz="1050" dirty="0"/>
          </a:p>
        </p:txBody>
      </p:sp>
      <p:pic>
        <p:nvPicPr>
          <p:cNvPr id="367" name="img_413" descr="/home/nada/PycharmProjects/learned-spectral-basis/.claude/worktrees/shai-deck/reports/shai_deck/figures/samples/cum_real_g3_s3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26480" y="5266944"/>
            <a:ext cx="731520" cy="731520"/>
          </a:xfrm>
          <a:prstGeom prst="rect">
            <a:avLst/>
          </a:prstGeom>
        </p:spPr>
      </p:pic>
      <p:sp>
        <p:nvSpPr>
          <p:cNvPr id="368" name="text_414"/>
          <p:cNvSpPr txBox="1"/>
          <p:nvPr/>
        </p:nvSpPr>
        <p:spPr>
          <a:xfrm>
            <a:off x="6126480" y="6025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050" dirty="0"/>
          </a:p>
        </p:txBody>
      </p:sp>
      <p:sp>
        <p:nvSpPr>
          <p:cNvPr id="369" name="box_415"/>
          <p:cNvSpPr/>
          <p:nvPr/>
        </p:nvSpPr>
        <p:spPr>
          <a:xfrm>
            <a:off x="7059168" y="4160520"/>
            <a:ext cx="4581144" cy="2011680"/>
          </a:xfrm>
          <a:prstGeom prst="roundRect">
            <a:avLst>
              <a:gd name="adj" fmla="val 3636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370" name="text_416"/>
          <p:cNvSpPr txBox="1"/>
          <p:nvPr/>
        </p:nvSpPr>
        <p:spPr>
          <a:xfrm>
            <a:off x="7223760" y="42519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factorization offers</a:t>
            </a:r>
            <a:endParaRPr lang="en-US" sz="1350" dirty="0"/>
          </a:p>
        </p:txBody>
      </p:sp>
      <p:sp>
        <p:nvSpPr>
          <p:cNvPr id="371" name="text_417"/>
          <p:cNvSpPr txBox="1"/>
          <p:nvPr/>
        </p:nvSpPr>
        <p:spPr>
          <a:xfrm>
            <a:off x="7223760" y="4553712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causal order: layout (G0) is decided first, detail conditioned on it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Explicit, inspectable separation of global vs fine information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not assumptions: does it improve quality, conditional diversity, training or sampling cost?</a:t>
            </a:r>
            <a:endParaRPr lang="en-US" sz="1250" dirty="0"/>
          </a:p>
        </p:txBody>
      </p:sp>
      <p:sp>
        <p:nvSpPr>
          <p:cNvPr id="372" name="text_418"/>
          <p:cNvSpPr txBox="1"/>
          <p:nvPr/>
        </p:nvSpPr>
        <p:spPr>
          <a:xfrm>
            <a:off x="7223760" y="5815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computational advantage is assumed; it is measured (slides 9, 12).</a:t>
            </a:r>
            <a:endParaRPr lang="en-US" sz="1100" dirty="0"/>
          </a:p>
        </p:txBody>
      </p:sp>
      <p:sp>
        <p:nvSpPr>
          <p:cNvPr id="373" name="text_419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images: FFHQ64-q90 cache (real10k.pt, dataset index 7i), decoded with DCTdiff DCT_to_RGB after zeroing later groups. Group = u+v of the 4×4 zig-zag coefficient.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 ·  third_party/DCTdiff/libs/axial_freqk.py  (FFHQ-64, a1_d256)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A1: one axial transformer, causal across frequency</a:t>
            </a:r>
            <a:endParaRPr lang="en-US" sz="2800" dirty="0"/>
          </a:p>
        </p:txBody>
      </p:sp>
      <p:sp>
        <p:nvSpPr>
          <p:cNvPr id="4" name="text_420"/>
          <p:cNvSpPr txBox="1"/>
          <p:nvPr/>
        </p:nvSpPr>
        <p:spPr>
          <a:xfrm>
            <a:off x="548640" y="1325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REPRESENTATION</a:t>
            </a:r>
            <a:endParaRPr lang="en-US" sz="1200" dirty="0"/>
          </a:p>
        </p:txBody>
      </p:sp>
      <p:sp>
        <p:nvSpPr>
          <p:cNvPr id="5" name="text_421"/>
          <p:cNvSpPr txBox="1"/>
          <p:nvPr/>
        </p:nvSpPr>
        <p:spPr>
          <a:xfrm>
            <a:off x="3840480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TRUNK (TRAINING, ONE PASS)</a:t>
            </a:r>
            <a:endParaRPr lang="en-US" sz="1200" dirty="0"/>
          </a:p>
        </p:txBody>
      </p:sp>
      <p:sp>
        <p:nvSpPr>
          <p:cNvPr id="6" name="text_422"/>
          <p:cNvSpPr txBox="1"/>
          <p:nvPr/>
        </p:nvSpPr>
        <p:spPr>
          <a:xfrm>
            <a:off x="8778240" y="1325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SAMPLING (OUTER × INNER)</a:t>
            </a:r>
            <a:endParaRPr lang="en-US" sz="1200" dirty="0"/>
          </a:p>
        </p:txBody>
      </p:sp>
      <p:pic>
        <p:nvPicPr>
          <p:cNvPr id="7" name="img_423" descr="/home/nada/PycharmProjects/learned-spectral-basis/.claude/worktrees/shai-deck/reports/shai_deck/figures/samples/j20_10_8_8_s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868680" cy="868680"/>
          </a:xfrm>
          <a:prstGeom prst="rect">
            <a:avLst/>
          </a:prstGeom>
        </p:spPr>
      </p:pic>
      <p:sp>
        <p:nvSpPr>
          <p:cNvPr id="8" name="text_424"/>
          <p:cNvSpPr txBox="1"/>
          <p:nvPr/>
        </p:nvSpPr>
        <p:spPr>
          <a:xfrm>
            <a:off x="1536192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∈ ℝ^(64×64×3)</a:t>
            </a:r>
            <a:endParaRPr lang="en-US" sz="1150" dirty="0"/>
          </a:p>
        </p:txBody>
      </p:sp>
      <p:sp>
        <p:nvSpPr>
          <p:cNvPr id="9" name="text_425"/>
          <p:cNvSpPr txBox="1"/>
          <p:nvPr/>
        </p:nvSpPr>
        <p:spPr>
          <a:xfrm>
            <a:off x="1536192" y="2011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YCbCr 4:2:0 → 4×4 block DCT → keep 9 zig-zag coefficients</a:t>
            </a:r>
            <a:endParaRPr lang="en-US" sz="1050" dirty="0"/>
          </a:p>
        </p:txBody>
      </p:sp>
      <p:sp>
        <p:nvSpPr>
          <p:cNvPr id="10" name="box_426"/>
          <p:cNvSpPr/>
          <p:nvPr/>
        </p:nvSpPr>
        <p:spPr>
          <a:xfrm>
            <a:off x="777240" y="3017520"/>
            <a:ext cx="301752" cy="301752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11" name="text_427"/>
          <p:cNvSpPr txBox="1"/>
          <p:nvPr/>
        </p:nvSpPr>
        <p:spPr>
          <a:xfrm>
            <a:off x="777240" y="301752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850" dirty="0"/>
          </a:p>
        </p:txBody>
      </p:sp>
      <p:sp>
        <p:nvSpPr>
          <p:cNvPr id="12" name="box_428"/>
          <p:cNvSpPr/>
          <p:nvPr/>
        </p:nvSpPr>
        <p:spPr>
          <a:xfrm>
            <a:off x="1106424" y="3017520"/>
            <a:ext cx="301752" cy="30175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3" name="text_429"/>
          <p:cNvSpPr txBox="1"/>
          <p:nvPr/>
        </p:nvSpPr>
        <p:spPr>
          <a:xfrm>
            <a:off x="1106424" y="301752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4" name="box_430"/>
          <p:cNvSpPr/>
          <p:nvPr/>
        </p:nvSpPr>
        <p:spPr>
          <a:xfrm>
            <a:off x="1435608" y="3017520"/>
            <a:ext cx="301752" cy="30175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15" name="text_431"/>
          <p:cNvSpPr txBox="1"/>
          <p:nvPr/>
        </p:nvSpPr>
        <p:spPr>
          <a:xfrm>
            <a:off x="1435608" y="301752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box_432"/>
          <p:cNvSpPr/>
          <p:nvPr/>
        </p:nvSpPr>
        <p:spPr>
          <a:xfrm>
            <a:off x="1764792" y="3017520"/>
            <a:ext cx="301752" cy="301752"/>
          </a:xfrm>
          <a:prstGeom prst="rect">
            <a:avLst/>
          </a:prstGeom>
          <a:solidFill>
            <a:srgbClr val="E8D44D"/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17" name="text_433"/>
          <p:cNvSpPr txBox="1"/>
          <p:nvPr/>
        </p:nvSpPr>
        <p:spPr>
          <a:xfrm>
            <a:off x="1764792" y="301752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box_434"/>
          <p:cNvSpPr/>
          <p:nvPr/>
        </p:nvSpPr>
        <p:spPr>
          <a:xfrm>
            <a:off x="777240" y="3346704"/>
            <a:ext cx="301752" cy="30175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9" name="text_435"/>
          <p:cNvSpPr txBox="1"/>
          <p:nvPr/>
        </p:nvSpPr>
        <p:spPr>
          <a:xfrm>
            <a:off x="777240" y="334670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0" name="box_436"/>
          <p:cNvSpPr/>
          <p:nvPr/>
        </p:nvSpPr>
        <p:spPr>
          <a:xfrm>
            <a:off x="1106424" y="3346704"/>
            <a:ext cx="301752" cy="30175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21" name="text_437"/>
          <p:cNvSpPr txBox="1"/>
          <p:nvPr/>
        </p:nvSpPr>
        <p:spPr>
          <a:xfrm>
            <a:off x="1106424" y="334670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  <p:sp>
        <p:nvSpPr>
          <p:cNvPr id="22" name="box_438"/>
          <p:cNvSpPr/>
          <p:nvPr/>
        </p:nvSpPr>
        <p:spPr>
          <a:xfrm>
            <a:off x="1435608" y="3346704"/>
            <a:ext cx="301752" cy="301752"/>
          </a:xfrm>
          <a:prstGeom prst="rect">
            <a:avLst/>
          </a:prstGeom>
          <a:solidFill>
            <a:srgbClr val="E8D44D"/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23" name="text_439"/>
          <p:cNvSpPr txBox="1"/>
          <p:nvPr/>
        </p:nvSpPr>
        <p:spPr>
          <a:xfrm>
            <a:off x="1435608" y="334670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  <p:sp>
        <p:nvSpPr>
          <p:cNvPr id="24" name="box_440"/>
          <p:cNvSpPr/>
          <p:nvPr/>
        </p:nvSpPr>
        <p:spPr>
          <a:xfrm>
            <a:off x="1764792" y="3346704"/>
            <a:ext cx="301752" cy="301752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5" name="box_441"/>
          <p:cNvSpPr/>
          <p:nvPr/>
        </p:nvSpPr>
        <p:spPr>
          <a:xfrm>
            <a:off x="777240" y="3675888"/>
            <a:ext cx="301752" cy="30175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26" name="text_442"/>
          <p:cNvSpPr txBox="1"/>
          <p:nvPr/>
        </p:nvSpPr>
        <p:spPr>
          <a:xfrm>
            <a:off x="777240" y="3675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50" dirty="0"/>
          </a:p>
        </p:txBody>
      </p:sp>
      <p:sp>
        <p:nvSpPr>
          <p:cNvPr id="27" name="box_443"/>
          <p:cNvSpPr/>
          <p:nvPr/>
        </p:nvSpPr>
        <p:spPr>
          <a:xfrm>
            <a:off x="1106424" y="3675888"/>
            <a:ext cx="301752" cy="301752"/>
          </a:xfrm>
          <a:prstGeom prst="rect">
            <a:avLst/>
          </a:prstGeom>
          <a:solidFill>
            <a:srgbClr val="E8D44D"/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28" name="text_444"/>
          <p:cNvSpPr txBox="1"/>
          <p:nvPr/>
        </p:nvSpPr>
        <p:spPr>
          <a:xfrm>
            <a:off x="1106424" y="3675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850" dirty="0"/>
          </a:p>
        </p:txBody>
      </p:sp>
      <p:sp>
        <p:nvSpPr>
          <p:cNvPr id="29" name="box_445"/>
          <p:cNvSpPr/>
          <p:nvPr/>
        </p:nvSpPr>
        <p:spPr>
          <a:xfrm>
            <a:off x="1435608" y="3675888"/>
            <a:ext cx="301752" cy="301752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0" name="box_446"/>
          <p:cNvSpPr/>
          <p:nvPr/>
        </p:nvSpPr>
        <p:spPr>
          <a:xfrm>
            <a:off x="1764792" y="3675888"/>
            <a:ext cx="301752" cy="301752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1" name="box_447"/>
          <p:cNvSpPr/>
          <p:nvPr/>
        </p:nvSpPr>
        <p:spPr>
          <a:xfrm>
            <a:off x="777240" y="4005072"/>
            <a:ext cx="301752" cy="301752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2" name="box_448"/>
          <p:cNvSpPr/>
          <p:nvPr/>
        </p:nvSpPr>
        <p:spPr>
          <a:xfrm>
            <a:off x="1106424" y="4005072"/>
            <a:ext cx="301752" cy="301752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3" name="box_449"/>
          <p:cNvSpPr/>
          <p:nvPr/>
        </p:nvSpPr>
        <p:spPr>
          <a:xfrm>
            <a:off x="1435608" y="4005072"/>
            <a:ext cx="301752" cy="301752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4" name="box_450"/>
          <p:cNvSpPr/>
          <p:nvPr/>
        </p:nvSpPr>
        <p:spPr>
          <a:xfrm>
            <a:off x="1764792" y="4005072"/>
            <a:ext cx="301752" cy="301752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5" name="text_451"/>
          <p:cNvSpPr txBox="1"/>
          <p:nvPr/>
        </p:nvSpPr>
        <p:spPr>
          <a:xfrm>
            <a:off x="777240" y="2807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→</a:t>
            </a:r>
            <a:endParaRPr lang="en-US" sz="900" dirty="0"/>
          </a:p>
        </p:txBody>
      </p:sp>
      <p:sp>
        <p:nvSpPr>
          <p:cNvPr id="36" name="text_452"/>
          <p:cNvSpPr txBox="1"/>
          <p:nvPr/>
        </p:nvSpPr>
        <p:spPr>
          <a:xfrm>
            <a:off x="566928" y="30632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900" dirty="0"/>
          </a:p>
        </p:txBody>
      </p:sp>
      <p:sp>
        <p:nvSpPr>
          <p:cNvPr id="37" name="text_453"/>
          <p:cNvSpPr txBox="1"/>
          <p:nvPr/>
        </p:nvSpPr>
        <p:spPr>
          <a:xfrm>
            <a:off x="2194560" y="3063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= u + 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(3,0) and u+v ≥ 4 dropped</a:t>
            </a:r>
            <a:endParaRPr lang="en-US" sz="1000" dirty="0"/>
          </a:p>
        </p:txBody>
      </p:sp>
      <p:sp>
        <p:nvSpPr>
          <p:cNvPr id="38" name="text_454"/>
          <p:cNvSpPr txBox="1"/>
          <p:nvPr/>
        </p:nvSpPr>
        <p:spPr>
          <a:xfrm>
            <a:off x="2194560" y="3657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= 8×8 px = 4 Y + Cb + Cr blocks × 9 coef = 54 ch; 64 tokens on an 8×8 grid</a:t>
            </a:r>
            <a:endParaRPr lang="en-US" sz="1000" dirty="0"/>
          </a:p>
        </p:txBody>
      </p:sp>
      <p:sp>
        <p:nvSpPr>
          <p:cNvPr id="39" name="box_455"/>
          <p:cNvSpPr/>
          <p:nvPr/>
        </p:nvSpPr>
        <p:spPr>
          <a:xfrm>
            <a:off x="548640" y="4443984"/>
            <a:ext cx="457200" cy="256032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40" name="text_456"/>
          <p:cNvSpPr txBox="1"/>
          <p:nvPr/>
        </p:nvSpPr>
        <p:spPr>
          <a:xfrm>
            <a:off x="548640" y="4443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1050" dirty="0"/>
          </a:p>
        </p:txBody>
      </p:sp>
      <p:sp>
        <p:nvSpPr>
          <p:cNvPr id="41" name="text_457"/>
          <p:cNvSpPr txBox="1"/>
          <p:nvPr/>
        </p:nvSpPr>
        <p:spPr>
          <a:xfrm>
            <a:off x="1097280" y="4443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ch / token · 384 values / image</a:t>
            </a:r>
            <a:endParaRPr lang="en-US" sz="1050" dirty="0"/>
          </a:p>
        </p:txBody>
      </p:sp>
      <p:sp>
        <p:nvSpPr>
          <p:cNvPr id="42" name="box_458"/>
          <p:cNvSpPr/>
          <p:nvPr/>
        </p:nvSpPr>
        <p:spPr>
          <a:xfrm>
            <a:off x="548640" y="4754880"/>
            <a:ext cx="457200" cy="25603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43" name="text_459"/>
          <p:cNvSpPr txBox="1"/>
          <p:nvPr/>
        </p:nvSpPr>
        <p:spPr>
          <a:xfrm>
            <a:off x="54864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050" dirty="0"/>
          </a:p>
        </p:txBody>
      </p:sp>
      <p:sp>
        <p:nvSpPr>
          <p:cNvPr id="44" name="text_460"/>
          <p:cNvSpPr txBox="1"/>
          <p:nvPr/>
        </p:nvSpPr>
        <p:spPr>
          <a:xfrm>
            <a:off x="1097280" y="4754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ch / token · 768 values / image</a:t>
            </a:r>
            <a:endParaRPr lang="en-US" sz="1050" dirty="0"/>
          </a:p>
        </p:txBody>
      </p:sp>
      <p:sp>
        <p:nvSpPr>
          <p:cNvPr id="45" name="box_461"/>
          <p:cNvSpPr/>
          <p:nvPr/>
        </p:nvSpPr>
        <p:spPr>
          <a:xfrm>
            <a:off x="548640" y="5065776"/>
            <a:ext cx="457200" cy="25603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46" name="text_462"/>
          <p:cNvSpPr txBox="1"/>
          <p:nvPr/>
        </p:nvSpPr>
        <p:spPr>
          <a:xfrm>
            <a:off x="548640" y="5065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050" dirty="0"/>
          </a:p>
        </p:txBody>
      </p:sp>
      <p:sp>
        <p:nvSpPr>
          <p:cNvPr id="47" name="text_463"/>
          <p:cNvSpPr txBox="1"/>
          <p:nvPr/>
        </p:nvSpPr>
        <p:spPr>
          <a:xfrm>
            <a:off x="1097280" y="5065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ch / token · 1152 values / image</a:t>
            </a:r>
            <a:endParaRPr lang="en-US" sz="1050" dirty="0"/>
          </a:p>
        </p:txBody>
      </p:sp>
      <p:sp>
        <p:nvSpPr>
          <p:cNvPr id="48" name="box_464"/>
          <p:cNvSpPr/>
          <p:nvPr/>
        </p:nvSpPr>
        <p:spPr>
          <a:xfrm>
            <a:off x="548640" y="5376672"/>
            <a:ext cx="457200" cy="256032"/>
          </a:xfrm>
          <a:prstGeom prst="rect">
            <a:avLst/>
          </a:prstGeom>
          <a:solidFill>
            <a:srgbClr val="E8D44D"/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49" name="text_465"/>
          <p:cNvSpPr txBox="1"/>
          <p:nvPr/>
        </p:nvSpPr>
        <p:spPr>
          <a:xfrm>
            <a:off x="548640" y="5376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050" dirty="0"/>
          </a:p>
        </p:txBody>
      </p:sp>
      <p:sp>
        <p:nvSpPr>
          <p:cNvPr id="50" name="text_466"/>
          <p:cNvSpPr txBox="1"/>
          <p:nvPr/>
        </p:nvSpPr>
        <p:spPr>
          <a:xfrm>
            <a:off x="1097280" y="5376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ch / token · 1152 values / image</a:t>
            </a:r>
            <a:endParaRPr lang="en-US" sz="1050" dirty="0"/>
          </a:p>
        </p:txBody>
      </p:sp>
      <p:sp>
        <p:nvSpPr>
          <p:cNvPr id="51" name="text_467"/>
          <p:cNvSpPr txBox="1"/>
          <p:nvPr/>
        </p:nvSpPr>
        <p:spPr>
          <a:xfrm>
            <a:off x="548640" y="5733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Gₖ ∈ ℝ^(64 × Cₖ): 3456 values / image</a:t>
            </a:r>
            <a:endParaRPr lang="en-US" sz="1050" dirty="0"/>
          </a:p>
        </p:txBody>
      </p:sp>
      <p:sp>
        <p:nvSpPr>
          <p:cNvPr id="52" name="text_468"/>
          <p:cNvSpPr txBox="1"/>
          <p:nvPr/>
        </p:nvSpPr>
        <p:spPr>
          <a:xfrm>
            <a:off x="3840480" y="169164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G0</a:t>
            </a:r>
            <a:endParaRPr lang="en-US" sz="1100" dirty="0"/>
          </a:p>
        </p:txBody>
      </p:sp>
      <p:sp>
        <p:nvSpPr>
          <p:cNvPr id="53" name="box_469"/>
          <p:cNvSpPr/>
          <p:nvPr/>
        </p:nvSpPr>
        <p:spPr>
          <a:xfrm>
            <a:off x="5074920" y="1691640"/>
            <a:ext cx="233172" cy="274320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54" name="text_470"/>
          <p:cNvSpPr txBox="1"/>
          <p:nvPr/>
        </p:nvSpPr>
        <p:spPr>
          <a:xfrm>
            <a:off x="5074920" y="1691640"/>
            <a:ext cx="233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box_471"/>
          <p:cNvSpPr/>
          <p:nvPr/>
        </p:nvSpPr>
        <p:spPr>
          <a:xfrm>
            <a:off x="5344668" y="1691640"/>
            <a:ext cx="274320" cy="274320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56" name="box_472"/>
          <p:cNvSpPr/>
          <p:nvPr/>
        </p:nvSpPr>
        <p:spPr>
          <a:xfrm>
            <a:off x="5655564" y="1691640"/>
            <a:ext cx="274320" cy="274320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57" name="box_473"/>
          <p:cNvSpPr/>
          <p:nvPr/>
        </p:nvSpPr>
        <p:spPr>
          <a:xfrm>
            <a:off x="5966460" y="1691640"/>
            <a:ext cx="274320" cy="274320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58" name="box_474"/>
          <p:cNvSpPr/>
          <p:nvPr/>
        </p:nvSpPr>
        <p:spPr>
          <a:xfrm>
            <a:off x="6277356" y="1691640"/>
            <a:ext cx="274320" cy="274320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59" name="box_475"/>
          <p:cNvSpPr/>
          <p:nvPr/>
        </p:nvSpPr>
        <p:spPr>
          <a:xfrm>
            <a:off x="6588252" y="1691640"/>
            <a:ext cx="274320" cy="274320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60" name="box_476"/>
          <p:cNvSpPr/>
          <p:nvPr/>
        </p:nvSpPr>
        <p:spPr>
          <a:xfrm>
            <a:off x="6899148" y="1691640"/>
            <a:ext cx="274320" cy="274320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61" name="box_477"/>
          <p:cNvSpPr/>
          <p:nvPr/>
        </p:nvSpPr>
        <p:spPr>
          <a:xfrm>
            <a:off x="7210044" y="1691640"/>
            <a:ext cx="274320" cy="274320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62" name="text_478"/>
          <p:cNvSpPr txBox="1"/>
          <p:nvPr/>
        </p:nvSpPr>
        <p:spPr>
          <a:xfrm>
            <a:off x="75209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100" dirty="0"/>
          </a:p>
        </p:txBody>
      </p:sp>
      <p:sp>
        <p:nvSpPr>
          <p:cNvPr id="63" name="box_479"/>
          <p:cNvSpPr/>
          <p:nvPr/>
        </p:nvSpPr>
        <p:spPr>
          <a:xfrm>
            <a:off x="7831836" y="1691640"/>
            <a:ext cx="274320" cy="274320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64" name="text_480"/>
          <p:cNvSpPr txBox="1"/>
          <p:nvPr/>
        </p:nvSpPr>
        <p:spPr>
          <a:xfrm>
            <a:off x="3840480" y="2048256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G1</a:t>
            </a:r>
            <a:endParaRPr lang="en-US" sz="1100" dirty="0"/>
          </a:p>
        </p:txBody>
      </p:sp>
      <p:sp>
        <p:nvSpPr>
          <p:cNvPr id="65" name="box_481"/>
          <p:cNvSpPr/>
          <p:nvPr/>
        </p:nvSpPr>
        <p:spPr>
          <a:xfrm>
            <a:off x="5074920" y="2048256"/>
            <a:ext cx="233172" cy="274320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66" name="text_482"/>
          <p:cNvSpPr txBox="1"/>
          <p:nvPr/>
        </p:nvSpPr>
        <p:spPr>
          <a:xfrm>
            <a:off x="5074920" y="2048256"/>
            <a:ext cx="233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67" name="box_483"/>
          <p:cNvSpPr/>
          <p:nvPr/>
        </p:nvSpPr>
        <p:spPr>
          <a:xfrm>
            <a:off x="5344668" y="2048256"/>
            <a:ext cx="274320" cy="274320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68" name="box_484"/>
          <p:cNvSpPr/>
          <p:nvPr/>
        </p:nvSpPr>
        <p:spPr>
          <a:xfrm>
            <a:off x="5655564" y="2048256"/>
            <a:ext cx="274320" cy="274320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69" name="box_485"/>
          <p:cNvSpPr/>
          <p:nvPr/>
        </p:nvSpPr>
        <p:spPr>
          <a:xfrm>
            <a:off x="5966460" y="2048256"/>
            <a:ext cx="274320" cy="274320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70" name="box_486"/>
          <p:cNvSpPr/>
          <p:nvPr/>
        </p:nvSpPr>
        <p:spPr>
          <a:xfrm>
            <a:off x="6277356" y="2048256"/>
            <a:ext cx="274320" cy="274320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71" name="box_487"/>
          <p:cNvSpPr/>
          <p:nvPr/>
        </p:nvSpPr>
        <p:spPr>
          <a:xfrm>
            <a:off x="6588252" y="2048256"/>
            <a:ext cx="274320" cy="274320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72" name="box_488"/>
          <p:cNvSpPr/>
          <p:nvPr/>
        </p:nvSpPr>
        <p:spPr>
          <a:xfrm>
            <a:off x="6899148" y="2048256"/>
            <a:ext cx="274320" cy="274320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73" name="box_489"/>
          <p:cNvSpPr/>
          <p:nvPr/>
        </p:nvSpPr>
        <p:spPr>
          <a:xfrm>
            <a:off x="7210044" y="2048256"/>
            <a:ext cx="274320" cy="274320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74" name="text_490"/>
          <p:cNvSpPr txBox="1"/>
          <p:nvPr/>
        </p:nvSpPr>
        <p:spPr>
          <a:xfrm>
            <a:off x="7520940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100" dirty="0"/>
          </a:p>
        </p:txBody>
      </p:sp>
      <p:sp>
        <p:nvSpPr>
          <p:cNvPr id="75" name="box_491"/>
          <p:cNvSpPr/>
          <p:nvPr/>
        </p:nvSpPr>
        <p:spPr>
          <a:xfrm>
            <a:off x="7831836" y="2048256"/>
            <a:ext cx="274320" cy="274320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76" name="text_492"/>
          <p:cNvSpPr txBox="1"/>
          <p:nvPr/>
        </p:nvSpPr>
        <p:spPr>
          <a:xfrm>
            <a:off x="3840480" y="240487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G2</a:t>
            </a:r>
            <a:endParaRPr lang="en-US" sz="1100" dirty="0"/>
          </a:p>
        </p:txBody>
      </p:sp>
      <p:sp>
        <p:nvSpPr>
          <p:cNvPr id="77" name="box_493"/>
          <p:cNvSpPr/>
          <p:nvPr/>
        </p:nvSpPr>
        <p:spPr>
          <a:xfrm>
            <a:off x="5074920" y="2404872"/>
            <a:ext cx="233172" cy="274320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78" name="text_494"/>
          <p:cNvSpPr txBox="1"/>
          <p:nvPr/>
        </p:nvSpPr>
        <p:spPr>
          <a:xfrm>
            <a:off x="5074920" y="2404872"/>
            <a:ext cx="233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79" name="box_495"/>
          <p:cNvSpPr/>
          <p:nvPr/>
        </p:nvSpPr>
        <p:spPr>
          <a:xfrm>
            <a:off x="5344668" y="2404872"/>
            <a:ext cx="274320" cy="274320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80" name="box_496"/>
          <p:cNvSpPr/>
          <p:nvPr/>
        </p:nvSpPr>
        <p:spPr>
          <a:xfrm>
            <a:off x="5655564" y="2404872"/>
            <a:ext cx="274320" cy="274320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81" name="box_497"/>
          <p:cNvSpPr/>
          <p:nvPr/>
        </p:nvSpPr>
        <p:spPr>
          <a:xfrm>
            <a:off x="5966460" y="2404872"/>
            <a:ext cx="274320" cy="274320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82" name="box_498"/>
          <p:cNvSpPr/>
          <p:nvPr/>
        </p:nvSpPr>
        <p:spPr>
          <a:xfrm>
            <a:off x="6277356" y="2404872"/>
            <a:ext cx="274320" cy="274320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83" name="box_499"/>
          <p:cNvSpPr/>
          <p:nvPr/>
        </p:nvSpPr>
        <p:spPr>
          <a:xfrm>
            <a:off x="6588252" y="2404872"/>
            <a:ext cx="274320" cy="274320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84" name="box_500"/>
          <p:cNvSpPr/>
          <p:nvPr/>
        </p:nvSpPr>
        <p:spPr>
          <a:xfrm>
            <a:off x="6899148" y="2404872"/>
            <a:ext cx="274320" cy="274320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85" name="box_501"/>
          <p:cNvSpPr/>
          <p:nvPr/>
        </p:nvSpPr>
        <p:spPr>
          <a:xfrm>
            <a:off x="7210044" y="2404872"/>
            <a:ext cx="274320" cy="274320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86" name="text_502"/>
          <p:cNvSpPr txBox="1"/>
          <p:nvPr/>
        </p:nvSpPr>
        <p:spPr>
          <a:xfrm>
            <a:off x="752094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100" dirty="0"/>
          </a:p>
        </p:txBody>
      </p:sp>
      <p:sp>
        <p:nvSpPr>
          <p:cNvPr id="87" name="box_503"/>
          <p:cNvSpPr/>
          <p:nvPr/>
        </p:nvSpPr>
        <p:spPr>
          <a:xfrm>
            <a:off x="7831836" y="2404872"/>
            <a:ext cx="274320" cy="274320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88" name="text_504"/>
          <p:cNvSpPr txBox="1"/>
          <p:nvPr/>
        </p:nvSpPr>
        <p:spPr>
          <a:xfrm>
            <a:off x="3840480" y="2761488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G0 @ t0</a:t>
            </a:r>
            <a:endParaRPr lang="en-US" sz="1100" dirty="0"/>
          </a:p>
        </p:txBody>
      </p:sp>
      <p:sp>
        <p:nvSpPr>
          <p:cNvPr id="89" name="box_505"/>
          <p:cNvSpPr/>
          <p:nvPr/>
        </p:nvSpPr>
        <p:spPr>
          <a:xfrm>
            <a:off x="5074920" y="2761488"/>
            <a:ext cx="233172" cy="274320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90" name="text_506"/>
          <p:cNvSpPr txBox="1"/>
          <p:nvPr/>
        </p:nvSpPr>
        <p:spPr>
          <a:xfrm>
            <a:off x="5074920" y="2761488"/>
            <a:ext cx="233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91" name="box_507"/>
          <p:cNvSpPr/>
          <p:nvPr/>
        </p:nvSpPr>
        <p:spPr>
          <a:xfrm>
            <a:off x="5344668" y="2761488"/>
            <a:ext cx="274320" cy="274320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92" name="box_508"/>
          <p:cNvSpPr/>
          <p:nvPr/>
        </p:nvSpPr>
        <p:spPr>
          <a:xfrm>
            <a:off x="5655564" y="2761488"/>
            <a:ext cx="274320" cy="274320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93" name="box_509"/>
          <p:cNvSpPr/>
          <p:nvPr/>
        </p:nvSpPr>
        <p:spPr>
          <a:xfrm>
            <a:off x="5966460" y="2761488"/>
            <a:ext cx="274320" cy="274320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94" name="box_510"/>
          <p:cNvSpPr/>
          <p:nvPr/>
        </p:nvSpPr>
        <p:spPr>
          <a:xfrm>
            <a:off x="6277356" y="2761488"/>
            <a:ext cx="274320" cy="274320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95" name="box_511"/>
          <p:cNvSpPr/>
          <p:nvPr/>
        </p:nvSpPr>
        <p:spPr>
          <a:xfrm>
            <a:off x="6588252" y="2761488"/>
            <a:ext cx="274320" cy="274320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96" name="box_512"/>
          <p:cNvSpPr/>
          <p:nvPr/>
        </p:nvSpPr>
        <p:spPr>
          <a:xfrm>
            <a:off x="6899148" y="2761488"/>
            <a:ext cx="274320" cy="274320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97" name="box_513"/>
          <p:cNvSpPr/>
          <p:nvPr/>
        </p:nvSpPr>
        <p:spPr>
          <a:xfrm>
            <a:off x="7210044" y="2761488"/>
            <a:ext cx="274320" cy="274320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98" name="text_514"/>
          <p:cNvSpPr txBox="1"/>
          <p:nvPr/>
        </p:nvSpPr>
        <p:spPr>
          <a:xfrm>
            <a:off x="752094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100" dirty="0"/>
          </a:p>
        </p:txBody>
      </p:sp>
      <p:sp>
        <p:nvSpPr>
          <p:cNvPr id="99" name="box_515"/>
          <p:cNvSpPr/>
          <p:nvPr/>
        </p:nvSpPr>
        <p:spPr>
          <a:xfrm>
            <a:off x="7831836" y="2761488"/>
            <a:ext cx="274320" cy="274320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100" name="text_516"/>
          <p:cNvSpPr txBox="1"/>
          <p:nvPr/>
        </p:nvSpPr>
        <p:spPr>
          <a:xfrm>
            <a:off x="3840480" y="3118104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G1 @ t1</a:t>
            </a:r>
            <a:endParaRPr lang="en-US" sz="1100" dirty="0"/>
          </a:p>
        </p:txBody>
      </p:sp>
      <p:sp>
        <p:nvSpPr>
          <p:cNvPr id="101" name="box_517"/>
          <p:cNvSpPr/>
          <p:nvPr/>
        </p:nvSpPr>
        <p:spPr>
          <a:xfrm>
            <a:off x="5074920" y="3118104"/>
            <a:ext cx="233172" cy="274320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102" name="text_518"/>
          <p:cNvSpPr txBox="1"/>
          <p:nvPr/>
        </p:nvSpPr>
        <p:spPr>
          <a:xfrm>
            <a:off x="5074920" y="3118104"/>
            <a:ext cx="233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03" name="box_519"/>
          <p:cNvSpPr/>
          <p:nvPr/>
        </p:nvSpPr>
        <p:spPr>
          <a:xfrm>
            <a:off x="5344668" y="3118104"/>
            <a:ext cx="274320" cy="274320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04" name="box_520"/>
          <p:cNvSpPr/>
          <p:nvPr/>
        </p:nvSpPr>
        <p:spPr>
          <a:xfrm>
            <a:off x="5655564" y="3118104"/>
            <a:ext cx="274320" cy="274320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05" name="box_521"/>
          <p:cNvSpPr/>
          <p:nvPr/>
        </p:nvSpPr>
        <p:spPr>
          <a:xfrm>
            <a:off x="5966460" y="3118104"/>
            <a:ext cx="274320" cy="274320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06" name="box_522"/>
          <p:cNvSpPr/>
          <p:nvPr/>
        </p:nvSpPr>
        <p:spPr>
          <a:xfrm>
            <a:off x="6277356" y="3118104"/>
            <a:ext cx="274320" cy="274320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07" name="box_523"/>
          <p:cNvSpPr/>
          <p:nvPr/>
        </p:nvSpPr>
        <p:spPr>
          <a:xfrm>
            <a:off x="6588252" y="3118104"/>
            <a:ext cx="274320" cy="274320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08" name="box_524"/>
          <p:cNvSpPr/>
          <p:nvPr/>
        </p:nvSpPr>
        <p:spPr>
          <a:xfrm>
            <a:off x="6899148" y="3118104"/>
            <a:ext cx="274320" cy="274320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09" name="box_525"/>
          <p:cNvSpPr/>
          <p:nvPr/>
        </p:nvSpPr>
        <p:spPr>
          <a:xfrm>
            <a:off x="7210044" y="3118104"/>
            <a:ext cx="274320" cy="274320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10" name="text_526"/>
          <p:cNvSpPr txBox="1"/>
          <p:nvPr/>
        </p:nvSpPr>
        <p:spPr>
          <a:xfrm>
            <a:off x="752094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100" dirty="0"/>
          </a:p>
        </p:txBody>
      </p:sp>
      <p:sp>
        <p:nvSpPr>
          <p:cNvPr id="111" name="box_527"/>
          <p:cNvSpPr/>
          <p:nvPr/>
        </p:nvSpPr>
        <p:spPr>
          <a:xfrm>
            <a:off x="7831836" y="3118104"/>
            <a:ext cx="274320" cy="274320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12" name="text_528"/>
          <p:cNvSpPr txBox="1"/>
          <p:nvPr/>
        </p:nvSpPr>
        <p:spPr>
          <a:xfrm>
            <a:off x="3840480" y="347472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G2 @ t2</a:t>
            </a:r>
            <a:endParaRPr lang="en-US" sz="1100" dirty="0"/>
          </a:p>
        </p:txBody>
      </p:sp>
      <p:sp>
        <p:nvSpPr>
          <p:cNvPr id="113" name="box_529"/>
          <p:cNvSpPr/>
          <p:nvPr/>
        </p:nvSpPr>
        <p:spPr>
          <a:xfrm>
            <a:off x="5074920" y="3474720"/>
            <a:ext cx="233172" cy="274320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114" name="text_530"/>
          <p:cNvSpPr txBox="1"/>
          <p:nvPr/>
        </p:nvSpPr>
        <p:spPr>
          <a:xfrm>
            <a:off x="5074920" y="3474720"/>
            <a:ext cx="233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15" name="box_531"/>
          <p:cNvSpPr/>
          <p:nvPr/>
        </p:nvSpPr>
        <p:spPr>
          <a:xfrm>
            <a:off x="5344668" y="3474720"/>
            <a:ext cx="274320" cy="274320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16" name="box_532"/>
          <p:cNvSpPr/>
          <p:nvPr/>
        </p:nvSpPr>
        <p:spPr>
          <a:xfrm>
            <a:off x="5655564" y="3474720"/>
            <a:ext cx="274320" cy="274320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17" name="box_533"/>
          <p:cNvSpPr/>
          <p:nvPr/>
        </p:nvSpPr>
        <p:spPr>
          <a:xfrm>
            <a:off x="5966460" y="3474720"/>
            <a:ext cx="274320" cy="274320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18" name="box_534"/>
          <p:cNvSpPr/>
          <p:nvPr/>
        </p:nvSpPr>
        <p:spPr>
          <a:xfrm>
            <a:off x="6277356" y="3474720"/>
            <a:ext cx="274320" cy="274320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19" name="box_535"/>
          <p:cNvSpPr/>
          <p:nvPr/>
        </p:nvSpPr>
        <p:spPr>
          <a:xfrm>
            <a:off x="6588252" y="3474720"/>
            <a:ext cx="274320" cy="274320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20" name="box_536"/>
          <p:cNvSpPr/>
          <p:nvPr/>
        </p:nvSpPr>
        <p:spPr>
          <a:xfrm>
            <a:off x="6899148" y="3474720"/>
            <a:ext cx="274320" cy="274320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21" name="box_537"/>
          <p:cNvSpPr/>
          <p:nvPr/>
        </p:nvSpPr>
        <p:spPr>
          <a:xfrm>
            <a:off x="7210044" y="3474720"/>
            <a:ext cx="274320" cy="274320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22" name="text_538"/>
          <p:cNvSpPr txBox="1"/>
          <p:nvPr/>
        </p:nvSpPr>
        <p:spPr>
          <a:xfrm>
            <a:off x="752094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100" dirty="0"/>
          </a:p>
        </p:txBody>
      </p:sp>
      <p:sp>
        <p:nvSpPr>
          <p:cNvPr id="123" name="box_539"/>
          <p:cNvSpPr/>
          <p:nvPr/>
        </p:nvSpPr>
        <p:spPr>
          <a:xfrm>
            <a:off x="7831836" y="3474720"/>
            <a:ext cx="274320" cy="274320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24" name="text_540"/>
          <p:cNvSpPr txBox="1"/>
          <p:nvPr/>
        </p:nvSpPr>
        <p:spPr>
          <a:xfrm>
            <a:off x="3840480" y="3831336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G3 @ t3</a:t>
            </a:r>
            <a:endParaRPr lang="en-US" sz="1100" dirty="0"/>
          </a:p>
        </p:txBody>
      </p:sp>
      <p:sp>
        <p:nvSpPr>
          <p:cNvPr id="125" name="box_541"/>
          <p:cNvSpPr/>
          <p:nvPr/>
        </p:nvSpPr>
        <p:spPr>
          <a:xfrm>
            <a:off x="5074920" y="3831336"/>
            <a:ext cx="233172" cy="274320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126" name="text_542"/>
          <p:cNvSpPr txBox="1"/>
          <p:nvPr/>
        </p:nvSpPr>
        <p:spPr>
          <a:xfrm>
            <a:off x="5074920" y="3831336"/>
            <a:ext cx="233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27" name="box_543"/>
          <p:cNvSpPr/>
          <p:nvPr/>
        </p:nvSpPr>
        <p:spPr>
          <a:xfrm>
            <a:off x="5344668" y="3831336"/>
            <a:ext cx="274320" cy="274320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28" name="box_544"/>
          <p:cNvSpPr/>
          <p:nvPr/>
        </p:nvSpPr>
        <p:spPr>
          <a:xfrm>
            <a:off x="5655564" y="3831336"/>
            <a:ext cx="274320" cy="274320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29" name="box_545"/>
          <p:cNvSpPr/>
          <p:nvPr/>
        </p:nvSpPr>
        <p:spPr>
          <a:xfrm>
            <a:off x="5966460" y="3831336"/>
            <a:ext cx="274320" cy="274320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30" name="box_546"/>
          <p:cNvSpPr/>
          <p:nvPr/>
        </p:nvSpPr>
        <p:spPr>
          <a:xfrm>
            <a:off x="6277356" y="3831336"/>
            <a:ext cx="274320" cy="274320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31" name="box_547"/>
          <p:cNvSpPr/>
          <p:nvPr/>
        </p:nvSpPr>
        <p:spPr>
          <a:xfrm>
            <a:off x="6588252" y="3831336"/>
            <a:ext cx="274320" cy="274320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32" name="box_548"/>
          <p:cNvSpPr/>
          <p:nvPr/>
        </p:nvSpPr>
        <p:spPr>
          <a:xfrm>
            <a:off x="6899148" y="3831336"/>
            <a:ext cx="274320" cy="274320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33" name="box_549"/>
          <p:cNvSpPr/>
          <p:nvPr/>
        </p:nvSpPr>
        <p:spPr>
          <a:xfrm>
            <a:off x="7210044" y="3831336"/>
            <a:ext cx="274320" cy="274320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34" name="text_550"/>
          <p:cNvSpPr txBox="1"/>
          <p:nvPr/>
        </p:nvSpPr>
        <p:spPr>
          <a:xfrm>
            <a:off x="7520940" y="3831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100" dirty="0"/>
          </a:p>
        </p:txBody>
      </p:sp>
      <p:sp>
        <p:nvSpPr>
          <p:cNvPr id="135" name="box_551"/>
          <p:cNvSpPr/>
          <p:nvPr/>
        </p:nvSpPr>
        <p:spPr>
          <a:xfrm>
            <a:off x="7831836" y="3831336"/>
            <a:ext cx="274320" cy="274320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36" name="line_552"/>
          <p:cNvSpPr/>
          <p:nvPr/>
        </p:nvSpPr>
        <p:spPr>
          <a:xfrm>
            <a:off x="7036308" y="1828800"/>
            <a:ext cx="91" cy="2020824"/>
          </a:xfrm>
          <a:prstGeom prst="line">
            <a:avLst/>
          </a:prstGeom>
          <a:noFill/>
          <a:ln w="28575">
            <a:solidFill>
              <a:srgbClr val="5BD49A"/>
            </a:solidFill>
            <a:prstDash val="solid"/>
            <a:headEnd type="none"/>
            <a:tailEnd type="triangle"/>
          </a:ln>
        </p:spPr>
      </p:sp>
      <p:sp>
        <p:nvSpPr>
          <p:cNvPr id="137" name="box_553"/>
          <p:cNvSpPr/>
          <p:nvPr/>
        </p:nvSpPr>
        <p:spPr>
          <a:xfrm>
            <a:off x="6990588" y="1783080"/>
            <a:ext cx="91440" cy="9144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38" name="box_554"/>
          <p:cNvSpPr/>
          <p:nvPr/>
        </p:nvSpPr>
        <p:spPr>
          <a:xfrm>
            <a:off x="6990588" y="2139696"/>
            <a:ext cx="91440" cy="9144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39" name="box_555"/>
          <p:cNvSpPr/>
          <p:nvPr/>
        </p:nvSpPr>
        <p:spPr>
          <a:xfrm>
            <a:off x="6990588" y="2496312"/>
            <a:ext cx="91440" cy="9144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40" name="line_556"/>
          <p:cNvSpPr/>
          <p:nvPr/>
        </p:nvSpPr>
        <p:spPr>
          <a:xfrm>
            <a:off x="5344668" y="4169664"/>
            <a:ext cx="2761488" cy="91"/>
          </a:xfrm>
          <a:prstGeom prst="line">
            <a:avLst/>
          </a:prstGeom>
          <a:noFill/>
          <a:ln w="25400">
            <a:solidFill>
              <a:srgbClr val="7FD8E3"/>
            </a:solidFill>
            <a:prstDash val="solid"/>
            <a:headEnd type="triangle"/>
            <a:tailEnd type="triangle"/>
          </a:ln>
        </p:spPr>
      </p:sp>
      <p:sp>
        <p:nvSpPr>
          <p:cNvPr id="141" name="text_557"/>
          <p:cNvSpPr txBox="1"/>
          <p:nvPr/>
        </p:nvSpPr>
        <p:spPr>
          <a:xfrm>
            <a:off x="3840480" y="42336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heads (3/4): </a:t>
            </a: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dense, bidirectional over the 64 + 1 tokens of one slot</a:t>
            </a:r>
            <a:endParaRPr lang="en-US" sz="1050" dirty="0"/>
          </a:p>
        </p:txBody>
      </p:sp>
      <p:sp>
        <p:nvSpPr>
          <p:cNvPr id="142" name="text_558"/>
          <p:cNvSpPr txBox="1"/>
          <p:nvPr/>
        </p:nvSpPr>
        <p:spPr>
          <a:xfrm>
            <a:off x="3840480" y="447141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head (1/4): </a:t>
            </a: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position across slots, masked →</a:t>
            </a:r>
            <a:endParaRPr lang="en-US" sz="1050" dirty="0"/>
          </a:p>
        </p:txBody>
      </p:sp>
      <p:sp>
        <p:nvSpPr>
          <p:cNvPr id="143" name="text_559"/>
          <p:cNvSpPr txBox="1"/>
          <p:nvPr/>
        </p:nvSpPr>
        <p:spPr>
          <a:xfrm>
            <a:off x="3840480" y="48463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axial blocks</a:t>
            </a: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(6·mid·6, long skips), D 256, 4×64 heads
</a:t>
            </a:r>
            <a:r>
              <a:rPr lang="en-US" sz="10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Shared: </a:t>
            </a: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blocks, position + time embeddings
</a:t>
            </a:r>
            <a:r>
              <a:rPr lang="en-US" sz="10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stage: </a:t>
            </a: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ℝ^Cₖ ↔ ℝ^256, stage embedding
</a:t>
            </a: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 7, 65, 256] · 11.09M params · ε-MSE</a:t>
            </a:r>
            <a:endParaRPr lang="en-US" sz="1050" dirty="0"/>
          </a:p>
        </p:txBody>
      </p:sp>
      <p:sp>
        <p:nvSpPr>
          <p:cNvPr id="144" name="text_560"/>
          <p:cNvSpPr txBox="1"/>
          <p:nvPr/>
        </p:nvSpPr>
        <p:spPr>
          <a:xfrm>
            <a:off x="6949440" y="46451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mask (row → column)</a:t>
            </a:r>
            <a:endParaRPr lang="en-US" sz="950" dirty="0"/>
          </a:p>
        </p:txBody>
      </p:sp>
      <p:sp>
        <p:nvSpPr>
          <p:cNvPr id="145" name="text_561"/>
          <p:cNvSpPr txBox="1"/>
          <p:nvPr/>
        </p:nvSpPr>
        <p:spPr>
          <a:xfrm>
            <a:off x="6903720" y="4901184"/>
            <a:ext cx="2377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</a:t>
            </a:r>
            <a:endParaRPr lang="en-US" sz="850" dirty="0"/>
          </a:p>
        </p:txBody>
      </p:sp>
      <p:sp>
        <p:nvSpPr>
          <p:cNvPr id="146" name="box_562"/>
          <p:cNvSpPr/>
          <p:nvPr/>
        </p:nvSpPr>
        <p:spPr>
          <a:xfrm>
            <a:off x="7196328" y="4901184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47" name="box_563"/>
          <p:cNvSpPr/>
          <p:nvPr/>
        </p:nvSpPr>
        <p:spPr>
          <a:xfrm>
            <a:off x="7347204" y="490118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48" name="box_564"/>
          <p:cNvSpPr/>
          <p:nvPr/>
        </p:nvSpPr>
        <p:spPr>
          <a:xfrm>
            <a:off x="7498080" y="490118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49" name="box_565"/>
          <p:cNvSpPr/>
          <p:nvPr/>
        </p:nvSpPr>
        <p:spPr>
          <a:xfrm>
            <a:off x="7648956" y="490118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0" name="box_566"/>
          <p:cNvSpPr/>
          <p:nvPr/>
        </p:nvSpPr>
        <p:spPr>
          <a:xfrm>
            <a:off x="7799832" y="490118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1" name="box_567"/>
          <p:cNvSpPr/>
          <p:nvPr/>
        </p:nvSpPr>
        <p:spPr>
          <a:xfrm>
            <a:off x="7950708" y="490118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2" name="box_568"/>
          <p:cNvSpPr/>
          <p:nvPr/>
        </p:nvSpPr>
        <p:spPr>
          <a:xfrm>
            <a:off x="8101584" y="490118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3" name="text_569"/>
          <p:cNvSpPr txBox="1"/>
          <p:nvPr/>
        </p:nvSpPr>
        <p:spPr>
          <a:xfrm>
            <a:off x="6903720" y="5052060"/>
            <a:ext cx="2377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850" dirty="0"/>
          </a:p>
        </p:txBody>
      </p:sp>
      <p:sp>
        <p:nvSpPr>
          <p:cNvPr id="154" name="box_570"/>
          <p:cNvSpPr/>
          <p:nvPr/>
        </p:nvSpPr>
        <p:spPr>
          <a:xfrm>
            <a:off x="7196328" y="5052060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55" name="box_571"/>
          <p:cNvSpPr/>
          <p:nvPr/>
        </p:nvSpPr>
        <p:spPr>
          <a:xfrm>
            <a:off x="7347204" y="5052060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56" name="box_572"/>
          <p:cNvSpPr/>
          <p:nvPr/>
        </p:nvSpPr>
        <p:spPr>
          <a:xfrm>
            <a:off x="7498080" y="505206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7" name="box_573"/>
          <p:cNvSpPr/>
          <p:nvPr/>
        </p:nvSpPr>
        <p:spPr>
          <a:xfrm>
            <a:off x="7648956" y="505206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8" name="box_574"/>
          <p:cNvSpPr/>
          <p:nvPr/>
        </p:nvSpPr>
        <p:spPr>
          <a:xfrm>
            <a:off x="7799832" y="505206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9" name="box_575"/>
          <p:cNvSpPr/>
          <p:nvPr/>
        </p:nvSpPr>
        <p:spPr>
          <a:xfrm>
            <a:off x="7950708" y="505206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60" name="box_576"/>
          <p:cNvSpPr/>
          <p:nvPr/>
        </p:nvSpPr>
        <p:spPr>
          <a:xfrm>
            <a:off x="8101584" y="505206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61" name="text_577"/>
          <p:cNvSpPr txBox="1"/>
          <p:nvPr/>
        </p:nvSpPr>
        <p:spPr>
          <a:xfrm>
            <a:off x="6903720" y="5202936"/>
            <a:ext cx="2377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850" dirty="0"/>
          </a:p>
        </p:txBody>
      </p:sp>
      <p:sp>
        <p:nvSpPr>
          <p:cNvPr id="162" name="box_578"/>
          <p:cNvSpPr/>
          <p:nvPr/>
        </p:nvSpPr>
        <p:spPr>
          <a:xfrm>
            <a:off x="7196328" y="5202936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63" name="box_579"/>
          <p:cNvSpPr/>
          <p:nvPr/>
        </p:nvSpPr>
        <p:spPr>
          <a:xfrm>
            <a:off x="7347204" y="5202936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64" name="box_580"/>
          <p:cNvSpPr/>
          <p:nvPr/>
        </p:nvSpPr>
        <p:spPr>
          <a:xfrm>
            <a:off x="7498080" y="5202936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65" name="box_581"/>
          <p:cNvSpPr/>
          <p:nvPr/>
        </p:nvSpPr>
        <p:spPr>
          <a:xfrm>
            <a:off x="7648956" y="520293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66" name="box_582"/>
          <p:cNvSpPr/>
          <p:nvPr/>
        </p:nvSpPr>
        <p:spPr>
          <a:xfrm>
            <a:off x="7799832" y="520293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67" name="box_583"/>
          <p:cNvSpPr/>
          <p:nvPr/>
        </p:nvSpPr>
        <p:spPr>
          <a:xfrm>
            <a:off x="7950708" y="520293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68" name="box_584"/>
          <p:cNvSpPr/>
          <p:nvPr/>
        </p:nvSpPr>
        <p:spPr>
          <a:xfrm>
            <a:off x="8101584" y="520293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69" name="text_585"/>
          <p:cNvSpPr txBox="1"/>
          <p:nvPr/>
        </p:nvSpPr>
        <p:spPr>
          <a:xfrm>
            <a:off x="6903720" y="5353812"/>
            <a:ext cx="2377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</a:t>
            </a:r>
            <a:endParaRPr lang="en-US" sz="850" dirty="0"/>
          </a:p>
        </p:txBody>
      </p:sp>
      <p:sp>
        <p:nvSpPr>
          <p:cNvPr id="170" name="box_586"/>
          <p:cNvSpPr/>
          <p:nvPr/>
        </p:nvSpPr>
        <p:spPr>
          <a:xfrm>
            <a:off x="7196328" y="5353812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1" name="box_587"/>
          <p:cNvSpPr/>
          <p:nvPr/>
        </p:nvSpPr>
        <p:spPr>
          <a:xfrm>
            <a:off x="7347204" y="5353812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2" name="box_588"/>
          <p:cNvSpPr/>
          <p:nvPr/>
        </p:nvSpPr>
        <p:spPr>
          <a:xfrm>
            <a:off x="7498080" y="5353812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3" name="box_589"/>
          <p:cNvSpPr/>
          <p:nvPr/>
        </p:nvSpPr>
        <p:spPr>
          <a:xfrm>
            <a:off x="7648956" y="5353812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74" name="box_590"/>
          <p:cNvSpPr/>
          <p:nvPr/>
        </p:nvSpPr>
        <p:spPr>
          <a:xfrm>
            <a:off x="7799832" y="5353812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5" name="box_591"/>
          <p:cNvSpPr/>
          <p:nvPr/>
        </p:nvSpPr>
        <p:spPr>
          <a:xfrm>
            <a:off x="7950708" y="5353812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6" name="box_592"/>
          <p:cNvSpPr/>
          <p:nvPr/>
        </p:nvSpPr>
        <p:spPr>
          <a:xfrm>
            <a:off x="8101584" y="5353812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7" name="text_593"/>
          <p:cNvSpPr txBox="1"/>
          <p:nvPr/>
        </p:nvSpPr>
        <p:spPr>
          <a:xfrm>
            <a:off x="6903720" y="5504688"/>
            <a:ext cx="2377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850" dirty="0"/>
          </a:p>
        </p:txBody>
      </p:sp>
      <p:sp>
        <p:nvSpPr>
          <p:cNvPr id="178" name="box_594"/>
          <p:cNvSpPr/>
          <p:nvPr/>
        </p:nvSpPr>
        <p:spPr>
          <a:xfrm>
            <a:off x="7196328" y="5504688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79" name="box_595"/>
          <p:cNvSpPr/>
          <p:nvPr/>
        </p:nvSpPr>
        <p:spPr>
          <a:xfrm>
            <a:off x="7347204" y="550468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0" name="box_596"/>
          <p:cNvSpPr/>
          <p:nvPr/>
        </p:nvSpPr>
        <p:spPr>
          <a:xfrm>
            <a:off x="7498080" y="550468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1" name="box_597"/>
          <p:cNvSpPr/>
          <p:nvPr/>
        </p:nvSpPr>
        <p:spPr>
          <a:xfrm>
            <a:off x="7648956" y="550468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2" name="box_598"/>
          <p:cNvSpPr/>
          <p:nvPr/>
        </p:nvSpPr>
        <p:spPr>
          <a:xfrm>
            <a:off x="7799832" y="5504688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83" name="box_599"/>
          <p:cNvSpPr/>
          <p:nvPr/>
        </p:nvSpPr>
        <p:spPr>
          <a:xfrm>
            <a:off x="7950708" y="550468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4" name="box_600"/>
          <p:cNvSpPr/>
          <p:nvPr/>
        </p:nvSpPr>
        <p:spPr>
          <a:xfrm>
            <a:off x="8101584" y="550468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5" name="text_601"/>
          <p:cNvSpPr txBox="1"/>
          <p:nvPr/>
        </p:nvSpPr>
        <p:spPr>
          <a:xfrm>
            <a:off x="6903720" y="5655564"/>
            <a:ext cx="2377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850" dirty="0"/>
          </a:p>
        </p:txBody>
      </p:sp>
      <p:sp>
        <p:nvSpPr>
          <p:cNvPr id="186" name="box_602"/>
          <p:cNvSpPr/>
          <p:nvPr/>
        </p:nvSpPr>
        <p:spPr>
          <a:xfrm>
            <a:off x="7196328" y="5655564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87" name="box_603"/>
          <p:cNvSpPr/>
          <p:nvPr/>
        </p:nvSpPr>
        <p:spPr>
          <a:xfrm>
            <a:off x="7347204" y="5655564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88" name="box_604"/>
          <p:cNvSpPr/>
          <p:nvPr/>
        </p:nvSpPr>
        <p:spPr>
          <a:xfrm>
            <a:off x="7498080" y="565556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9" name="box_605"/>
          <p:cNvSpPr/>
          <p:nvPr/>
        </p:nvSpPr>
        <p:spPr>
          <a:xfrm>
            <a:off x="7648956" y="565556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0" name="box_606"/>
          <p:cNvSpPr/>
          <p:nvPr/>
        </p:nvSpPr>
        <p:spPr>
          <a:xfrm>
            <a:off x="7799832" y="565556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1" name="box_607"/>
          <p:cNvSpPr/>
          <p:nvPr/>
        </p:nvSpPr>
        <p:spPr>
          <a:xfrm>
            <a:off x="7950708" y="5655564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92" name="box_608"/>
          <p:cNvSpPr/>
          <p:nvPr/>
        </p:nvSpPr>
        <p:spPr>
          <a:xfrm>
            <a:off x="8101584" y="565556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3" name="text_609"/>
          <p:cNvSpPr txBox="1"/>
          <p:nvPr/>
        </p:nvSpPr>
        <p:spPr>
          <a:xfrm>
            <a:off x="6903720" y="5806440"/>
            <a:ext cx="23774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850" dirty="0"/>
          </a:p>
        </p:txBody>
      </p:sp>
      <p:sp>
        <p:nvSpPr>
          <p:cNvPr id="194" name="box_610"/>
          <p:cNvSpPr/>
          <p:nvPr/>
        </p:nvSpPr>
        <p:spPr>
          <a:xfrm>
            <a:off x="7196328" y="5806440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95" name="box_611"/>
          <p:cNvSpPr/>
          <p:nvPr/>
        </p:nvSpPr>
        <p:spPr>
          <a:xfrm>
            <a:off x="7347204" y="5806440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96" name="box_612"/>
          <p:cNvSpPr/>
          <p:nvPr/>
        </p:nvSpPr>
        <p:spPr>
          <a:xfrm>
            <a:off x="7498080" y="5806440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97" name="box_613"/>
          <p:cNvSpPr/>
          <p:nvPr/>
        </p:nvSpPr>
        <p:spPr>
          <a:xfrm>
            <a:off x="7648956" y="580644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8" name="box_614"/>
          <p:cNvSpPr/>
          <p:nvPr/>
        </p:nvSpPr>
        <p:spPr>
          <a:xfrm>
            <a:off x="7799832" y="580644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9" name="box_615"/>
          <p:cNvSpPr/>
          <p:nvPr/>
        </p:nvSpPr>
        <p:spPr>
          <a:xfrm>
            <a:off x="7950708" y="580644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00" name="box_616"/>
          <p:cNvSpPr/>
          <p:nvPr/>
        </p:nvSpPr>
        <p:spPr>
          <a:xfrm>
            <a:off x="8101584" y="5806440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01" name="text_617"/>
          <p:cNvSpPr txBox="1"/>
          <p:nvPr/>
        </p:nvSpPr>
        <p:spPr>
          <a:xfrm>
            <a:off x="7013448" y="5975604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</a:t>
            </a:r>
            <a:endParaRPr lang="en-US" sz="850" dirty="0"/>
          </a:p>
        </p:txBody>
      </p:sp>
      <p:sp>
        <p:nvSpPr>
          <p:cNvPr id="202" name="text_618"/>
          <p:cNvSpPr txBox="1"/>
          <p:nvPr/>
        </p:nvSpPr>
        <p:spPr>
          <a:xfrm>
            <a:off x="7164324" y="5975604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850" dirty="0"/>
          </a:p>
        </p:txBody>
      </p:sp>
      <p:sp>
        <p:nvSpPr>
          <p:cNvPr id="203" name="text_619"/>
          <p:cNvSpPr txBox="1"/>
          <p:nvPr/>
        </p:nvSpPr>
        <p:spPr>
          <a:xfrm>
            <a:off x="7315200" y="5975604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850" dirty="0"/>
          </a:p>
        </p:txBody>
      </p:sp>
      <p:sp>
        <p:nvSpPr>
          <p:cNvPr id="204" name="text_620"/>
          <p:cNvSpPr txBox="1"/>
          <p:nvPr/>
        </p:nvSpPr>
        <p:spPr>
          <a:xfrm>
            <a:off x="7466076" y="5975604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</a:t>
            </a:r>
            <a:endParaRPr lang="en-US" sz="850" dirty="0"/>
          </a:p>
        </p:txBody>
      </p:sp>
      <p:sp>
        <p:nvSpPr>
          <p:cNvPr id="205" name="text_621"/>
          <p:cNvSpPr txBox="1"/>
          <p:nvPr/>
        </p:nvSpPr>
        <p:spPr>
          <a:xfrm>
            <a:off x="7616952" y="5975604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850" dirty="0"/>
          </a:p>
        </p:txBody>
      </p:sp>
      <p:sp>
        <p:nvSpPr>
          <p:cNvPr id="206" name="text_622"/>
          <p:cNvSpPr txBox="1"/>
          <p:nvPr/>
        </p:nvSpPr>
        <p:spPr>
          <a:xfrm>
            <a:off x="7767828" y="5975604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850" dirty="0"/>
          </a:p>
        </p:txBody>
      </p:sp>
      <p:sp>
        <p:nvSpPr>
          <p:cNvPr id="207" name="text_623"/>
          <p:cNvSpPr txBox="1"/>
          <p:nvPr/>
        </p:nvSpPr>
        <p:spPr>
          <a:xfrm>
            <a:off x="7918704" y="5975604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850" dirty="0"/>
          </a:p>
        </p:txBody>
      </p:sp>
      <p:sp>
        <p:nvSpPr>
          <p:cNvPr id="208" name="line_624"/>
          <p:cNvSpPr/>
          <p:nvPr/>
        </p:nvSpPr>
        <p:spPr>
          <a:xfrm>
            <a:off x="8823960" y="1783080"/>
            <a:ext cx="91" cy="2971800"/>
          </a:xfrm>
          <a:prstGeom prst="line">
            <a:avLst/>
          </a:prstGeom>
          <a:noFill/>
          <a:ln w="25400">
            <a:solidFill>
              <a:srgbClr val="34C3D6"/>
            </a:solidFill>
            <a:prstDash val="solid"/>
            <a:headEnd type="none"/>
            <a:tailEnd type="triangle"/>
          </a:ln>
        </p:spPr>
      </p:sp>
      <p:sp>
        <p:nvSpPr>
          <p:cNvPr id="209" name="text_625"/>
          <p:cNvSpPr txBox="1"/>
          <p:nvPr/>
        </p:nvSpPr>
        <p:spPr>
          <a:xfrm rot="16200000">
            <a:off x="7150608" y="31272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AR LOOP  k = 0 … 3</a:t>
            </a:r>
            <a:endParaRPr lang="en-US" sz="950" dirty="0"/>
          </a:p>
        </p:txBody>
      </p:sp>
      <p:sp>
        <p:nvSpPr>
          <p:cNvPr id="210" name="box_626"/>
          <p:cNvSpPr/>
          <p:nvPr/>
        </p:nvSpPr>
        <p:spPr>
          <a:xfrm>
            <a:off x="9006840" y="1691640"/>
            <a:ext cx="2651760" cy="603504"/>
          </a:xfrm>
          <a:prstGeom prst="roundRect">
            <a:avLst>
              <a:gd name="adj" fmla="val 12121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1" name="box_627"/>
          <p:cNvSpPr/>
          <p:nvPr/>
        </p:nvSpPr>
        <p:spPr>
          <a:xfrm>
            <a:off x="9098280" y="1810512"/>
            <a:ext cx="365760" cy="365760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212" name="text_628"/>
          <p:cNvSpPr txBox="1"/>
          <p:nvPr/>
        </p:nvSpPr>
        <p:spPr>
          <a:xfrm>
            <a:off x="909828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1100" dirty="0"/>
          </a:p>
        </p:txBody>
      </p:sp>
      <p:sp>
        <p:nvSpPr>
          <p:cNvPr id="213" name="text_629"/>
          <p:cNvSpPr txBox="1"/>
          <p:nvPr/>
        </p:nvSpPr>
        <p:spPr>
          <a:xfrm>
            <a:off x="9555480" y="17373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~ p(G0)</a:t>
            </a:r>
            <a:endParaRPr lang="en-US" sz="1150" dirty="0"/>
          </a:p>
        </p:txBody>
      </p:sp>
      <p:sp>
        <p:nvSpPr>
          <p:cNvPr id="214" name="text_630"/>
          <p:cNvSpPr txBox="1"/>
          <p:nvPr/>
        </p:nvSpPr>
        <p:spPr>
          <a:xfrm>
            <a:off x="9555480" y="1993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INNER: UniPC ODE, 20 calls</a:t>
            </a:r>
            <a:endParaRPr lang="en-US" sz="950" dirty="0"/>
          </a:p>
        </p:txBody>
      </p:sp>
      <p:sp>
        <p:nvSpPr>
          <p:cNvPr id="215" name="line_631"/>
          <p:cNvSpPr/>
          <p:nvPr/>
        </p:nvSpPr>
        <p:spPr>
          <a:xfrm>
            <a:off x="9281160" y="2304288"/>
            <a:ext cx="91" cy="146304"/>
          </a:xfrm>
          <a:prstGeom prst="line">
            <a:avLst/>
          </a:prstGeom>
          <a:noFill/>
          <a:ln w="12700">
            <a:solidFill>
              <a:srgbClr val="9AA6B8"/>
            </a:solidFill>
            <a:prstDash val="solid"/>
            <a:headEnd type="none"/>
            <a:tailEnd type="triangle"/>
          </a:ln>
        </p:spPr>
      </p:sp>
      <p:sp>
        <p:nvSpPr>
          <p:cNvPr id="216" name="box_632"/>
          <p:cNvSpPr/>
          <p:nvPr/>
        </p:nvSpPr>
        <p:spPr>
          <a:xfrm>
            <a:off x="9006840" y="2459736"/>
            <a:ext cx="2651760" cy="603504"/>
          </a:xfrm>
          <a:prstGeom prst="roundRect">
            <a:avLst>
              <a:gd name="adj" fmla="val 12121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7" name="box_633"/>
          <p:cNvSpPr/>
          <p:nvPr/>
        </p:nvSpPr>
        <p:spPr>
          <a:xfrm>
            <a:off x="9098280" y="2578608"/>
            <a:ext cx="365760" cy="365760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18" name="text_634"/>
          <p:cNvSpPr txBox="1"/>
          <p:nvPr/>
        </p:nvSpPr>
        <p:spPr>
          <a:xfrm>
            <a:off x="909828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100" dirty="0"/>
          </a:p>
        </p:txBody>
      </p:sp>
      <p:sp>
        <p:nvSpPr>
          <p:cNvPr id="219" name="text_635"/>
          <p:cNvSpPr txBox="1"/>
          <p:nvPr/>
        </p:nvSpPr>
        <p:spPr>
          <a:xfrm>
            <a:off x="9555480" y="25054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~ p(G1 | G&lt;1)</a:t>
            </a:r>
            <a:endParaRPr lang="en-US" sz="1150" dirty="0"/>
          </a:p>
        </p:txBody>
      </p:sp>
      <p:sp>
        <p:nvSpPr>
          <p:cNvPr id="220" name="text_636"/>
          <p:cNvSpPr txBox="1"/>
          <p:nvPr/>
        </p:nvSpPr>
        <p:spPr>
          <a:xfrm>
            <a:off x="9555480" y="27614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INNER: UniPC ODE, 10 calls · prefix K/V cached once</a:t>
            </a:r>
            <a:endParaRPr lang="en-US" sz="950" dirty="0"/>
          </a:p>
        </p:txBody>
      </p:sp>
      <p:sp>
        <p:nvSpPr>
          <p:cNvPr id="221" name="line_637"/>
          <p:cNvSpPr/>
          <p:nvPr/>
        </p:nvSpPr>
        <p:spPr>
          <a:xfrm>
            <a:off x="9281160" y="3072384"/>
            <a:ext cx="91" cy="146304"/>
          </a:xfrm>
          <a:prstGeom prst="line">
            <a:avLst/>
          </a:prstGeom>
          <a:noFill/>
          <a:ln w="12700">
            <a:solidFill>
              <a:srgbClr val="9AA6B8"/>
            </a:solidFill>
            <a:prstDash val="solid"/>
            <a:headEnd type="none"/>
            <a:tailEnd type="triangle"/>
          </a:ln>
        </p:spPr>
      </p:sp>
      <p:sp>
        <p:nvSpPr>
          <p:cNvPr id="222" name="box_638"/>
          <p:cNvSpPr/>
          <p:nvPr/>
        </p:nvSpPr>
        <p:spPr>
          <a:xfrm>
            <a:off x="9006840" y="3227832"/>
            <a:ext cx="2651760" cy="603504"/>
          </a:xfrm>
          <a:prstGeom prst="roundRect">
            <a:avLst>
              <a:gd name="adj" fmla="val 12121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23" name="box_639"/>
          <p:cNvSpPr/>
          <p:nvPr/>
        </p:nvSpPr>
        <p:spPr>
          <a:xfrm>
            <a:off x="9098280" y="3346704"/>
            <a:ext cx="365760" cy="365760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224" name="text_640"/>
          <p:cNvSpPr txBox="1"/>
          <p:nvPr/>
        </p:nvSpPr>
        <p:spPr>
          <a:xfrm>
            <a:off x="909828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100" dirty="0"/>
          </a:p>
        </p:txBody>
      </p:sp>
      <p:sp>
        <p:nvSpPr>
          <p:cNvPr id="225" name="text_641"/>
          <p:cNvSpPr txBox="1"/>
          <p:nvPr/>
        </p:nvSpPr>
        <p:spPr>
          <a:xfrm>
            <a:off x="9555480" y="32735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~ p(G2 | G&lt;2)</a:t>
            </a:r>
            <a:endParaRPr lang="en-US" sz="1150" dirty="0"/>
          </a:p>
        </p:txBody>
      </p:sp>
      <p:sp>
        <p:nvSpPr>
          <p:cNvPr id="226" name="text_642"/>
          <p:cNvSpPr txBox="1"/>
          <p:nvPr/>
        </p:nvSpPr>
        <p:spPr>
          <a:xfrm>
            <a:off x="9555480" y="3529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INNER: UniPC ODE, 8 calls · prefix K/V cached once</a:t>
            </a:r>
            <a:endParaRPr lang="en-US" sz="950" dirty="0"/>
          </a:p>
        </p:txBody>
      </p:sp>
      <p:sp>
        <p:nvSpPr>
          <p:cNvPr id="227" name="line_643"/>
          <p:cNvSpPr/>
          <p:nvPr/>
        </p:nvSpPr>
        <p:spPr>
          <a:xfrm>
            <a:off x="9281160" y="3840480"/>
            <a:ext cx="91" cy="146304"/>
          </a:xfrm>
          <a:prstGeom prst="line">
            <a:avLst/>
          </a:prstGeom>
          <a:noFill/>
          <a:ln w="12700">
            <a:solidFill>
              <a:srgbClr val="9AA6B8"/>
            </a:solidFill>
            <a:prstDash val="solid"/>
            <a:headEnd type="none"/>
            <a:tailEnd type="triangle"/>
          </a:ln>
        </p:spPr>
      </p:sp>
      <p:sp>
        <p:nvSpPr>
          <p:cNvPr id="228" name="box_644"/>
          <p:cNvSpPr/>
          <p:nvPr/>
        </p:nvSpPr>
        <p:spPr>
          <a:xfrm>
            <a:off x="9006840" y="3995928"/>
            <a:ext cx="2651760" cy="603504"/>
          </a:xfrm>
          <a:prstGeom prst="roundRect">
            <a:avLst>
              <a:gd name="adj" fmla="val 12121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29" name="box_645"/>
          <p:cNvSpPr/>
          <p:nvPr/>
        </p:nvSpPr>
        <p:spPr>
          <a:xfrm>
            <a:off x="9098280" y="4114800"/>
            <a:ext cx="365760" cy="365760"/>
          </a:xfrm>
          <a:prstGeom prst="rect">
            <a:avLst/>
          </a:prstGeom>
          <a:solidFill>
            <a:srgbClr val="E8D44D"/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230" name="text_646"/>
          <p:cNvSpPr txBox="1"/>
          <p:nvPr/>
        </p:nvSpPr>
        <p:spPr>
          <a:xfrm>
            <a:off x="90982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100" dirty="0"/>
          </a:p>
        </p:txBody>
      </p:sp>
      <p:sp>
        <p:nvSpPr>
          <p:cNvPr id="231" name="text_647"/>
          <p:cNvSpPr txBox="1"/>
          <p:nvPr/>
        </p:nvSpPr>
        <p:spPr>
          <a:xfrm>
            <a:off x="9555480" y="40416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~ p(G3 | G&lt;3)</a:t>
            </a:r>
            <a:endParaRPr lang="en-US" sz="1150" dirty="0"/>
          </a:p>
        </p:txBody>
      </p:sp>
      <p:sp>
        <p:nvSpPr>
          <p:cNvPr id="232" name="text_648"/>
          <p:cNvSpPr txBox="1"/>
          <p:nvPr/>
        </p:nvSpPr>
        <p:spPr>
          <a:xfrm>
            <a:off x="9555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INNER: UniPC ODE, 8 calls · prefix K/V cached once</a:t>
            </a:r>
            <a:endParaRPr lang="en-US" sz="950" dirty="0"/>
          </a:p>
        </p:txBody>
      </p:sp>
      <p:sp>
        <p:nvSpPr>
          <p:cNvPr id="233" name="box_649"/>
          <p:cNvSpPr/>
          <p:nvPr/>
        </p:nvSpPr>
        <p:spPr>
          <a:xfrm>
            <a:off x="9006840" y="480060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D2739"/>
          </a:solidFill>
          <a:ln w="12700">
            <a:solidFill>
              <a:srgbClr val="34C3D6"/>
            </a:solidFill>
            <a:prstDash val="solid"/>
          </a:ln>
        </p:spPr>
      </p:sp>
      <p:sp>
        <p:nvSpPr>
          <p:cNvPr id="234" name="text_650"/>
          <p:cNvSpPr txBox="1"/>
          <p:nvPr/>
        </p:nvSpPr>
        <p:spPr>
          <a:xfrm>
            <a:off x="9116568" y="48188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reassemble 54 ch → inverse 4×4 DCT → RGB</a:t>
            </a:r>
            <a:endParaRPr lang="en-US" sz="1100" dirty="0"/>
          </a:p>
        </p:txBody>
      </p:sp>
      <p:sp>
        <p:nvSpPr>
          <p:cNvPr id="235" name="text_651"/>
          <p:cNvSpPr txBox="1"/>
          <p:nvPr/>
        </p:nvSpPr>
        <p:spPr>
          <a:xfrm>
            <a:off x="9006840" y="54681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diffusion acts only on the current field (64 × Cₖ); the outer chain never revisits earlier groups.</a:t>
            </a:r>
            <a:endParaRPr lang="en-US" sz="1000" dirty="0"/>
          </a:p>
        </p:txBody>
      </p:sp>
      <p:sp>
        <p:nvSpPr>
          <p:cNvPr id="236" name="text_652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Masks/shapes verified: verify_axial*.json (clean Gₖ → ε̂(Gₖ) Jacobian exactly 0; cached vs training ε̂ ≤ 1e-6). Training: 3 clean + 4 noisy slots, one t per stage. Sampler: efficiency/phase2_verdict.json.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GENERATION LOOKS LIKE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Next-frequency generation, stage by stage (real samples)</a:t>
            </a:r>
            <a:endParaRPr lang="en-US" sz="2800" dirty="0"/>
          </a:p>
        </p:txBody>
      </p:sp>
      <p:sp>
        <p:nvSpPr>
          <p:cNvPr id="4" name="box_653"/>
          <p:cNvSpPr/>
          <p:nvPr/>
        </p:nvSpPr>
        <p:spPr>
          <a:xfrm>
            <a:off x="548640" y="1472184"/>
            <a:ext cx="109728" cy="694944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5" name="text_654"/>
          <p:cNvSpPr txBox="1"/>
          <p:nvPr/>
        </p:nvSpPr>
        <p:spPr>
          <a:xfrm>
            <a:off x="749808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1400" dirty="0"/>
          </a:p>
        </p:txBody>
      </p:sp>
      <p:sp>
        <p:nvSpPr>
          <p:cNvPr id="6" name="text_655"/>
          <p:cNvSpPr txBox="1"/>
          <p:nvPr/>
        </p:nvSpPr>
        <p:spPr>
          <a:xfrm>
            <a:off x="749808" y="174650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 DC</a:t>
            </a:r>
            <a:endParaRPr lang="en-US" sz="1050" dirty="0"/>
          </a:p>
        </p:txBody>
      </p:sp>
      <p:sp>
        <p:nvSpPr>
          <p:cNvPr id="7" name="text_656"/>
          <p:cNvSpPr txBox="1"/>
          <p:nvPr/>
        </p:nvSpPr>
        <p:spPr>
          <a:xfrm>
            <a:off x="749808" y="19659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ch · 384 values</a:t>
            </a:r>
            <a:endParaRPr lang="en-US" sz="1050" dirty="0"/>
          </a:p>
        </p:txBody>
      </p:sp>
      <p:pic>
        <p:nvPicPr>
          <p:cNvPr id="8" name="img_657" descr="/home/nada/PycharmProjects/learned-spectral-basis/.claude/worktrees/shai-deck/reports/shai_deck/figures/samples/cum_j20_10_8_8_g0_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1417320"/>
            <a:ext cx="804672" cy="804672"/>
          </a:xfrm>
          <a:prstGeom prst="rect">
            <a:avLst/>
          </a:prstGeom>
        </p:spPr>
      </p:pic>
      <p:pic>
        <p:nvPicPr>
          <p:cNvPr id="9" name="img_658" descr="/home/nada/PycharmProjects/learned-spectral-basis/.claude/worktrees/shai-deck/reports/shai_deck/figures/samples/cum_j20_10_8_8_g0_s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417320"/>
            <a:ext cx="804672" cy="804672"/>
          </a:xfrm>
          <a:prstGeom prst="rect">
            <a:avLst/>
          </a:prstGeom>
        </p:spPr>
      </p:pic>
      <p:pic>
        <p:nvPicPr>
          <p:cNvPr id="10" name="img_659" descr="/home/nada/PycharmProjects/learned-spectral-basis/.claude/worktrees/shai-deck/reports/shai_deck/figures/samples/cum_j20_10_8_8_g0_s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17320"/>
            <a:ext cx="804672" cy="804672"/>
          </a:xfrm>
          <a:prstGeom prst="rect">
            <a:avLst/>
          </a:prstGeom>
        </p:spPr>
      </p:pic>
      <p:pic>
        <p:nvPicPr>
          <p:cNvPr id="11" name="img_660" descr="/home/nada/PycharmProjects/learned-spectral-basis/.claude/worktrees/shai-deck/reports/shai_deck/figures/samples/cum_j20_10_8_8_g0_s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417320"/>
            <a:ext cx="804672" cy="804672"/>
          </a:xfrm>
          <a:prstGeom prst="rect">
            <a:avLst/>
          </a:prstGeom>
        </p:spPr>
      </p:pic>
      <p:pic>
        <p:nvPicPr>
          <p:cNvPr id="12" name="img_661" descr="/home/nada/PycharmProjects/learned-spectral-basis/.claude/worktrees/shai-deck/reports/shai_deck/figures/samples/cum_j20_10_8_8_g0_s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1417320"/>
            <a:ext cx="804672" cy="804672"/>
          </a:xfrm>
          <a:prstGeom prst="rect">
            <a:avLst/>
          </a:prstGeom>
        </p:spPr>
      </p:pic>
      <p:pic>
        <p:nvPicPr>
          <p:cNvPr id="13" name="img_662" descr="/home/nada/PycharmProjects/learned-spectral-basis/.claude/worktrees/shai-deck/reports/shai_deck/figures/samples/cum_j20_10_8_8_g0_s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1417320"/>
            <a:ext cx="804672" cy="804672"/>
          </a:xfrm>
          <a:prstGeom prst="rect">
            <a:avLst/>
          </a:prstGeom>
        </p:spPr>
      </p:pic>
      <p:sp>
        <p:nvSpPr>
          <p:cNvPr id="14" name="box_663"/>
          <p:cNvSpPr/>
          <p:nvPr/>
        </p:nvSpPr>
        <p:spPr>
          <a:xfrm>
            <a:off x="548640" y="2331720"/>
            <a:ext cx="109728" cy="694944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5" name="text_664"/>
          <p:cNvSpPr txBox="1"/>
          <p:nvPr/>
        </p:nvSpPr>
        <p:spPr>
          <a:xfrm>
            <a:off x="749808" y="2322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G1</a:t>
            </a:r>
            <a:endParaRPr lang="en-US" sz="1400" dirty="0"/>
          </a:p>
        </p:txBody>
      </p:sp>
      <p:sp>
        <p:nvSpPr>
          <p:cNvPr id="16" name="text_665"/>
          <p:cNvSpPr txBox="1"/>
          <p:nvPr/>
        </p:nvSpPr>
        <p:spPr>
          <a:xfrm>
            <a:off x="749808" y="26060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(0,1) (1,0)</a:t>
            </a:r>
            <a:endParaRPr lang="en-US" sz="1050" dirty="0"/>
          </a:p>
        </p:txBody>
      </p:sp>
      <p:sp>
        <p:nvSpPr>
          <p:cNvPr id="17" name="text_666"/>
          <p:cNvSpPr txBox="1"/>
          <p:nvPr/>
        </p:nvSpPr>
        <p:spPr>
          <a:xfrm>
            <a:off x="749808" y="28254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 ch · 768</a:t>
            </a:r>
            <a:endParaRPr lang="en-US" sz="1050" dirty="0"/>
          </a:p>
        </p:txBody>
      </p:sp>
      <p:pic>
        <p:nvPicPr>
          <p:cNvPr id="18" name="img_667" descr="/home/nada/PycharmProjects/learned-spectral-basis/.claude/worktrees/shai-deck/reports/shai_deck/figures/samples/cum_j20_10_8_8_g1_s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5728" y="2276856"/>
            <a:ext cx="804672" cy="804672"/>
          </a:xfrm>
          <a:prstGeom prst="rect">
            <a:avLst/>
          </a:prstGeom>
        </p:spPr>
      </p:pic>
      <p:pic>
        <p:nvPicPr>
          <p:cNvPr id="19" name="img_668" descr="/home/nada/PycharmProjects/learned-spectral-basis/.claude/worktrees/shai-deck/reports/shai_deck/figures/samples/cum_j20_10_8_8_g1_s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5264" y="2276856"/>
            <a:ext cx="804672" cy="804672"/>
          </a:xfrm>
          <a:prstGeom prst="rect">
            <a:avLst/>
          </a:prstGeom>
        </p:spPr>
      </p:pic>
      <p:pic>
        <p:nvPicPr>
          <p:cNvPr id="20" name="img_669" descr="/home/nada/PycharmProjects/learned-spectral-basis/.claude/worktrees/shai-deck/reports/shai_deck/figures/samples/cum_j20_10_8_8_g1_s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2276856"/>
            <a:ext cx="804672" cy="804672"/>
          </a:xfrm>
          <a:prstGeom prst="rect">
            <a:avLst/>
          </a:prstGeom>
        </p:spPr>
      </p:pic>
      <p:pic>
        <p:nvPicPr>
          <p:cNvPr id="21" name="img_670" descr="/home/nada/PycharmProjects/learned-spectral-basis/.claude/worktrees/shai-deck/reports/shai_deck/figures/samples/cum_j20_10_8_8_g1_s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4336" y="2276856"/>
            <a:ext cx="804672" cy="804672"/>
          </a:xfrm>
          <a:prstGeom prst="rect">
            <a:avLst/>
          </a:prstGeom>
        </p:spPr>
      </p:pic>
      <p:pic>
        <p:nvPicPr>
          <p:cNvPr id="22" name="img_671" descr="/home/nada/PycharmProjects/learned-spectral-basis/.claude/worktrees/shai-deck/reports/shai_deck/figures/samples/cum_j20_10_8_8_g1_s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3872" y="2276856"/>
            <a:ext cx="804672" cy="804672"/>
          </a:xfrm>
          <a:prstGeom prst="rect">
            <a:avLst/>
          </a:prstGeom>
        </p:spPr>
      </p:pic>
      <p:pic>
        <p:nvPicPr>
          <p:cNvPr id="23" name="img_672" descr="/home/nada/PycharmProjects/learned-spectral-basis/.claude/worktrees/shai-deck/reports/shai_deck/figures/samples/cum_j20_10_8_8_g1_s5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3408" y="2276856"/>
            <a:ext cx="804672" cy="804672"/>
          </a:xfrm>
          <a:prstGeom prst="rect">
            <a:avLst/>
          </a:prstGeom>
        </p:spPr>
      </p:pic>
      <p:sp>
        <p:nvSpPr>
          <p:cNvPr id="24" name="box_673"/>
          <p:cNvSpPr/>
          <p:nvPr/>
        </p:nvSpPr>
        <p:spPr>
          <a:xfrm>
            <a:off x="548640" y="3191256"/>
            <a:ext cx="109728" cy="694944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25" name="text_674"/>
          <p:cNvSpPr txBox="1"/>
          <p:nvPr/>
        </p:nvSpPr>
        <p:spPr>
          <a:xfrm>
            <a:off x="749808" y="3182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G2</a:t>
            </a:r>
            <a:endParaRPr lang="en-US" sz="1400" dirty="0"/>
          </a:p>
        </p:txBody>
      </p:sp>
      <p:sp>
        <p:nvSpPr>
          <p:cNvPr id="26" name="text_675"/>
          <p:cNvSpPr txBox="1"/>
          <p:nvPr/>
        </p:nvSpPr>
        <p:spPr>
          <a:xfrm>
            <a:off x="749808" y="346557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(2,0) (1,1) (0,2)</a:t>
            </a:r>
            <a:endParaRPr lang="en-US" sz="1050" dirty="0"/>
          </a:p>
        </p:txBody>
      </p:sp>
      <p:sp>
        <p:nvSpPr>
          <p:cNvPr id="27" name="text_676"/>
          <p:cNvSpPr txBox="1"/>
          <p:nvPr/>
        </p:nvSpPr>
        <p:spPr>
          <a:xfrm>
            <a:off x="749808" y="36850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 ch · 1152</a:t>
            </a:r>
            <a:endParaRPr lang="en-US" sz="1050" dirty="0"/>
          </a:p>
        </p:txBody>
      </p:sp>
      <p:pic>
        <p:nvPicPr>
          <p:cNvPr id="28" name="img_677" descr="/home/nada/PycharmProjects/learned-spectral-basis/.claude/worktrees/shai-deck/reports/shai_deck/figures/samples/cum_j20_10_8_8_g2_s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728" y="3136392"/>
            <a:ext cx="804672" cy="804672"/>
          </a:xfrm>
          <a:prstGeom prst="rect">
            <a:avLst/>
          </a:prstGeom>
        </p:spPr>
      </p:pic>
      <p:pic>
        <p:nvPicPr>
          <p:cNvPr id="29" name="img_678" descr="/home/nada/PycharmProjects/learned-spectral-basis/.claude/worktrees/shai-deck/reports/shai_deck/figures/samples/cum_j20_10_8_8_g2_s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55264" y="3136392"/>
            <a:ext cx="804672" cy="804672"/>
          </a:xfrm>
          <a:prstGeom prst="rect">
            <a:avLst/>
          </a:prstGeom>
        </p:spPr>
      </p:pic>
      <p:pic>
        <p:nvPicPr>
          <p:cNvPr id="30" name="img_679" descr="/home/nada/PycharmProjects/learned-spectral-basis/.claude/worktrees/shai-deck/reports/shai_deck/figures/samples/cum_j20_10_8_8_g2_s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14800" y="3136392"/>
            <a:ext cx="804672" cy="804672"/>
          </a:xfrm>
          <a:prstGeom prst="rect">
            <a:avLst/>
          </a:prstGeom>
        </p:spPr>
      </p:pic>
      <p:pic>
        <p:nvPicPr>
          <p:cNvPr id="31" name="img_680" descr="/home/nada/PycharmProjects/learned-spectral-basis/.claude/worktrees/shai-deck/reports/shai_deck/figures/samples/cum_j20_10_8_8_g2_s3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74336" y="3136392"/>
            <a:ext cx="804672" cy="804672"/>
          </a:xfrm>
          <a:prstGeom prst="rect">
            <a:avLst/>
          </a:prstGeom>
        </p:spPr>
      </p:pic>
      <p:pic>
        <p:nvPicPr>
          <p:cNvPr id="32" name="img_681" descr="/home/nada/PycharmProjects/learned-spectral-basis/.claude/worktrees/shai-deck/reports/shai_deck/figures/samples/cum_j20_10_8_8_g2_s4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33872" y="3136392"/>
            <a:ext cx="804672" cy="804672"/>
          </a:xfrm>
          <a:prstGeom prst="rect">
            <a:avLst/>
          </a:prstGeom>
        </p:spPr>
      </p:pic>
      <p:pic>
        <p:nvPicPr>
          <p:cNvPr id="33" name="img_682" descr="/home/nada/PycharmProjects/learned-spectral-basis/.claude/worktrees/shai-deck/reports/shai_deck/figures/samples/cum_j20_10_8_8_g2_s5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93408" y="3136392"/>
            <a:ext cx="804672" cy="804672"/>
          </a:xfrm>
          <a:prstGeom prst="rect">
            <a:avLst/>
          </a:prstGeom>
        </p:spPr>
      </p:pic>
      <p:sp>
        <p:nvSpPr>
          <p:cNvPr id="34" name="box_683"/>
          <p:cNvSpPr/>
          <p:nvPr/>
        </p:nvSpPr>
        <p:spPr>
          <a:xfrm>
            <a:off x="548640" y="4050792"/>
            <a:ext cx="109728" cy="694944"/>
          </a:xfrm>
          <a:prstGeom prst="rect">
            <a:avLst/>
          </a:prstGeom>
          <a:solidFill>
            <a:srgbClr val="E8D44D"/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35" name="text_684"/>
          <p:cNvSpPr txBox="1"/>
          <p:nvPr/>
        </p:nvSpPr>
        <p:spPr>
          <a:xfrm>
            <a:off x="749808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400" dirty="0"/>
          </a:p>
        </p:txBody>
      </p:sp>
      <p:sp>
        <p:nvSpPr>
          <p:cNvPr id="36" name="text_685"/>
          <p:cNvSpPr txBox="1"/>
          <p:nvPr/>
        </p:nvSpPr>
        <p:spPr>
          <a:xfrm>
            <a:off x="749808" y="43251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(0,3) (1,2) (2,1)</a:t>
            </a:r>
            <a:endParaRPr lang="en-US" sz="1050" dirty="0"/>
          </a:p>
        </p:txBody>
      </p:sp>
      <p:sp>
        <p:nvSpPr>
          <p:cNvPr id="37" name="text_686"/>
          <p:cNvSpPr txBox="1"/>
          <p:nvPr/>
        </p:nvSpPr>
        <p:spPr>
          <a:xfrm>
            <a:off x="749808" y="45445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 ch · 1152</a:t>
            </a:r>
            <a:endParaRPr lang="en-US" sz="1050" dirty="0"/>
          </a:p>
        </p:txBody>
      </p:sp>
      <p:pic>
        <p:nvPicPr>
          <p:cNvPr id="38" name="img_687" descr="/home/nada/PycharmProjects/learned-spectral-basis/.claude/worktrees/shai-deck/reports/shai_deck/figures/samples/cum_j20_10_8_8_g3_s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95728" y="3995928"/>
            <a:ext cx="804672" cy="804672"/>
          </a:xfrm>
          <a:prstGeom prst="rect">
            <a:avLst/>
          </a:prstGeom>
        </p:spPr>
      </p:pic>
      <p:pic>
        <p:nvPicPr>
          <p:cNvPr id="39" name="img_688" descr="/home/nada/PycharmProjects/learned-spectral-basis/.claude/worktrees/shai-deck/reports/shai_deck/figures/samples/cum_j20_10_8_8_g3_s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55264" y="3995928"/>
            <a:ext cx="804672" cy="804672"/>
          </a:xfrm>
          <a:prstGeom prst="rect">
            <a:avLst/>
          </a:prstGeom>
        </p:spPr>
      </p:pic>
      <p:pic>
        <p:nvPicPr>
          <p:cNvPr id="40" name="img_689" descr="/home/nada/PycharmProjects/learned-spectral-basis/.claude/worktrees/shai-deck/reports/shai_deck/figures/samples/cum_j20_10_8_8_g3_s2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14800" y="3995928"/>
            <a:ext cx="804672" cy="804672"/>
          </a:xfrm>
          <a:prstGeom prst="rect">
            <a:avLst/>
          </a:prstGeom>
        </p:spPr>
      </p:pic>
      <p:pic>
        <p:nvPicPr>
          <p:cNvPr id="41" name="img_690" descr="/home/nada/PycharmProjects/learned-spectral-basis/.claude/worktrees/shai-deck/reports/shai_deck/figures/samples/cum_j20_10_8_8_g3_s3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74336" y="3995928"/>
            <a:ext cx="804672" cy="804672"/>
          </a:xfrm>
          <a:prstGeom prst="rect">
            <a:avLst/>
          </a:prstGeom>
        </p:spPr>
      </p:pic>
      <p:pic>
        <p:nvPicPr>
          <p:cNvPr id="42" name="img_691" descr="/home/nada/PycharmProjects/learned-spectral-basis/.claude/worktrees/shai-deck/reports/shai_deck/figures/samples/cum_j20_10_8_8_g3_s4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33872" y="3995928"/>
            <a:ext cx="804672" cy="804672"/>
          </a:xfrm>
          <a:prstGeom prst="rect">
            <a:avLst/>
          </a:prstGeom>
        </p:spPr>
      </p:pic>
      <p:pic>
        <p:nvPicPr>
          <p:cNvPr id="43" name="img_692" descr="/home/nada/PycharmProjects/learned-spectral-basis/.claude/worktrees/shai-deck/reports/shai_deck/figures/samples/cum_j20_10_8_8_g3_s5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93408" y="3995928"/>
            <a:ext cx="804672" cy="804672"/>
          </a:xfrm>
          <a:prstGeom prst="rect">
            <a:avLst/>
          </a:prstGeom>
        </p:spPr>
      </p:pic>
      <p:sp>
        <p:nvSpPr>
          <p:cNvPr id="44" name="text_693"/>
          <p:cNvSpPr txBox="1"/>
          <p:nvPr/>
        </p:nvSpPr>
        <p:spPr>
          <a:xfrm>
            <a:off x="548640" y="48737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A1 250k EMA, UniPC [20,10,8,8]; each row decodes the generated coefficients of the groups so far; std seeds 0–5, uncurated</a:t>
            </a:r>
            <a:endParaRPr lang="en-US" sz="1050" dirty="0"/>
          </a:p>
        </p:txBody>
      </p:sp>
      <p:sp>
        <p:nvSpPr>
          <p:cNvPr id="45" name="box_694"/>
          <p:cNvSpPr/>
          <p:nvPr/>
        </p:nvSpPr>
        <p:spPr>
          <a:xfrm>
            <a:off x="7680960" y="1371600"/>
            <a:ext cx="3959352" cy="4526280"/>
          </a:xfrm>
          <a:prstGeom prst="roundRect">
            <a:avLst>
              <a:gd name="adj" fmla="val 1848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46" name="text_695"/>
          <p:cNvSpPr txBox="1"/>
          <p:nvPr/>
        </p:nvSpPr>
        <p:spPr>
          <a:xfrm>
            <a:off x="78181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group alone contributes</a:t>
            </a:r>
            <a:endParaRPr lang="en-US" sz="1350" dirty="0"/>
          </a:p>
        </p:txBody>
      </p:sp>
      <p:sp>
        <p:nvSpPr>
          <p:cNvPr id="47" name="text_696"/>
          <p:cNvSpPr txBox="1"/>
          <p:nvPr/>
        </p:nvSpPr>
        <p:spPr>
          <a:xfrm>
            <a:off x="781812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band-only decodes (other groups zeroed), seeds 0–1</a:t>
            </a:r>
            <a:endParaRPr lang="en-US" sz="1050" dirty="0"/>
          </a:p>
        </p:txBody>
      </p:sp>
      <p:pic>
        <p:nvPicPr>
          <p:cNvPr id="48" name="img_697" descr="/home/nada/PycharmProjects/learned-spectral-basis/.claude/worktrees/shai-deck/reports/shai_deck/figures/samples/band_g0_s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18120" y="2029968"/>
            <a:ext cx="841248" cy="841248"/>
          </a:xfrm>
          <a:prstGeom prst="rect">
            <a:avLst/>
          </a:prstGeom>
        </p:spPr>
      </p:pic>
      <p:pic>
        <p:nvPicPr>
          <p:cNvPr id="49" name="img_698" descr="/home/nada/PycharmProjects/learned-spectral-basis/.claude/worktrees/shai-deck/reports/shai_deck/figures/samples/band_g0_s1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18120" y="2935224"/>
            <a:ext cx="841248" cy="841248"/>
          </a:xfrm>
          <a:prstGeom prst="rect">
            <a:avLst/>
          </a:prstGeom>
        </p:spPr>
      </p:pic>
      <p:sp>
        <p:nvSpPr>
          <p:cNvPr id="50" name="text_699"/>
          <p:cNvSpPr txBox="1"/>
          <p:nvPr/>
        </p:nvSpPr>
        <p:spPr>
          <a:xfrm>
            <a:off x="7818120" y="38404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</a:t>
            </a:r>
            <a:endParaRPr lang="en-US" sz="1000" dirty="0"/>
          </a:p>
        </p:txBody>
      </p:sp>
      <p:pic>
        <p:nvPicPr>
          <p:cNvPr id="51" name="img_700" descr="/home/nada/PycharmProjects/learned-spectral-basis/.claude/worktrees/shai-deck/reports/shai_deck/figures/samples/band_g1_s0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23376" y="2029968"/>
            <a:ext cx="841248" cy="841248"/>
          </a:xfrm>
          <a:prstGeom prst="rect">
            <a:avLst/>
          </a:prstGeom>
        </p:spPr>
      </p:pic>
      <p:pic>
        <p:nvPicPr>
          <p:cNvPr id="52" name="img_701" descr="/home/nada/PycharmProjects/learned-spectral-basis/.claude/worktrees/shai-deck/reports/shai_deck/figures/samples/band_g1_s1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3376" y="2935224"/>
            <a:ext cx="841248" cy="841248"/>
          </a:xfrm>
          <a:prstGeom prst="rect">
            <a:avLst/>
          </a:prstGeom>
        </p:spPr>
      </p:pic>
      <p:sp>
        <p:nvSpPr>
          <p:cNvPr id="53" name="text_702"/>
          <p:cNvSpPr txBox="1"/>
          <p:nvPr/>
        </p:nvSpPr>
        <p:spPr>
          <a:xfrm>
            <a:off x="8723376" y="38404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×1.5</a:t>
            </a:r>
            <a:endParaRPr lang="en-US" sz="1000" dirty="0"/>
          </a:p>
        </p:txBody>
      </p:sp>
      <p:pic>
        <p:nvPicPr>
          <p:cNvPr id="54" name="img_703" descr="/home/nada/PycharmProjects/learned-spectral-basis/.claude/worktrees/shai-deck/reports/shai_deck/figures/samples/band_g2_s0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28632" y="2029968"/>
            <a:ext cx="841248" cy="841248"/>
          </a:xfrm>
          <a:prstGeom prst="rect">
            <a:avLst/>
          </a:prstGeom>
        </p:spPr>
      </p:pic>
      <p:pic>
        <p:nvPicPr>
          <p:cNvPr id="55" name="img_704" descr="/home/nada/PycharmProjects/learned-spectral-basis/.claude/worktrees/shai-deck/reports/shai_deck/figures/samples/band_g2_s1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28632" y="2935224"/>
            <a:ext cx="841248" cy="841248"/>
          </a:xfrm>
          <a:prstGeom prst="rect">
            <a:avLst/>
          </a:prstGeom>
        </p:spPr>
      </p:pic>
      <p:sp>
        <p:nvSpPr>
          <p:cNvPr id="56" name="text_705"/>
          <p:cNvSpPr txBox="1"/>
          <p:nvPr/>
        </p:nvSpPr>
        <p:spPr>
          <a:xfrm>
            <a:off x="9628632" y="38404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×2.8</a:t>
            </a:r>
            <a:endParaRPr lang="en-US" sz="1000" dirty="0"/>
          </a:p>
        </p:txBody>
      </p:sp>
      <p:pic>
        <p:nvPicPr>
          <p:cNvPr id="57" name="img_706" descr="/home/nada/PycharmProjects/learned-spectral-basis/.claude/worktrees/shai-deck/reports/shai_deck/figures/samples/band_g3_s0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33888" y="2029968"/>
            <a:ext cx="841248" cy="841248"/>
          </a:xfrm>
          <a:prstGeom prst="rect">
            <a:avLst/>
          </a:prstGeom>
        </p:spPr>
      </p:pic>
      <p:pic>
        <p:nvPicPr>
          <p:cNvPr id="58" name="img_707" descr="/home/nada/PycharmProjects/learned-spectral-basis/.claude/worktrees/shai-deck/reports/shai_deck/figures/samples/band_g3_s1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533888" y="2935224"/>
            <a:ext cx="841248" cy="841248"/>
          </a:xfrm>
          <a:prstGeom prst="rect">
            <a:avLst/>
          </a:prstGeom>
        </p:spPr>
      </p:pic>
      <p:sp>
        <p:nvSpPr>
          <p:cNvPr id="59" name="text_708"/>
          <p:cNvSpPr txBox="1"/>
          <p:nvPr/>
        </p:nvSpPr>
        <p:spPr>
          <a:xfrm>
            <a:off x="10533888" y="38404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×5</a:t>
            </a:r>
            <a:endParaRPr lang="en-US" sz="1000" dirty="0"/>
          </a:p>
        </p:txBody>
      </p:sp>
      <p:sp>
        <p:nvSpPr>
          <p:cNvPr id="60" name="text_709"/>
          <p:cNvSpPr txBox="1"/>
          <p:nvPr/>
        </p:nvSpPr>
        <p:spPr>
          <a:xfrm>
            <a:off x="781812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Re-sampling one group’s noise (others fixed): share of image variation it controls</a:t>
            </a:r>
            <a:endParaRPr lang="en-US" sz="1100" dirty="0"/>
          </a:p>
        </p:txBody>
      </p:sp>
      <p:sp>
        <p:nvSpPr>
          <p:cNvPr id="61" name="text_710"/>
          <p:cNvSpPr txBox="1"/>
          <p:nvPr/>
        </p:nvSpPr>
        <p:spPr>
          <a:xfrm>
            <a:off x="7818120" y="4617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1050" dirty="0"/>
          </a:p>
        </p:txBody>
      </p:sp>
      <p:sp>
        <p:nvSpPr>
          <p:cNvPr id="62" name="box_711"/>
          <p:cNvSpPr/>
          <p:nvPr/>
        </p:nvSpPr>
        <p:spPr>
          <a:xfrm>
            <a:off x="8229600" y="4663440"/>
            <a:ext cx="1312621" cy="164592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63" name="text_712"/>
          <p:cNvSpPr txBox="1"/>
          <p:nvPr/>
        </p:nvSpPr>
        <p:spPr>
          <a:xfrm>
            <a:off x="9646920" y="46177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98.2% · Inception 99%</a:t>
            </a:r>
            <a:endParaRPr lang="en-US" sz="1000" dirty="0"/>
          </a:p>
        </p:txBody>
      </p:sp>
      <p:sp>
        <p:nvSpPr>
          <p:cNvPr id="64" name="text_713"/>
          <p:cNvSpPr txBox="1"/>
          <p:nvPr/>
        </p:nvSpPr>
        <p:spPr>
          <a:xfrm>
            <a:off x="7818120" y="49194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050" dirty="0"/>
          </a:p>
        </p:txBody>
      </p:sp>
      <p:sp>
        <p:nvSpPr>
          <p:cNvPr id="65" name="box_714"/>
          <p:cNvSpPr/>
          <p:nvPr/>
        </p:nvSpPr>
        <p:spPr>
          <a:xfrm>
            <a:off x="8229600" y="4965192"/>
            <a:ext cx="411023" cy="16459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66" name="text_715"/>
          <p:cNvSpPr txBox="1"/>
          <p:nvPr/>
        </p:nvSpPr>
        <p:spPr>
          <a:xfrm>
            <a:off x="9646920" y="49194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2.8% · Inception 31%</a:t>
            </a:r>
            <a:endParaRPr lang="en-US" sz="1000" dirty="0"/>
          </a:p>
        </p:txBody>
      </p:sp>
      <p:sp>
        <p:nvSpPr>
          <p:cNvPr id="67" name="text_716"/>
          <p:cNvSpPr txBox="1"/>
          <p:nvPr/>
        </p:nvSpPr>
        <p:spPr>
          <a:xfrm>
            <a:off x="7818120" y="52212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3C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050" dirty="0"/>
          </a:p>
        </p:txBody>
      </p:sp>
      <p:sp>
        <p:nvSpPr>
          <p:cNvPr id="68" name="box_717"/>
          <p:cNvSpPr/>
          <p:nvPr/>
        </p:nvSpPr>
        <p:spPr>
          <a:xfrm>
            <a:off x="8229600" y="5266944"/>
            <a:ext cx="251917" cy="16459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69" name="text_718"/>
          <p:cNvSpPr txBox="1"/>
          <p:nvPr/>
        </p:nvSpPr>
        <p:spPr>
          <a:xfrm>
            <a:off x="9646920" y="52212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0.8% · Inception 19%</a:t>
            </a:r>
            <a:endParaRPr lang="en-US" sz="1000" dirty="0"/>
          </a:p>
        </p:txBody>
      </p:sp>
      <p:sp>
        <p:nvSpPr>
          <p:cNvPr id="70" name="text_719"/>
          <p:cNvSpPr txBox="1"/>
          <p:nvPr/>
        </p:nvSpPr>
        <p:spPr>
          <a:xfrm>
            <a:off x="7818120" y="5522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D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050" dirty="0"/>
          </a:p>
        </p:txBody>
      </p:sp>
      <p:sp>
        <p:nvSpPr>
          <p:cNvPr id="71" name="box_720"/>
          <p:cNvSpPr/>
          <p:nvPr/>
        </p:nvSpPr>
        <p:spPr>
          <a:xfrm>
            <a:off x="8229600" y="5568696"/>
            <a:ext cx="159106" cy="164592"/>
          </a:xfrm>
          <a:prstGeom prst="rect">
            <a:avLst/>
          </a:prstGeom>
          <a:solidFill>
            <a:srgbClr val="E8D44D"/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72" name="text_721"/>
          <p:cNvSpPr txBox="1"/>
          <p:nvPr/>
        </p:nvSpPr>
        <p:spPr>
          <a:xfrm>
            <a:off x="9646920" y="55229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0.4% · Inception 12%</a:t>
            </a:r>
            <a:endParaRPr lang="en-US" sz="1000" dirty="0"/>
          </a:p>
        </p:txBody>
      </p:sp>
      <p:sp>
        <p:nvSpPr>
          <p:cNvPr id="73" name="text_722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Samples: H100 run j20_10_8_8 (s0_coef.pt), decoded with DCT_to_RGB. Noise shares: efficiency/phase1_verdict.json (A1 250k, Euler, resample one stage’s noise; Inception = mean sq. feature change vs independent draw).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DESIGN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references isolate what frequency causality does</a:t>
            </a:r>
            <a:endParaRPr lang="en-US" sz="2800" dirty="0"/>
          </a:p>
        </p:txBody>
      </p:sp>
      <p:sp>
        <p:nvSpPr>
          <p:cNvPr id="4" name="box_723"/>
          <p:cNvSpPr/>
          <p:nvPr/>
        </p:nvSpPr>
        <p:spPr>
          <a:xfrm>
            <a:off x="548640" y="1371600"/>
            <a:ext cx="3584448" cy="2971800"/>
          </a:xfrm>
          <a:prstGeom prst="roundRect">
            <a:avLst>
              <a:gd name="adj" fmla="val 2462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5" name="text_724"/>
          <p:cNvSpPr txBox="1"/>
          <p:nvPr/>
        </p:nvSpPr>
        <p:spPr>
          <a:xfrm>
            <a:off x="731520" y="148132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 · DCTdiff (our port)</a:t>
            </a:r>
            <a:endParaRPr lang="en-US" sz="1450" dirty="0"/>
          </a:p>
        </p:txBody>
      </p:sp>
      <p:sp>
        <p:nvSpPr>
          <p:cNvPr id="6" name="text_725"/>
          <p:cNvSpPr txBox="1"/>
          <p:nvPr/>
        </p:nvSpPr>
        <p:spPr>
          <a:xfrm>
            <a:off x="731520" y="17830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denoising of all retained DCT coefficients</a:t>
            </a:r>
            <a:endParaRPr lang="en-US" sz="1150" dirty="0"/>
          </a:p>
        </p:txBody>
      </p:sp>
      <p:sp>
        <p:nvSpPr>
          <p:cNvPr id="7" name="box_726"/>
          <p:cNvSpPr/>
          <p:nvPr/>
        </p:nvSpPr>
        <p:spPr>
          <a:xfrm>
            <a:off x="4288536" y="1371600"/>
            <a:ext cx="3584448" cy="2971800"/>
          </a:xfrm>
          <a:prstGeom prst="roundRect">
            <a:avLst>
              <a:gd name="adj" fmla="val 2462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8" name="text_727"/>
          <p:cNvSpPr txBox="1"/>
          <p:nvPr/>
        </p:nvSpPr>
        <p:spPr>
          <a:xfrm>
            <a:off x="4471416" y="148132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A8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 · joint axial</a:t>
            </a:r>
            <a:endParaRPr lang="en-US" sz="1450" dirty="0"/>
          </a:p>
        </p:txBody>
      </p:sp>
      <p:sp>
        <p:nvSpPr>
          <p:cNvPr id="9" name="text_728"/>
          <p:cNvSpPr txBox="1"/>
          <p:nvPr/>
        </p:nvSpPr>
        <p:spPr>
          <a:xfrm>
            <a:off x="4471416" y="17830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axial network, all groups noisy at one shared t</a:t>
            </a:r>
            <a:endParaRPr lang="en-US" sz="1150" dirty="0"/>
          </a:p>
        </p:txBody>
      </p:sp>
      <p:sp>
        <p:nvSpPr>
          <p:cNvPr id="10" name="box_729"/>
          <p:cNvSpPr/>
          <p:nvPr/>
        </p:nvSpPr>
        <p:spPr>
          <a:xfrm>
            <a:off x="8028432" y="1371600"/>
            <a:ext cx="3584448" cy="2971800"/>
          </a:xfrm>
          <a:prstGeom prst="roundRect">
            <a:avLst>
              <a:gd name="adj" fmla="val 2462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1" name="text_730"/>
          <p:cNvSpPr txBox="1"/>
          <p:nvPr/>
        </p:nvSpPr>
        <p:spPr>
          <a:xfrm>
            <a:off x="8211312" y="148132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frequency-AR axial</a:t>
            </a:r>
            <a:endParaRPr lang="en-US" sz="1450" dirty="0"/>
          </a:p>
        </p:txBody>
      </p:sp>
      <p:sp>
        <p:nvSpPr>
          <p:cNvPr id="12" name="text_731"/>
          <p:cNvSpPr txBox="1"/>
          <p:nvPr/>
        </p:nvSpPr>
        <p:spPr>
          <a:xfrm>
            <a:off x="8211312" y="17830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network, clean prefix + causal frequency mask</a:t>
            </a:r>
            <a:endParaRPr lang="en-US" sz="1150" dirty="0"/>
          </a:p>
        </p:txBody>
      </p:sp>
      <p:sp>
        <p:nvSpPr>
          <p:cNvPr id="13" name="box_732"/>
          <p:cNvSpPr/>
          <p:nvPr/>
        </p:nvSpPr>
        <p:spPr>
          <a:xfrm>
            <a:off x="777240" y="2423160"/>
            <a:ext cx="310896" cy="91440"/>
          </a:xfrm>
          <a:prstGeom prst="rect">
            <a:avLst/>
          </a:prstGeom>
          <a:solidFill>
            <a:srgbClr val="5B7BE0">
              <a:alpha val="50000"/>
            </a:srgbClr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14" name="box_733"/>
          <p:cNvSpPr/>
          <p:nvPr/>
        </p:nvSpPr>
        <p:spPr>
          <a:xfrm>
            <a:off x="777240" y="2523744"/>
            <a:ext cx="310896" cy="91440"/>
          </a:xfrm>
          <a:prstGeom prst="rect">
            <a:avLst/>
          </a:prstGeom>
          <a:solidFill>
            <a:srgbClr val="2FA8A0">
              <a:alpha val="50000"/>
            </a:srgbClr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5" name="box_734"/>
          <p:cNvSpPr/>
          <p:nvPr/>
        </p:nvSpPr>
        <p:spPr>
          <a:xfrm>
            <a:off x="777240" y="2624328"/>
            <a:ext cx="310896" cy="91440"/>
          </a:xfrm>
          <a:prstGeom prst="rect">
            <a:avLst/>
          </a:prstGeom>
          <a:solidFill>
            <a:srgbClr val="73C95C">
              <a:alpha val="50000"/>
            </a:srgbClr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16" name="box_735"/>
          <p:cNvSpPr/>
          <p:nvPr/>
        </p:nvSpPr>
        <p:spPr>
          <a:xfrm>
            <a:off x="777240" y="2724912"/>
            <a:ext cx="310896" cy="91440"/>
          </a:xfrm>
          <a:prstGeom prst="rect">
            <a:avLst/>
          </a:prstGeom>
          <a:solidFill>
            <a:srgbClr val="E8D44D">
              <a:alpha val="50000"/>
            </a:srgbClr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17" name="box_736"/>
          <p:cNvSpPr/>
          <p:nvPr/>
        </p:nvSpPr>
        <p:spPr>
          <a:xfrm>
            <a:off x="1143000" y="2423160"/>
            <a:ext cx="310896" cy="91440"/>
          </a:xfrm>
          <a:prstGeom prst="rect">
            <a:avLst/>
          </a:prstGeom>
          <a:solidFill>
            <a:srgbClr val="5B7BE0">
              <a:alpha val="50000"/>
            </a:srgbClr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18" name="box_737"/>
          <p:cNvSpPr/>
          <p:nvPr/>
        </p:nvSpPr>
        <p:spPr>
          <a:xfrm>
            <a:off x="1143000" y="2523744"/>
            <a:ext cx="310896" cy="91440"/>
          </a:xfrm>
          <a:prstGeom prst="rect">
            <a:avLst/>
          </a:prstGeom>
          <a:solidFill>
            <a:srgbClr val="2FA8A0">
              <a:alpha val="50000"/>
            </a:srgbClr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9" name="box_738"/>
          <p:cNvSpPr/>
          <p:nvPr/>
        </p:nvSpPr>
        <p:spPr>
          <a:xfrm>
            <a:off x="1143000" y="2624328"/>
            <a:ext cx="310896" cy="91440"/>
          </a:xfrm>
          <a:prstGeom prst="rect">
            <a:avLst/>
          </a:prstGeom>
          <a:solidFill>
            <a:srgbClr val="73C95C">
              <a:alpha val="50000"/>
            </a:srgbClr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20" name="box_739"/>
          <p:cNvSpPr/>
          <p:nvPr/>
        </p:nvSpPr>
        <p:spPr>
          <a:xfrm>
            <a:off x="1143000" y="2724912"/>
            <a:ext cx="310896" cy="91440"/>
          </a:xfrm>
          <a:prstGeom prst="rect">
            <a:avLst/>
          </a:prstGeom>
          <a:solidFill>
            <a:srgbClr val="E8D44D">
              <a:alpha val="50000"/>
            </a:srgbClr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21" name="box_740"/>
          <p:cNvSpPr/>
          <p:nvPr/>
        </p:nvSpPr>
        <p:spPr>
          <a:xfrm>
            <a:off x="1508760" y="2423160"/>
            <a:ext cx="310896" cy="91440"/>
          </a:xfrm>
          <a:prstGeom prst="rect">
            <a:avLst/>
          </a:prstGeom>
          <a:solidFill>
            <a:srgbClr val="5B7BE0">
              <a:alpha val="50000"/>
            </a:srgbClr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22" name="box_741"/>
          <p:cNvSpPr/>
          <p:nvPr/>
        </p:nvSpPr>
        <p:spPr>
          <a:xfrm>
            <a:off x="1508760" y="2523744"/>
            <a:ext cx="310896" cy="91440"/>
          </a:xfrm>
          <a:prstGeom prst="rect">
            <a:avLst/>
          </a:prstGeom>
          <a:solidFill>
            <a:srgbClr val="2FA8A0">
              <a:alpha val="50000"/>
            </a:srgbClr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3" name="box_742"/>
          <p:cNvSpPr/>
          <p:nvPr/>
        </p:nvSpPr>
        <p:spPr>
          <a:xfrm>
            <a:off x="1508760" y="2624328"/>
            <a:ext cx="310896" cy="91440"/>
          </a:xfrm>
          <a:prstGeom prst="rect">
            <a:avLst/>
          </a:prstGeom>
          <a:solidFill>
            <a:srgbClr val="73C95C">
              <a:alpha val="50000"/>
            </a:srgbClr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24" name="box_743"/>
          <p:cNvSpPr/>
          <p:nvPr/>
        </p:nvSpPr>
        <p:spPr>
          <a:xfrm>
            <a:off x="1508760" y="2724912"/>
            <a:ext cx="310896" cy="91440"/>
          </a:xfrm>
          <a:prstGeom prst="rect">
            <a:avLst/>
          </a:prstGeom>
          <a:solidFill>
            <a:srgbClr val="E8D44D">
              <a:alpha val="50000"/>
            </a:srgbClr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25" name="box_744"/>
          <p:cNvSpPr/>
          <p:nvPr/>
        </p:nvSpPr>
        <p:spPr>
          <a:xfrm>
            <a:off x="1874520" y="2423160"/>
            <a:ext cx="310896" cy="91440"/>
          </a:xfrm>
          <a:prstGeom prst="rect">
            <a:avLst/>
          </a:prstGeom>
          <a:solidFill>
            <a:srgbClr val="5B7BE0">
              <a:alpha val="50000"/>
            </a:srgbClr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26" name="box_745"/>
          <p:cNvSpPr/>
          <p:nvPr/>
        </p:nvSpPr>
        <p:spPr>
          <a:xfrm>
            <a:off x="1874520" y="2523744"/>
            <a:ext cx="310896" cy="91440"/>
          </a:xfrm>
          <a:prstGeom prst="rect">
            <a:avLst/>
          </a:prstGeom>
          <a:solidFill>
            <a:srgbClr val="2FA8A0">
              <a:alpha val="50000"/>
            </a:srgbClr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27" name="box_746"/>
          <p:cNvSpPr/>
          <p:nvPr/>
        </p:nvSpPr>
        <p:spPr>
          <a:xfrm>
            <a:off x="1874520" y="2624328"/>
            <a:ext cx="310896" cy="91440"/>
          </a:xfrm>
          <a:prstGeom prst="rect">
            <a:avLst/>
          </a:prstGeom>
          <a:solidFill>
            <a:srgbClr val="73C95C">
              <a:alpha val="50000"/>
            </a:srgbClr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28" name="box_747"/>
          <p:cNvSpPr/>
          <p:nvPr/>
        </p:nvSpPr>
        <p:spPr>
          <a:xfrm>
            <a:off x="1874520" y="2724912"/>
            <a:ext cx="310896" cy="91440"/>
          </a:xfrm>
          <a:prstGeom prst="rect">
            <a:avLst/>
          </a:prstGeom>
          <a:solidFill>
            <a:srgbClr val="E8D44D">
              <a:alpha val="50000"/>
            </a:srgbClr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29" name="box_748"/>
          <p:cNvSpPr/>
          <p:nvPr/>
        </p:nvSpPr>
        <p:spPr>
          <a:xfrm>
            <a:off x="2240280" y="2423160"/>
            <a:ext cx="310896" cy="91440"/>
          </a:xfrm>
          <a:prstGeom prst="rect">
            <a:avLst/>
          </a:prstGeom>
          <a:solidFill>
            <a:srgbClr val="5B7BE0">
              <a:alpha val="50000"/>
            </a:srgbClr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0" name="box_749"/>
          <p:cNvSpPr/>
          <p:nvPr/>
        </p:nvSpPr>
        <p:spPr>
          <a:xfrm>
            <a:off x="2240280" y="2523744"/>
            <a:ext cx="310896" cy="91440"/>
          </a:xfrm>
          <a:prstGeom prst="rect">
            <a:avLst/>
          </a:prstGeom>
          <a:solidFill>
            <a:srgbClr val="2FA8A0">
              <a:alpha val="50000"/>
            </a:srgbClr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1" name="box_750"/>
          <p:cNvSpPr/>
          <p:nvPr/>
        </p:nvSpPr>
        <p:spPr>
          <a:xfrm>
            <a:off x="2240280" y="2624328"/>
            <a:ext cx="310896" cy="91440"/>
          </a:xfrm>
          <a:prstGeom prst="rect">
            <a:avLst/>
          </a:prstGeom>
          <a:solidFill>
            <a:srgbClr val="73C95C">
              <a:alpha val="50000"/>
            </a:srgbClr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32" name="box_751"/>
          <p:cNvSpPr/>
          <p:nvPr/>
        </p:nvSpPr>
        <p:spPr>
          <a:xfrm>
            <a:off x="2240280" y="2724912"/>
            <a:ext cx="310896" cy="91440"/>
          </a:xfrm>
          <a:prstGeom prst="rect">
            <a:avLst/>
          </a:prstGeom>
          <a:solidFill>
            <a:srgbClr val="E8D44D">
              <a:alpha val="50000"/>
            </a:srgbClr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33" name="box_752"/>
          <p:cNvSpPr/>
          <p:nvPr/>
        </p:nvSpPr>
        <p:spPr>
          <a:xfrm>
            <a:off x="2606040" y="2423160"/>
            <a:ext cx="310896" cy="91440"/>
          </a:xfrm>
          <a:prstGeom prst="rect">
            <a:avLst/>
          </a:prstGeom>
          <a:solidFill>
            <a:srgbClr val="5B7BE0">
              <a:alpha val="50000"/>
            </a:srgbClr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4" name="box_753"/>
          <p:cNvSpPr/>
          <p:nvPr/>
        </p:nvSpPr>
        <p:spPr>
          <a:xfrm>
            <a:off x="2606040" y="2523744"/>
            <a:ext cx="310896" cy="91440"/>
          </a:xfrm>
          <a:prstGeom prst="rect">
            <a:avLst/>
          </a:prstGeom>
          <a:solidFill>
            <a:srgbClr val="2FA8A0">
              <a:alpha val="50000"/>
            </a:srgbClr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5" name="box_754"/>
          <p:cNvSpPr/>
          <p:nvPr/>
        </p:nvSpPr>
        <p:spPr>
          <a:xfrm>
            <a:off x="2606040" y="2624328"/>
            <a:ext cx="310896" cy="91440"/>
          </a:xfrm>
          <a:prstGeom prst="rect">
            <a:avLst/>
          </a:prstGeom>
          <a:solidFill>
            <a:srgbClr val="73C95C">
              <a:alpha val="50000"/>
            </a:srgbClr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36" name="box_755"/>
          <p:cNvSpPr/>
          <p:nvPr/>
        </p:nvSpPr>
        <p:spPr>
          <a:xfrm>
            <a:off x="2606040" y="2724912"/>
            <a:ext cx="310896" cy="91440"/>
          </a:xfrm>
          <a:prstGeom prst="rect">
            <a:avLst/>
          </a:prstGeom>
          <a:solidFill>
            <a:srgbClr val="E8D44D">
              <a:alpha val="50000"/>
            </a:srgbClr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37" name="box_756"/>
          <p:cNvSpPr/>
          <p:nvPr/>
        </p:nvSpPr>
        <p:spPr>
          <a:xfrm>
            <a:off x="2971800" y="2423160"/>
            <a:ext cx="310896" cy="91440"/>
          </a:xfrm>
          <a:prstGeom prst="rect">
            <a:avLst/>
          </a:prstGeom>
          <a:solidFill>
            <a:srgbClr val="5B7BE0">
              <a:alpha val="50000"/>
            </a:srgbClr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38" name="box_757"/>
          <p:cNvSpPr/>
          <p:nvPr/>
        </p:nvSpPr>
        <p:spPr>
          <a:xfrm>
            <a:off x="2971800" y="2523744"/>
            <a:ext cx="310896" cy="91440"/>
          </a:xfrm>
          <a:prstGeom prst="rect">
            <a:avLst/>
          </a:prstGeom>
          <a:solidFill>
            <a:srgbClr val="2FA8A0">
              <a:alpha val="50000"/>
            </a:srgbClr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39" name="box_758"/>
          <p:cNvSpPr/>
          <p:nvPr/>
        </p:nvSpPr>
        <p:spPr>
          <a:xfrm>
            <a:off x="2971800" y="2624328"/>
            <a:ext cx="310896" cy="91440"/>
          </a:xfrm>
          <a:prstGeom prst="rect">
            <a:avLst/>
          </a:prstGeom>
          <a:solidFill>
            <a:srgbClr val="73C95C">
              <a:alpha val="50000"/>
            </a:srgbClr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40" name="box_759"/>
          <p:cNvSpPr/>
          <p:nvPr/>
        </p:nvSpPr>
        <p:spPr>
          <a:xfrm>
            <a:off x="2971800" y="2724912"/>
            <a:ext cx="310896" cy="91440"/>
          </a:xfrm>
          <a:prstGeom prst="rect">
            <a:avLst/>
          </a:prstGeom>
          <a:solidFill>
            <a:srgbClr val="E8D44D">
              <a:alpha val="50000"/>
            </a:srgbClr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41" name="box_760"/>
          <p:cNvSpPr/>
          <p:nvPr/>
        </p:nvSpPr>
        <p:spPr>
          <a:xfrm>
            <a:off x="3337560" y="2423160"/>
            <a:ext cx="310896" cy="91440"/>
          </a:xfrm>
          <a:prstGeom prst="rect">
            <a:avLst/>
          </a:prstGeom>
          <a:solidFill>
            <a:srgbClr val="5B7BE0">
              <a:alpha val="50000"/>
            </a:srgbClr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42" name="box_761"/>
          <p:cNvSpPr/>
          <p:nvPr/>
        </p:nvSpPr>
        <p:spPr>
          <a:xfrm>
            <a:off x="3337560" y="2523744"/>
            <a:ext cx="310896" cy="91440"/>
          </a:xfrm>
          <a:prstGeom prst="rect">
            <a:avLst/>
          </a:prstGeom>
          <a:solidFill>
            <a:srgbClr val="2FA8A0">
              <a:alpha val="50000"/>
            </a:srgbClr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43" name="box_762"/>
          <p:cNvSpPr/>
          <p:nvPr/>
        </p:nvSpPr>
        <p:spPr>
          <a:xfrm>
            <a:off x="3337560" y="2624328"/>
            <a:ext cx="310896" cy="91440"/>
          </a:xfrm>
          <a:prstGeom prst="rect">
            <a:avLst/>
          </a:prstGeom>
          <a:solidFill>
            <a:srgbClr val="73C95C">
              <a:alpha val="50000"/>
            </a:srgbClr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44" name="box_763"/>
          <p:cNvSpPr/>
          <p:nvPr/>
        </p:nvSpPr>
        <p:spPr>
          <a:xfrm>
            <a:off x="3337560" y="2724912"/>
            <a:ext cx="310896" cy="91440"/>
          </a:xfrm>
          <a:prstGeom prst="rect">
            <a:avLst/>
          </a:prstGeom>
          <a:solidFill>
            <a:srgbClr val="E8D44D">
              <a:alpha val="50000"/>
            </a:srgbClr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45" name="text_764"/>
          <p:cNvSpPr txBox="1"/>
          <p:nvPr/>
        </p:nvSpPr>
        <p:spPr>
          <a:xfrm>
            <a:off x="777240" y="28986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64 tokens carries all 54 ch, noisy at one t</a:t>
            </a:r>
            <a:endParaRPr lang="en-US" sz="1050" dirty="0"/>
          </a:p>
        </p:txBody>
      </p:sp>
      <p:sp>
        <p:nvSpPr>
          <p:cNvPr id="46" name="text_765"/>
          <p:cNvSpPr txBox="1"/>
          <p:nvPr/>
        </p:nvSpPr>
        <p:spPr>
          <a:xfrm>
            <a:off x="731520" y="3200400"/>
            <a:ext cx="3264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U-ViT, D 512, 13 blocks (official FFHQ “small” recipe)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joint ODE: UniPC-15 or Euler-100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 GFLOP / training image</a:t>
            </a:r>
            <a:endParaRPr lang="en-US" sz="1150" dirty="0"/>
          </a:p>
        </p:txBody>
      </p:sp>
      <p:sp>
        <p:nvSpPr>
          <p:cNvPr id="47" name="text_766"/>
          <p:cNvSpPr txBox="1"/>
          <p:nvPr/>
        </p:nvSpPr>
        <p:spPr>
          <a:xfrm>
            <a:off x="4471416" y="2359152"/>
            <a:ext cx="612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@ t</a:t>
            </a:r>
            <a:endParaRPr lang="en-US" sz="950" dirty="0"/>
          </a:p>
        </p:txBody>
      </p:sp>
      <p:sp>
        <p:nvSpPr>
          <p:cNvPr id="48" name="box_767"/>
          <p:cNvSpPr/>
          <p:nvPr/>
        </p:nvSpPr>
        <p:spPr>
          <a:xfrm>
            <a:off x="5157216" y="2359152"/>
            <a:ext cx="147676" cy="173736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49" name="text_768"/>
          <p:cNvSpPr txBox="1"/>
          <p:nvPr/>
        </p:nvSpPr>
        <p:spPr>
          <a:xfrm>
            <a:off x="5157216" y="2359152"/>
            <a:ext cx="1476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50" name="box_769"/>
          <p:cNvSpPr/>
          <p:nvPr/>
        </p:nvSpPr>
        <p:spPr>
          <a:xfrm>
            <a:off x="5332324" y="2359152"/>
            <a:ext cx="173736" cy="173736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51" name="box_770"/>
          <p:cNvSpPr/>
          <p:nvPr/>
        </p:nvSpPr>
        <p:spPr>
          <a:xfrm>
            <a:off x="5533492" y="2359152"/>
            <a:ext cx="173736" cy="173736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52" name="box_771"/>
          <p:cNvSpPr/>
          <p:nvPr/>
        </p:nvSpPr>
        <p:spPr>
          <a:xfrm>
            <a:off x="5734660" y="2359152"/>
            <a:ext cx="173736" cy="173736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53" name="box_772"/>
          <p:cNvSpPr/>
          <p:nvPr/>
        </p:nvSpPr>
        <p:spPr>
          <a:xfrm>
            <a:off x="5935828" y="2359152"/>
            <a:ext cx="173736" cy="173736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54" name="box_773"/>
          <p:cNvSpPr/>
          <p:nvPr/>
        </p:nvSpPr>
        <p:spPr>
          <a:xfrm>
            <a:off x="6136996" y="2359152"/>
            <a:ext cx="173736" cy="173736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55" name="box_774"/>
          <p:cNvSpPr/>
          <p:nvPr/>
        </p:nvSpPr>
        <p:spPr>
          <a:xfrm>
            <a:off x="6338164" y="2359152"/>
            <a:ext cx="173736" cy="173736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56" name="box_775"/>
          <p:cNvSpPr/>
          <p:nvPr/>
        </p:nvSpPr>
        <p:spPr>
          <a:xfrm>
            <a:off x="6539332" y="2359152"/>
            <a:ext cx="173736" cy="173736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57" name="text_776"/>
          <p:cNvSpPr txBox="1"/>
          <p:nvPr/>
        </p:nvSpPr>
        <p:spPr>
          <a:xfrm>
            <a:off x="4471416" y="2578608"/>
            <a:ext cx="612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@ t</a:t>
            </a:r>
            <a:endParaRPr lang="en-US" sz="950" dirty="0"/>
          </a:p>
        </p:txBody>
      </p:sp>
      <p:sp>
        <p:nvSpPr>
          <p:cNvPr id="58" name="box_777"/>
          <p:cNvSpPr/>
          <p:nvPr/>
        </p:nvSpPr>
        <p:spPr>
          <a:xfrm>
            <a:off x="5157216" y="2578608"/>
            <a:ext cx="147676" cy="173736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59" name="text_778"/>
          <p:cNvSpPr txBox="1"/>
          <p:nvPr/>
        </p:nvSpPr>
        <p:spPr>
          <a:xfrm>
            <a:off x="5157216" y="2578608"/>
            <a:ext cx="1476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60" name="box_779"/>
          <p:cNvSpPr/>
          <p:nvPr/>
        </p:nvSpPr>
        <p:spPr>
          <a:xfrm>
            <a:off x="5332324" y="2578608"/>
            <a:ext cx="173736" cy="173736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61" name="box_780"/>
          <p:cNvSpPr/>
          <p:nvPr/>
        </p:nvSpPr>
        <p:spPr>
          <a:xfrm>
            <a:off x="5533492" y="2578608"/>
            <a:ext cx="173736" cy="173736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62" name="box_781"/>
          <p:cNvSpPr/>
          <p:nvPr/>
        </p:nvSpPr>
        <p:spPr>
          <a:xfrm>
            <a:off x="5734660" y="2578608"/>
            <a:ext cx="173736" cy="173736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63" name="box_782"/>
          <p:cNvSpPr/>
          <p:nvPr/>
        </p:nvSpPr>
        <p:spPr>
          <a:xfrm>
            <a:off x="5935828" y="2578608"/>
            <a:ext cx="173736" cy="173736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64" name="box_783"/>
          <p:cNvSpPr/>
          <p:nvPr/>
        </p:nvSpPr>
        <p:spPr>
          <a:xfrm>
            <a:off x="6136996" y="2578608"/>
            <a:ext cx="173736" cy="173736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65" name="box_784"/>
          <p:cNvSpPr/>
          <p:nvPr/>
        </p:nvSpPr>
        <p:spPr>
          <a:xfrm>
            <a:off x="6338164" y="2578608"/>
            <a:ext cx="173736" cy="173736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66" name="box_785"/>
          <p:cNvSpPr/>
          <p:nvPr/>
        </p:nvSpPr>
        <p:spPr>
          <a:xfrm>
            <a:off x="6539332" y="2578608"/>
            <a:ext cx="173736" cy="173736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67" name="text_786"/>
          <p:cNvSpPr txBox="1"/>
          <p:nvPr/>
        </p:nvSpPr>
        <p:spPr>
          <a:xfrm>
            <a:off x="4471416" y="2798064"/>
            <a:ext cx="612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@ t</a:t>
            </a:r>
            <a:endParaRPr lang="en-US" sz="950" dirty="0"/>
          </a:p>
        </p:txBody>
      </p:sp>
      <p:sp>
        <p:nvSpPr>
          <p:cNvPr id="68" name="box_787"/>
          <p:cNvSpPr/>
          <p:nvPr/>
        </p:nvSpPr>
        <p:spPr>
          <a:xfrm>
            <a:off x="5157216" y="2798064"/>
            <a:ext cx="147676" cy="173736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69" name="text_788"/>
          <p:cNvSpPr txBox="1"/>
          <p:nvPr/>
        </p:nvSpPr>
        <p:spPr>
          <a:xfrm>
            <a:off x="5157216" y="2798064"/>
            <a:ext cx="1476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70" name="box_789"/>
          <p:cNvSpPr/>
          <p:nvPr/>
        </p:nvSpPr>
        <p:spPr>
          <a:xfrm>
            <a:off x="5332324" y="2798064"/>
            <a:ext cx="173736" cy="173736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71" name="box_790"/>
          <p:cNvSpPr/>
          <p:nvPr/>
        </p:nvSpPr>
        <p:spPr>
          <a:xfrm>
            <a:off x="5533492" y="2798064"/>
            <a:ext cx="173736" cy="173736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72" name="box_791"/>
          <p:cNvSpPr/>
          <p:nvPr/>
        </p:nvSpPr>
        <p:spPr>
          <a:xfrm>
            <a:off x="5734660" y="2798064"/>
            <a:ext cx="173736" cy="173736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73" name="box_792"/>
          <p:cNvSpPr/>
          <p:nvPr/>
        </p:nvSpPr>
        <p:spPr>
          <a:xfrm>
            <a:off x="5935828" y="2798064"/>
            <a:ext cx="173736" cy="173736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74" name="box_793"/>
          <p:cNvSpPr/>
          <p:nvPr/>
        </p:nvSpPr>
        <p:spPr>
          <a:xfrm>
            <a:off x="6136996" y="2798064"/>
            <a:ext cx="173736" cy="173736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75" name="box_794"/>
          <p:cNvSpPr/>
          <p:nvPr/>
        </p:nvSpPr>
        <p:spPr>
          <a:xfrm>
            <a:off x="6338164" y="2798064"/>
            <a:ext cx="173736" cy="173736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76" name="box_795"/>
          <p:cNvSpPr/>
          <p:nvPr/>
        </p:nvSpPr>
        <p:spPr>
          <a:xfrm>
            <a:off x="6539332" y="2798064"/>
            <a:ext cx="173736" cy="173736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77" name="text_796"/>
          <p:cNvSpPr txBox="1"/>
          <p:nvPr/>
        </p:nvSpPr>
        <p:spPr>
          <a:xfrm>
            <a:off x="4471416" y="3017520"/>
            <a:ext cx="612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@ t</a:t>
            </a:r>
            <a:endParaRPr lang="en-US" sz="950" dirty="0"/>
          </a:p>
        </p:txBody>
      </p:sp>
      <p:sp>
        <p:nvSpPr>
          <p:cNvPr id="78" name="box_797"/>
          <p:cNvSpPr/>
          <p:nvPr/>
        </p:nvSpPr>
        <p:spPr>
          <a:xfrm>
            <a:off x="5157216" y="3017520"/>
            <a:ext cx="147676" cy="173736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79" name="text_798"/>
          <p:cNvSpPr txBox="1"/>
          <p:nvPr/>
        </p:nvSpPr>
        <p:spPr>
          <a:xfrm>
            <a:off x="5157216" y="3017520"/>
            <a:ext cx="1476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80" name="box_799"/>
          <p:cNvSpPr/>
          <p:nvPr/>
        </p:nvSpPr>
        <p:spPr>
          <a:xfrm>
            <a:off x="5332324" y="3017520"/>
            <a:ext cx="173736" cy="173736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81" name="box_800"/>
          <p:cNvSpPr/>
          <p:nvPr/>
        </p:nvSpPr>
        <p:spPr>
          <a:xfrm>
            <a:off x="5533492" y="3017520"/>
            <a:ext cx="173736" cy="173736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82" name="box_801"/>
          <p:cNvSpPr/>
          <p:nvPr/>
        </p:nvSpPr>
        <p:spPr>
          <a:xfrm>
            <a:off x="5734660" y="3017520"/>
            <a:ext cx="173736" cy="173736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83" name="box_802"/>
          <p:cNvSpPr/>
          <p:nvPr/>
        </p:nvSpPr>
        <p:spPr>
          <a:xfrm>
            <a:off x="5935828" y="3017520"/>
            <a:ext cx="173736" cy="173736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84" name="box_803"/>
          <p:cNvSpPr/>
          <p:nvPr/>
        </p:nvSpPr>
        <p:spPr>
          <a:xfrm>
            <a:off x="6136996" y="3017520"/>
            <a:ext cx="173736" cy="173736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85" name="box_804"/>
          <p:cNvSpPr/>
          <p:nvPr/>
        </p:nvSpPr>
        <p:spPr>
          <a:xfrm>
            <a:off x="6338164" y="3017520"/>
            <a:ext cx="173736" cy="173736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86" name="box_805"/>
          <p:cNvSpPr/>
          <p:nvPr/>
        </p:nvSpPr>
        <p:spPr>
          <a:xfrm>
            <a:off x="6539332" y="3017520"/>
            <a:ext cx="173736" cy="173736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87" name="text_806"/>
          <p:cNvSpPr txBox="1"/>
          <p:nvPr/>
        </p:nvSpPr>
        <p:spPr>
          <a:xfrm>
            <a:off x="6803136" y="2359152"/>
            <a:ext cx="128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88" name="box_807"/>
          <p:cNvSpPr/>
          <p:nvPr/>
        </p:nvSpPr>
        <p:spPr>
          <a:xfrm>
            <a:off x="6986016" y="2359152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89" name="box_808"/>
          <p:cNvSpPr/>
          <p:nvPr/>
        </p:nvSpPr>
        <p:spPr>
          <a:xfrm>
            <a:off x="7159752" y="2359152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90" name="box_809"/>
          <p:cNvSpPr/>
          <p:nvPr/>
        </p:nvSpPr>
        <p:spPr>
          <a:xfrm>
            <a:off x="7333488" y="2359152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91" name="box_810"/>
          <p:cNvSpPr/>
          <p:nvPr/>
        </p:nvSpPr>
        <p:spPr>
          <a:xfrm>
            <a:off x="7507224" y="2359152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92" name="text_811"/>
          <p:cNvSpPr txBox="1"/>
          <p:nvPr/>
        </p:nvSpPr>
        <p:spPr>
          <a:xfrm>
            <a:off x="6803136" y="2532888"/>
            <a:ext cx="128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93" name="box_812"/>
          <p:cNvSpPr/>
          <p:nvPr/>
        </p:nvSpPr>
        <p:spPr>
          <a:xfrm>
            <a:off x="6986016" y="2532888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94" name="box_813"/>
          <p:cNvSpPr/>
          <p:nvPr/>
        </p:nvSpPr>
        <p:spPr>
          <a:xfrm>
            <a:off x="7159752" y="2532888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95" name="box_814"/>
          <p:cNvSpPr/>
          <p:nvPr/>
        </p:nvSpPr>
        <p:spPr>
          <a:xfrm>
            <a:off x="7333488" y="2532888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96" name="box_815"/>
          <p:cNvSpPr/>
          <p:nvPr/>
        </p:nvSpPr>
        <p:spPr>
          <a:xfrm>
            <a:off x="7507224" y="2532888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97" name="text_816"/>
          <p:cNvSpPr txBox="1"/>
          <p:nvPr/>
        </p:nvSpPr>
        <p:spPr>
          <a:xfrm>
            <a:off x="6803136" y="2706624"/>
            <a:ext cx="128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98" name="box_817"/>
          <p:cNvSpPr/>
          <p:nvPr/>
        </p:nvSpPr>
        <p:spPr>
          <a:xfrm>
            <a:off x="6986016" y="2706624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99" name="box_818"/>
          <p:cNvSpPr/>
          <p:nvPr/>
        </p:nvSpPr>
        <p:spPr>
          <a:xfrm>
            <a:off x="7159752" y="2706624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00" name="box_819"/>
          <p:cNvSpPr/>
          <p:nvPr/>
        </p:nvSpPr>
        <p:spPr>
          <a:xfrm>
            <a:off x="7333488" y="2706624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01" name="box_820"/>
          <p:cNvSpPr/>
          <p:nvPr/>
        </p:nvSpPr>
        <p:spPr>
          <a:xfrm>
            <a:off x="7507224" y="2706624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02" name="text_821"/>
          <p:cNvSpPr txBox="1"/>
          <p:nvPr/>
        </p:nvSpPr>
        <p:spPr>
          <a:xfrm>
            <a:off x="6803136" y="2880360"/>
            <a:ext cx="128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03" name="box_822"/>
          <p:cNvSpPr/>
          <p:nvPr/>
        </p:nvSpPr>
        <p:spPr>
          <a:xfrm>
            <a:off x="6986016" y="2880360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04" name="box_823"/>
          <p:cNvSpPr/>
          <p:nvPr/>
        </p:nvSpPr>
        <p:spPr>
          <a:xfrm>
            <a:off x="7159752" y="2880360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05" name="box_824"/>
          <p:cNvSpPr/>
          <p:nvPr/>
        </p:nvSpPr>
        <p:spPr>
          <a:xfrm>
            <a:off x="7333488" y="2880360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06" name="box_825"/>
          <p:cNvSpPr/>
          <p:nvPr/>
        </p:nvSpPr>
        <p:spPr>
          <a:xfrm>
            <a:off x="7507224" y="2880360"/>
            <a:ext cx="155448" cy="15544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07" name="text_826"/>
          <p:cNvSpPr txBox="1"/>
          <p:nvPr/>
        </p:nvSpPr>
        <p:spPr>
          <a:xfrm>
            <a:off x="6803136" y="3072384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108" name="text_827"/>
          <p:cNvSpPr txBox="1"/>
          <p:nvPr/>
        </p:nvSpPr>
        <p:spPr>
          <a:xfrm>
            <a:off x="6976872" y="3072384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09" name="text_828"/>
          <p:cNvSpPr txBox="1"/>
          <p:nvPr/>
        </p:nvSpPr>
        <p:spPr>
          <a:xfrm>
            <a:off x="7150608" y="3072384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10" name="text_829"/>
          <p:cNvSpPr txBox="1"/>
          <p:nvPr/>
        </p:nvSpPr>
        <p:spPr>
          <a:xfrm>
            <a:off x="7324344" y="3072384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11" name="text_830"/>
          <p:cNvSpPr txBox="1"/>
          <p:nvPr/>
        </p:nvSpPr>
        <p:spPr>
          <a:xfrm>
            <a:off x="4471416" y="3429000"/>
            <a:ext cx="3264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frequency attention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joint ODE (UniPC-15 best)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 GFLOP / training image</a:t>
            </a:r>
            <a:endParaRPr lang="en-US" sz="1150" dirty="0"/>
          </a:p>
        </p:txBody>
      </p:sp>
      <p:sp>
        <p:nvSpPr>
          <p:cNvPr id="112" name="text_831"/>
          <p:cNvSpPr txBox="1"/>
          <p:nvPr/>
        </p:nvSpPr>
        <p:spPr>
          <a:xfrm>
            <a:off x="8211312" y="2286000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G0</a:t>
            </a:r>
            <a:endParaRPr lang="en-US" sz="850" dirty="0"/>
          </a:p>
        </p:txBody>
      </p:sp>
      <p:sp>
        <p:nvSpPr>
          <p:cNvPr id="113" name="box_832"/>
          <p:cNvSpPr/>
          <p:nvPr/>
        </p:nvSpPr>
        <p:spPr>
          <a:xfrm>
            <a:off x="8897112" y="2286000"/>
            <a:ext cx="101041" cy="118872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114" name="text_833"/>
          <p:cNvSpPr txBox="1"/>
          <p:nvPr/>
        </p:nvSpPr>
        <p:spPr>
          <a:xfrm>
            <a:off x="8897112" y="2286000"/>
            <a:ext cx="10104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15" name="box_834"/>
          <p:cNvSpPr/>
          <p:nvPr/>
        </p:nvSpPr>
        <p:spPr>
          <a:xfrm>
            <a:off x="9025585" y="2286000"/>
            <a:ext cx="118872" cy="118872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116" name="box_835"/>
          <p:cNvSpPr/>
          <p:nvPr/>
        </p:nvSpPr>
        <p:spPr>
          <a:xfrm>
            <a:off x="9171889" y="2286000"/>
            <a:ext cx="118872" cy="118872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117" name="box_836"/>
          <p:cNvSpPr/>
          <p:nvPr/>
        </p:nvSpPr>
        <p:spPr>
          <a:xfrm>
            <a:off x="9318193" y="2286000"/>
            <a:ext cx="118872" cy="118872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118" name="box_837"/>
          <p:cNvSpPr/>
          <p:nvPr/>
        </p:nvSpPr>
        <p:spPr>
          <a:xfrm>
            <a:off x="9464497" y="2286000"/>
            <a:ext cx="118872" cy="118872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119" name="box_838"/>
          <p:cNvSpPr/>
          <p:nvPr/>
        </p:nvSpPr>
        <p:spPr>
          <a:xfrm>
            <a:off x="9610801" y="2286000"/>
            <a:ext cx="118872" cy="118872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120" name="box_839"/>
          <p:cNvSpPr/>
          <p:nvPr/>
        </p:nvSpPr>
        <p:spPr>
          <a:xfrm>
            <a:off x="9757105" y="2286000"/>
            <a:ext cx="118872" cy="118872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121" name="box_840"/>
          <p:cNvSpPr/>
          <p:nvPr/>
        </p:nvSpPr>
        <p:spPr>
          <a:xfrm>
            <a:off x="9903409" y="2286000"/>
            <a:ext cx="118872" cy="118872"/>
          </a:xfrm>
          <a:prstGeom prst="rect">
            <a:avLst/>
          </a:prstGeom>
          <a:solidFill>
            <a:srgbClr val="5B7BE0"/>
          </a:solidFill>
          <a:ln w="12700">
            <a:solidFill>
              <a:srgbClr val="5B7BE0"/>
            </a:solidFill>
            <a:prstDash val="solid"/>
          </a:ln>
        </p:spPr>
      </p:sp>
      <p:sp>
        <p:nvSpPr>
          <p:cNvPr id="122" name="text_841"/>
          <p:cNvSpPr txBox="1"/>
          <p:nvPr/>
        </p:nvSpPr>
        <p:spPr>
          <a:xfrm>
            <a:off x="8211312" y="2436876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G1</a:t>
            </a:r>
            <a:endParaRPr lang="en-US" sz="850" dirty="0"/>
          </a:p>
        </p:txBody>
      </p:sp>
      <p:sp>
        <p:nvSpPr>
          <p:cNvPr id="123" name="box_842"/>
          <p:cNvSpPr/>
          <p:nvPr/>
        </p:nvSpPr>
        <p:spPr>
          <a:xfrm>
            <a:off x="8897112" y="2436876"/>
            <a:ext cx="101041" cy="118872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124" name="text_843"/>
          <p:cNvSpPr txBox="1"/>
          <p:nvPr/>
        </p:nvSpPr>
        <p:spPr>
          <a:xfrm>
            <a:off x="8897112" y="2436876"/>
            <a:ext cx="10104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25" name="box_844"/>
          <p:cNvSpPr/>
          <p:nvPr/>
        </p:nvSpPr>
        <p:spPr>
          <a:xfrm>
            <a:off x="9025585" y="2436876"/>
            <a:ext cx="118872" cy="11887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26" name="box_845"/>
          <p:cNvSpPr/>
          <p:nvPr/>
        </p:nvSpPr>
        <p:spPr>
          <a:xfrm>
            <a:off x="9171889" y="2436876"/>
            <a:ext cx="118872" cy="11887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27" name="box_846"/>
          <p:cNvSpPr/>
          <p:nvPr/>
        </p:nvSpPr>
        <p:spPr>
          <a:xfrm>
            <a:off x="9318193" y="2436876"/>
            <a:ext cx="118872" cy="11887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28" name="box_847"/>
          <p:cNvSpPr/>
          <p:nvPr/>
        </p:nvSpPr>
        <p:spPr>
          <a:xfrm>
            <a:off x="9464497" y="2436876"/>
            <a:ext cx="118872" cy="11887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29" name="box_848"/>
          <p:cNvSpPr/>
          <p:nvPr/>
        </p:nvSpPr>
        <p:spPr>
          <a:xfrm>
            <a:off x="9610801" y="2436876"/>
            <a:ext cx="118872" cy="11887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30" name="box_849"/>
          <p:cNvSpPr/>
          <p:nvPr/>
        </p:nvSpPr>
        <p:spPr>
          <a:xfrm>
            <a:off x="9757105" y="2436876"/>
            <a:ext cx="118872" cy="11887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31" name="box_850"/>
          <p:cNvSpPr/>
          <p:nvPr/>
        </p:nvSpPr>
        <p:spPr>
          <a:xfrm>
            <a:off x="9903409" y="2436876"/>
            <a:ext cx="118872" cy="118872"/>
          </a:xfrm>
          <a:prstGeom prst="rect">
            <a:avLst/>
          </a:prstGeom>
          <a:solidFill>
            <a:srgbClr val="2FA8A0"/>
          </a:solidFill>
          <a:ln w="12700">
            <a:solidFill>
              <a:srgbClr val="2FA8A0"/>
            </a:solidFill>
            <a:prstDash val="solid"/>
          </a:ln>
        </p:spPr>
      </p:sp>
      <p:sp>
        <p:nvSpPr>
          <p:cNvPr id="132" name="text_851"/>
          <p:cNvSpPr txBox="1"/>
          <p:nvPr/>
        </p:nvSpPr>
        <p:spPr>
          <a:xfrm>
            <a:off x="8211312" y="2587752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G2</a:t>
            </a:r>
            <a:endParaRPr lang="en-US" sz="850" dirty="0"/>
          </a:p>
        </p:txBody>
      </p:sp>
      <p:sp>
        <p:nvSpPr>
          <p:cNvPr id="133" name="box_852"/>
          <p:cNvSpPr/>
          <p:nvPr/>
        </p:nvSpPr>
        <p:spPr>
          <a:xfrm>
            <a:off x="8897112" y="2587752"/>
            <a:ext cx="101041" cy="118872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134" name="text_853"/>
          <p:cNvSpPr txBox="1"/>
          <p:nvPr/>
        </p:nvSpPr>
        <p:spPr>
          <a:xfrm>
            <a:off x="8897112" y="2587752"/>
            <a:ext cx="10104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35" name="box_854"/>
          <p:cNvSpPr/>
          <p:nvPr/>
        </p:nvSpPr>
        <p:spPr>
          <a:xfrm>
            <a:off x="9025585" y="2587752"/>
            <a:ext cx="118872" cy="11887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136" name="box_855"/>
          <p:cNvSpPr/>
          <p:nvPr/>
        </p:nvSpPr>
        <p:spPr>
          <a:xfrm>
            <a:off x="9171889" y="2587752"/>
            <a:ext cx="118872" cy="11887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137" name="box_856"/>
          <p:cNvSpPr/>
          <p:nvPr/>
        </p:nvSpPr>
        <p:spPr>
          <a:xfrm>
            <a:off x="9318193" y="2587752"/>
            <a:ext cx="118872" cy="11887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138" name="box_857"/>
          <p:cNvSpPr/>
          <p:nvPr/>
        </p:nvSpPr>
        <p:spPr>
          <a:xfrm>
            <a:off x="9464497" y="2587752"/>
            <a:ext cx="118872" cy="11887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139" name="box_858"/>
          <p:cNvSpPr/>
          <p:nvPr/>
        </p:nvSpPr>
        <p:spPr>
          <a:xfrm>
            <a:off x="9610801" y="2587752"/>
            <a:ext cx="118872" cy="11887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140" name="box_859"/>
          <p:cNvSpPr/>
          <p:nvPr/>
        </p:nvSpPr>
        <p:spPr>
          <a:xfrm>
            <a:off x="9757105" y="2587752"/>
            <a:ext cx="118872" cy="11887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141" name="box_860"/>
          <p:cNvSpPr/>
          <p:nvPr/>
        </p:nvSpPr>
        <p:spPr>
          <a:xfrm>
            <a:off x="9903409" y="2587752"/>
            <a:ext cx="118872" cy="118872"/>
          </a:xfrm>
          <a:prstGeom prst="rect">
            <a:avLst/>
          </a:prstGeom>
          <a:solidFill>
            <a:srgbClr val="73C95C"/>
          </a:solidFill>
          <a:ln w="12700">
            <a:solidFill>
              <a:srgbClr val="73C95C"/>
            </a:solidFill>
            <a:prstDash val="solid"/>
          </a:ln>
        </p:spPr>
      </p:sp>
      <p:sp>
        <p:nvSpPr>
          <p:cNvPr id="142" name="text_861"/>
          <p:cNvSpPr txBox="1"/>
          <p:nvPr/>
        </p:nvSpPr>
        <p:spPr>
          <a:xfrm>
            <a:off x="8211312" y="2738628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@ t0</a:t>
            </a:r>
            <a:endParaRPr lang="en-US" sz="850" dirty="0"/>
          </a:p>
        </p:txBody>
      </p:sp>
      <p:sp>
        <p:nvSpPr>
          <p:cNvPr id="143" name="box_862"/>
          <p:cNvSpPr/>
          <p:nvPr/>
        </p:nvSpPr>
        <p:spPr>
          <a:xfrm>
            <a:off x="8897112" y="2738628"/>
            <a:ext cx="101041" cy="118872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144" name="text_863"/>
          <p:cNvSpPr txBox="1"/>
          <p:nvPr/>
        </p:nvSpPr>
        <p:spPr>
          <a:xfrm>
            <a:off x="8897112" y="2738628"/>
            <a:ext cx="10104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45" name="box_864"/>
          <p:cNvSpPr/>
          <p:nvPr/>
        </p:nvSpPr>
        <p:spPr>
          <a:xfrm>
            <a:off x="9025585" y="2738628"/>
            <a:ext cx="118872" cy="118872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146" name="box_865"/>
          <p:cNvSpPr/>
          <p:nvPr/>
        </p:nvSpPr>
        <p:spPr>
          <a:xfrm>
            <a:off x="9171889" y="2738628"/>
            <a:ext cx="118872" cy="118872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147" name="box_866"/>
          <p:cNvSpPr/>
          <p:nvPr/>
        </p:nvSpPr>
        <p:spPr>
          <a:xfrm>
            <a:off x="9318193" y="2738628"/>
            <a:ext cx="118872" cy="118872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148" name="box_867"/>
          <p:cNvSpPr/>
          <p:nvPr/>
        </p:nvSpPr>
        <p:spPr>
          <a:xfrm>
            <a:off x="9464497" y="2738628"/>
            <a:ext cx="118872" cy="118872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149" name="box_868"/>
          <p:cNvSpPr/>
          <p:nvPr/>
        </p:nvSpPr>
        <p:spPr>
          <a:xfrm>
            <a:off x="9610801" y="2738628"/>
            <a:ext cx="118872" cy="118872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150" name="box_869"/>
          <p:cNvSpPr/>
          <p:nvPr/>
        </p:nvSpPr>
        <p:spPr>
          <a:xfrm>
            <a:off x="9757105" y="2738628"/>
            <a:ext cx="118872" cy="118872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151" name="box_870"/>
          <p:cNvSpPr/>
          <p:nvPr/>
        </p:nvSpPr>
        <p:spPr>
          <a:xfrm>
            <a:off x="9903409" y="2738628"/>
            <a:ext cx="118872" cy="118872"/>
          </a:xfrm>
          <a:prstGeom prst="rect">
            <a:avLst/>
          </a:prstGeom>
          <a:solidFill>
            <a:srgbClr val="5B7BE0">
              <a:alpha val="38000"/>
            </a:srgbClr>
          </a:solidFill>
          <a:ln w="9525">
            <a:solidFill>
              <a:srgbClr val="5B7BE0"/>
            </a:solidFill>
            <a:prstDash val="dash"/>
          </a:ln>
        </p:spPr>
      </p:sp>
      <p:sp>
        <p:nvSpPr>
          <p:cNvPr id="152" name="text_871"/>
          <p:cNvSpPr txBox="1"/>
          <p:nvPr/>
        </p:nvSpPr>
        <p:spPr>
          <a:xfrm>
            <a:off x="8211312" y="2889504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@ t1</a:t>
            </a:r>
            <a:endParaRPr lang="en-US" sz="850" dirty="0"/>
          </a:p>
        </p:txBody>
      </p:sp>
      <p:sp>
        <p:nvSpPr>
          <p:cNvPr id="153" name="box_872"/>
          <p:cNvSpPr/>
          <p:nvPr/>
        </p:nvSpPr>
        <p:spPr>
          <a:xfrm>
            <a:off x="8897112" y="2889504"/>
            <a:ext cx="101041" cy="118872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154" name="text_873"/>
          <p:cNvSpPr txBox="1"/>
          <p:nvPr/>
        </p:nvSpPr>
        <p:spPr>
          <a:xfrm>
            <a:off x="8897112" y="2889504"/>
            <a:ext cx="10104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55" name="box_874"/>
          <p:cNvSpPr/>
          <p:nvPr/>
        </p:nvSpPr>
        <p:spPr>
          <a:xfrm>
            <a:off x="9025585" y="2889504"/>
            <a:ext cx="118872" cy="118872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56" name="box_875"/>
          <p:cNvSpPr/>
          <p:nvPr/>
        </p:nvSpPr>
        <p:spPr>
          <a:xfrm>
            <a:off x="9171889" y="2889504"/>
            <a:ext cx="118872" cy="118872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57" name="box_876"/>
          <p:cNvSpPr/>
          <p:nvPr/>
        </p:nvSpPr>
        <p:spPr>
          <a:xfrm>
            <a:off x="9318193" y="2889504"/>
            <a:ext cx="118872" cy="118872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58" name="box_877"/>
          <p:cNvSpPr/>
          <p:nvPr/>
        </p:nvSpPr>
        <p:spPr>
          <a:xfrm>
            <a:off x="9464497" y="2889504"/>
            <a:ext cx="118872" cy="118872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59" name="box_878"/>
          <p:cNvSpPr/>
          <p:nvPr/>
        </p:nvSpPr>
        <p:spPr>
          <a:xfrm>
            <a:off x="9610801" y="2889504"/>
            <a:ext cx="118872" cy="118872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60" name="box_879"/>
          <p:cNvSpPr/>
          <p:nvPr/>
        </p:nvSpPr>
        <p:spPr>
          <a:xfrm>
            <a:off x="9757105" y="2889504"/>
            <a:ext cx="118872" cy="118872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61" name="box_880"/>
          <p:cNvSpPr/>
          <p:nvPr/>
        </p:nvSpPr>
        <p:spPr>
          <a:xfrm>
            <a:off x="9903409" y="2889504"/>
            <a:ext cx="118872" cy="118872"/>
          </a:xfrm>
          <a:prstGeom prst="rect">
            <a:avLst/>
          </a:prstGeom>
          <a:solidFill>
            <a:srgbClr val="2FA8A0">
              <a:alpha val="38000"/>
            </a:srgbClr>
          </a:solidFill>
          <a:ln w="9525">
            <a:solidFill>
              <a:srgbClr val="2FA8A0"/>
            </a:solidFill>
            <a:prstDash val="dash"/>
          </a:ln>
        </p:spPr>
      </p:sp>
      <p:sp>
        <p:nvSpPr>
          <p:cNvPr id="162" name="text_881"/>
          <p:cNvSpPr txBox="1"/>
          <p:nvPr/>
        </p:nvSpPr>
        <p:spPr>
          <a:xfrm>
            <a:off x="8211312" y="3040380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@ t2</a:t>
            </a:r>
            <a:endParaRPr lang="en-US" sz="850" dirty="0"/>
          </a:p>
        </p:txBody>
      </p:sp>
      <p:sp>
        <p:nvSpPr>
          <p:cNvPr id="163" name="box_882"/>
          <p:cNvSpPr/>
          <p:nvPr/>
        </p:nvSpPr>
        <p:spPr>
          <a:xfrm>
            <a:off x="8897112" y="3040380"/>
            <a:ext cx="101041" cy="118872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164" name="text_883"/>
          <p:cNvSpPr txBox="1"/>
          <p:nvPr/>
        </p:nvSpPr>
        <p:spPr>
          <a:xfrm>
            <a:off x="8897112" y="3040380"/>
            <a:ext cx="10104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65" name="box_884"/>
          <p:cNvSpPr/>
          <p:nvPr/>
        </p:nvSpPr>
        <p:spPr>
          <a:xfrm>
            <a:off x="9025585" y="3040380"/>
            <a:ext cx="118872" cy="118872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66" name="box_885"/>
          <p:cNvSpPr/>
          <p:nvPr/>
        </p:nvSpPr>
        <p:spPr>
          <a:xfrm>
            <a:off x="9171889" y="3040380"/>
            <a:ext cx="118872" cy="118872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67" name="box_886"/>
          <p:cNvSpPr/>
          <p:nvPr/>
        </p:nvSpPr>
        <p:spPr>
          <a:xfrm>
            <a:off x="9318193" y="3040380"/>
            <a:ext cx="118872" cy="118872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68" name="box_887"/>
          <p:cNvSpPr/>
          <p:nvPr/>
        </p:nvSpPr>
        <p:spPr>
          <a:xfrm>
            <a:off x="9464497" y="3040380"/>
            <a:ext cx="118872" cy="118872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69" name="box_888"/>
          <p:cNvSpPr/>
          <p:nvPr/>
        </p:nvSpPr>
        <p:spPr>
          <a:xfrm>
            <a:off x="9610801" y="3040380"/>
            <a:ext cx="118872" cy="118872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70" name="box_889"/>
          <p:cNvSpPr/>
          <p:nvPr/>
        </p:nvSpPr>
        <p:spPr>
          <a:xfrm>
            <a:off x="9757105" y="3040380"/>
            <a:ext cx="118872" cy="118872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71" name="box_890"/>
          <p:cNvSpPr/>
          <p:nvPr/>
        </p:nvSpPr>
        <p:spPr>
          <a:xfrm>
            <a:off x="9903409" y="3040380"/>
            <a:ext cx="118872" cy="118872"/>
          </a:xfrm>
          <a:prstGeom prst="rect">
            <a:avLst/>
          </a:prstGeom>
          <a:solidFill>
            <a:srgbClr val="73C95C">
              <a:alpha val="38000"/>
            </a:srgbClr>
          </a:solidFill>
          <a:ln w="9525">
            <a:solidFill>
              <a:srgbClr val="73C95C"/>
            </a:solidFill>
            <a:prstDash val="dash"/>
          </a:ln>
        </p:spPr>
      </p:sp>
      <p:sp>
        <p:nvSpPr>
          <p:cNvPr id="172" name="text_891"/>
          <p:cNvSpPr txBox="1"/>
          <p:nvPr/>
        </p:nvSpPr>
        <p:spPr>
          <a:xfrm>
            <a:off x="8211312" y="3191256"/>
            <a:ext cx="612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@ t3</a:t>
            </a:r>
            <a:endParaRPr lang="en-US" sz="850" dirty="0"/>
          </a:p>
        </p:txBody>
      </p:sp>
      <p:sp>
        <p:nvSpPr>
          <p:cNvPr id="173" name="box_892"/>
          <p:cNvSpPr/>
          <p:nvPr/>
        </p:nvSpPr>
        <p:spPr>
          <a:xfrm>
            <a:off x="8897112" y="3191256"/>
            <a:ext cx="101041" cy="118872"/>
          </a:xfrm>
          <a:prstGeom prst="rect">
            <a:avLst/>
          </a:prstGeom>
          <a:solidFill>
            <a:srgbClr val="1D2739"/>
          </a:solidFill>
          <a:ln w="9525">
            <a:solidFill>
              <a:srgbClr val="6B778D"/>
            </a:solidFill>
            <a:prstDash val="solid"/>
          </a:ln>
        </p:spPr>
      </p:sp>
      <p:sp>
        <p:nvSpPr>
          <p:cNvPr id="174" name="text_893"/>
          <p:cNvSpPr txBox="1"/>
          <p:nvPr/>
        </p:nvSpPr>
        <p:spPr>
          <a:xfrm>
            <a:off x="8897112" y="3191256"/>
            <a:ext cx="10104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75" name="box_894"/>
          <p:cNvSpPr/>
          <p:nvPr/>
        </p:nvSpPr>
        <p:spPr>
          <a:xfrm>
            <a:off x="9025585" y="3191256"/>
            <a:ext cx="118872" cy="118872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76" name="box_895"/>
          <p:cNvSpPr/>
          <p:nvPr/>
        </p:nvSpPr>
        <p:spPr>
          <a:xfrm>
            <a:off x="9171889" y="3191256"/>
            <a:ext cx="118872" cy="118872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77" name="box_896"/>
          <p:cNvSpPr/>
          <p:nvPr/>
        </p:nvSpPr>
        <p:spPr>
          <a:xfrm>
            <a:off x="9318193" y="3191256"/>
            <a:ext cx="118872" cy="118872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78" name="box_897"/>
          <p:cNvSpPr/>
          <p:nvPr/>
        </p:nvSpPr>
        <p:spPr>
          <a:xfrm>
            <a:off x="9464497" y="3191256"/>
            <a:ext cx="118872" cy="118872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79" name="box_898"/>
          <p:cNvSpPr/>
          <p:nvPr/>
        </p:nvSpPr>
        <p:spPr>
          <a:xfrm>
            <a:off x="9610801" y="3191256"/>
            <a:ext cx="118872" cy="118872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80" name="box_899"/>
          <p:cNvSpPr/>
          <p:nvPr/>
        </p:nvSpPr>
        <p:spPr>
          <a:xfrm>
            <a:off x="9757105" y="3191256"/>
            <a:ext cx="118872" cy="118872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81" name="box_900"/>
          <p:cNvSpPr/>
          <p:nvPr/>
        </p:nvSpPr>
        <p:spPr>
          <a:xfrm>
            <a:off x="9903409" y="3191256"/>
            <a:ext cx="118872" cy="118872"/>
          </a:xfrm>
          <a:prstGeom prst="rect">
            <a:avLst/>
          </a:prstGeom>
          <a:solidFill>
            <a:srgbClr val="E8D44D">
              <a:alpha val="38000"/>
            </a:srgbClr>
          </a:solidFill>
          <a:ln w="9525">
            <a:solidFill>
              <a:srgbClr val="E8D44D"/>
            </a:solidFill>
            <a:prstDash val="dash"/>
          </a:ln>
        </p:spPr>
      </p:sp>
      <p:sp>
        <p:nvSpPr>
          <p:cNvPr id="182" name="text_901"/>
          <p:cNvSpPr txBox="1"/>
          <p:nvPr/>
        </p:nvSpPr>
        <p:spPr>
          <a:xfrm>
            <a:off x="10040112" y="2286000"/>
            <a:ext cx="8229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183" name="box_902"/>
          <p:cNvSpPr/>
          <p:nvPr/>
        </p:nvSpPr>
        <p:spPr>
          <a:xfrm>
            <a:off x="10177272" y="2286000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84" name="box_903"/>
          <p:cNvSpPr/>
          <p:nvPr/>
        </p:nvSpPr>
        <p:spPr>
          <a:xfrm>
            <a:off x="10328148" y="228600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5" name="box_904"/>
          <p:cNvSpPr/>
          <p:nvPr/>
        </p:nvSpPr>
        <p:spPr>
          <a:xfrm>
            <a:off x="10479024" y="228600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6" name="box_905"/>
          <p:cNvSpPr/>
          <p:nvPr/>
        </p:nvSpPr>
        <p:spPr>
          <a:xfrm>
            <a:off x="10629900" y="228600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7" name="box_906"/>
          <p:cNvSpPr/>
          <p:nvPr/>
        </p:nvSpPr>
        <p:spPr>
          <a:xfrm>
            <a:off x="10780776" y="228600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8" name="box_907"/>
          <p:cNvSpPr/>
          <p:nvPr/>
        </p:nvSpPr>
        <p:spPr>
          <a:xfrm>
            <a:off x="10931652" y="228600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9" name="box_908"/>
          <p:cNvSpPr/>
          <p:nvPr/>
        </p:nvSpPr>
        <p:spPr>
          <a:xfrm>
            <a:off x="11082528" y="228600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0" name="text_909"/>
          <p:cNvSpPr txBox="1"/>
          <p:nvPr/>
        </p:nvSpPr>
        <p:spPr>
          <a:xfrm>
            <a:off x="10040112" y="2436876"/>
            <a:ext cx="8229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191" name="box_910"/>
          <p:cNvSpPr/>
          <p:nvPr/>
        </p:nvSpPr>
        <p:spPr>
          <a:xfrm>
            <a:off x="10177272" y="2436876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92" name="box_911"/>
          <p:cNvSpPr/>
          <p:nvPr/>
        </p:nvSpPr>
        <p:spPr>
          <a:xfrm>
            <a:off x="10328148" y="2436876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93" name="box_912"/>
          <p:cNvSpPr/>
          <p:nvPr/>
        </p:nvSpPr>
        <p:spPr>
          <a:xfrm>
            <a:off x="10479024" y="243687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4" name="box_913"/>
          <p:cNvSpPr/>
          <p:nvPr/>
        </p:nvSpPr>
        <p:spPr>
          <a:xfrm>
            <a:off x="10629900" y="243687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5" name="box_914"/>
          <p:cNvSpPr/>
          <p:nvPr/>
        </p:nvSpPr>
        <p:spPr>
          <a:xfrm>
            <a:off x="10780776" y="243687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6" name="box_915"/>
          <p:cNvSpPr/>
          <p:nvPr/>
        </p:nvSpPr>
        <p:spPr>
          <a:xfrm>
            <a:off x="10931652" y="243687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7" name="box_916"/>
          <p:cNvSpPr/>
          <p:nvPr/>
        </p:nvSpPr>
        <p:spPr>
          <a:xfrm>
            <a:off x="11082528" y="243687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8" name="text_917"/>
          <p:cNvSpPr txBox="1"/>
          <p:nvPr/>
        </p:nvSpPr>
        <p:spPr>
          <a:xfrm>
            <a:off x="10040112" y="2587752"/>
            <a:ext cx="8229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199" name="box_918"/>
          <p:cNvSpPr/>
          <p:nvPr/>
        </p:nvSpPr>
        <p:spPr>
          <a:xfrm>
            <a:off x="10177272" y="2587752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00" name="box_919"/>
          <p:cNvSpPr/>
          <p:nvPr/>
        </p:nvSpPr>
        <p:spPr>
          <a:xfrm>
            <a:off x="10328148" y="2587752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01" name="box_920"/>
          <p:cNvSpPr/>
          <p:nvPr/>
        </p:nvSpPr>
        <p:spPr>
          <a:xfrm>
            <a:off x="10479024" y="2587752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02" name="box_921"/>
          <p:cNvSpPr/>
          <p:nvPr/>
        </p:nvSpPr>
        <p:spPr>
          <a:xfrm>
            <a:off x="10629900" y="2587752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03" name="box_922"/>
          <p:cNvSpPr/>
          <p:nvPr/>
        </p:nvSpPr>
        <p:spPr>
          <a:xfrm>
            <a:off x="10780776" y="2587752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04" name="box_923"/>
          <p:cNvSpPr/>
          <p:nvPr/>
        </p:nvSpPr>
        <p:spPr>
          <a:xfrm>
            <a:off x="10931652" y="2587752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05" name="box_924"/>
          <p:cNvSpPr/>
          <p:nvPr/>
        </p:nvSpPr>
        <p:spPr>
          <a:xfrm>
            <a:off x="11082528" y="2587752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06" name="text_925"/>
          <p:cNvSpPr txBox="1"/>
          <p:nvPr/>
        </p:nvSpPr>
        <p:spPr>
          <a:xfrm>
            <a:off x="10040112" y="2738628"/>
            <a:ext cx="8229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207" name="box_926"/>
          <p:cNvSpPr/>
          <p:nvPr/>
        </p:nvSpPr>
        <p:spPr>
          <a:xfrm>
            <a:off x="10177272" y="273862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08" name="box_927"/>
          <p:cNvSpPr/>
          <p:nvPr/>
        </p:nvSpPr>
        <p:spPr>
          <a:xfrm>
            <a:off x="10328148" y="273862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09" name="box_928"/>
          <p:cNvSpPr/>
          <p:nvPr/>
        </p:nvSpPr>
        <p:spPr>
          <a:xfrm>
            <a:off x="10479024" y="273862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0" name="box_929"/>
          <p:cNvSpPr/>
          <p:nvPr/>
        </p:nvSpPr>
        <p:spPr>
          <a:xfrm>
            <a:off x="10629900" y="2738628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11" name="box_930"/>
          <p:cNvSpPr/>
          <p:nvPr/>
        </p:nvSpPr>
        <p:spPr>
          <a:xfrm>
            <a:off x="10780776" y="273862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2" name="box_931"/>
          <p:cNvSpPr/>
          <p:nvPr/>
        </p:nvSpPr>
        <p:spPr>
          <a:xfrm>
            <a:off x="10931652" y="273862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3" name="box_932"/>
          <p:cNvSpPr/>
          <p:nvPr/>
        </p:nvSpPr>
        <p:spPr>
          <a:xfrm>
            <a:off x="11082528" y="2738628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4" name="text_933"/>
          <p:cNvSpPr txBox="1"/>
          <p:nvPr/>
        </p:nvSpPr>
        <p:spPr>
          <a:xfrm>
            <a:off x="10040112" y="2889504"/>
            <a:ext cx="8229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215" name="box_934"/>
          <p:cNvSpPr/>
          <p:nvPr/>
        </p:nvSpPr>
        <p:spPr>
          <a:xfrm>
            <a:off x="10177272" y="2889504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16" name="box_935"/>
          <p:cNvSpPr/>
          <p:nvPr/>
        </p:nvSpPr>
        <p:spPr>
          <a:xfrm>
            <a:off x="10328148" y="288950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7" name="box_936"/>
          <p:cNvSpPr/>
          <p:nvPr/>
        </p:nvSpPr>
        <p:spPr>
          <a:xfrm>
            <a:off x="10479024" y="288950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8" name="box_937"/>
          <p:cNvSpPr/>
          <p:nvPr/>
        </p:nvSpPr>
        <p:spPr>
          <a:xfrm>
            <a:off x="10629900" y="288950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9" name="box_938"/>
          <p:cNvSpPr/>
          <p:nvPr/>
        </p:nvSpPr>
        <p:spPr>
          <a:xfrm>
            <a:off x="10780776" y="2889504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20" name="box_939"/>
          <p:cNvSpPr/>
          <p:nvPr/>
        </p:nvSpPr>
        <p:spPr>
          <a:xfrm>
            <a:off x="10931652" y="288950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21" name="box_940"/>
          <p:cNvSpPr/>
          <p:nvPr/>
        </p:nvSpPr>
        <p:spPr>
          <a:xfrm>
            <a:off x="11082528" y="2889504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22" name="text_941"/>
          <p:cNvSpPr txBox="1"/>
          <p:nvPr/>
        </p:nvSpPr>
        <p:spPr>
          <a:xfrm>
            <a:off x="10040112" y="3040380"/>
            <a:ext cx="8229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223" name="box_942"/>
          <p:cNvSpPr/>
          <p:nvPr/>
        </p:nvSpPr>
        <p:spPr>
          <a:xfrm>
            <a:off x="10177272" y="3040380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24" name="box_943"/>
          <p:cNvSpPr/>
          <p:nvPr/>
        </p:nvSpPr>
        <p:spPr>
          <a:xfrm>
            <a:off x="10328148" y="3040380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25" name="box_944"/>
          <p:cNvSpPr/>
          <p:nvPr/>
        </p:nvSpPr>
        <p:spPr>
          <a:xfrm>
            <a:off x="10479024" y="304038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26" name="box_945"/>
          <p:cNvSpPr/>
          <p:nvPr/>
        </p:nvSpPr>
        <p:spPr>
          <a:xfrm>
            <a:off x="10629900" y="304038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27" name="box_946"/>
          <p:cNvSpPr/>
          <p:nvPr/>
        </p:nvSpPr>
        <p:spPr>
          <a:xfrm>
            <a:off x="10780776" y="304038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28" name="box_947"/>
          <p:cNvSpPr/>
          <p:nvPr/>
        </p:nvSpPr>
        <p:spPr>
          <a:xfrm>
            <a:off x="10931652" y="3040380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29" name="box_948"/>
          <p:cNvSpPr/>
          <p:nvPr/>
        </p:nvSpPr>
        <p:spPr>
          <a:xfrm>
            <a:off x="11082528" y="3040380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30" name="text_949"/>
          <p:cNvSpPr txBox="1"/>
          <p:nvPr/>
        </p:nvSpPr>
        <p:spPr>
          <a:xfrm>
            <a:off x="10040112" y="3191256"/>
            <a:ext cx="8229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231" name="box_950"/>
          <p:cNvSpPr/>
          <p:nvPr/>
        </p:nvSpPr>
        <p:spPr>
          <a:xfrm>
            <a:off x="10177272" y="3191256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32" name="box_951"/>
          <p:cNvSpPr/>
          <p:nvPr/>
        </p:nvSpPr>
        <p:spPr>
          <a:xfrm>
            <a:off x="10328148" y="3191256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33" name="box_952"/>
          <p:cNvSpPr/>
          <p:nvPr/>
        </p:nvSpPr>
        <p:spPr>
          <a:xfrm>
            <a:off x="10479024" y="3191256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34" name="box_953"/>
          <p:cNvSpPr/>
          <p:nvPr/>
        </p:nvSpPr>
        <p:spPr>
          <a:xfrm>
            <a:off x="10629900" y="319125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35" name="box_954"/>
          <p:cNvSpPr/>
          <p:nvPr/>
        </p:nvSpPr>
        <p:spPr>
          <a:xfrm>
            <a:off x="10780776" y="319125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36" name="box_955"/>
          <p:cNvSpPr/>
          <p:nvPr/>
        </p:nvSpPr>
        <p:spPr>
          <a:xfrm>
            <a:off x="10931652" y="3191256"/>
            <a:ext cx="132588" cy="132588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37" name="box_956"/>
          <p:cNvSpPr/>
          <p:nvPr/>
        </p:nvSpPr>
        <p:spPr>
          <a:xfrm>
            <a:off x="11082528" y="3191256"/>
            <a:ext cx="132588" cy="132588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38" name="text_957"/>
          <p:cNvSpPr txBox="1"/>
          <p:nvPr/>
        </p:nvSpPr>
        <p:spPr>
          <a:xfrm>
            <a:off x="9994392" y="3360420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39" name="text_958"/>
          <p:cNvSpPr txBox="1"/>
          <p:nvPr/>
        </p:nvSpPr>
        <p:spPr>
          <a:xfrm>
            <a:off x="10145268" y="3360420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40" name="text_959"/>
          <p:cNvSpPr txBox="1"/>
          <p:nvPr/>
        </p:nvSpPr>
        <p:spPr>
          <a:xfrm>
            <a:off x="10296144" y="3360420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41" name="text_960"/>
          <p:cNvSpPr txBox="1"/>
          <p:nvPr/>
        </p:nvSpPr>
        <p:spPr>
          <a:xfrm>
            <a:off x="10447020" y="3360420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42" name="text_961"/>
          <p:cNvSpPr txBox="1"/>
          <p:nvPr/>
        </p:nvSpPr>
        <p:spPr>
          <a:xfrm>
            <a:off x="10597896" y="3360420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43" name="text_962"/>
          <p:cNvSpPr txBox="1"/>
          <p:nvPr/>
        </p:nvSpPr>
        <p:spPr>
          <a:xfrm>
            <a:off x="10748772" y="3360420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44" name="text_963"/>
          <p:cNvSpPr txBox="1"/>
          <p:nvPr/>
        </p:nvSpPr>
        <p:spPr>
          <a:xfrm>
            <a:off x="10899648" y="3360420"/>
            <a:ext cx="516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45" name="text_964"/>
          <p:cNvSpPr txBox="1"/>
          <p:nvPr/>
        </p:nvSpPr>
        <p:spPr>
          <a:xfrm>
            <a:off x="8211312" y="3429000"/>
            <a:ext cx="3264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frequency mask, t per stage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conditional ODEs (UniPC 46 calls)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 GFLOP / training image</a:t>
            </a:r>
            <a:endParaRPr lang="en-US" sz="1150" dirty="0"/>
          </a:p>
        </p:txBody>
      </p:sp>
      <p:sp>
        <p:nvSpPr>
          <p:cNvPr id="246" name="box_965"/>
          <p:cNvSpPr/>
          <p:nvPr/>
        </p:nvSpPr>
        <p:spPr>
          <a:xfrm>
            <a:off x="548640" y="45262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47" name="text_966"/>
          <p:cNvSpPr txBox="1"/>
          <p:nvPr/>
        </p:nvSpPr>
        <p:spPr>
          <a:xfrm>
            <a:off x="731520" y="461772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A1 − A0</a:t>
            </a:r>
            <a:r>
              <a:rPr lang="en-US" sz="14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matched architectural test
</a:t>
            </a:r>
            <a:r>
              <a:rPr lang="en-US" sz="13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blocks and parameter count; only slot set, mask and per-stage objective differ → effect of causal frequency factorization</a:t>
            </a:r>
            <a:endParaRPr lang="en-US" sz="1400" dirty="0"/>
          </a:p>
        </p:txBody>
      </p:sp>
      <p:sp>
        <p:nvSpPr>
          <p:cNvPr id="248" name="box_967"/>
          <p:cNvSpPr/>
          <p:nvPr/>
        </p:nvSpPr>
        <p:spPr>
          <a:xfrm>
            <a:off x="6153912" y="4526280"/>
            <a:ext cx="5477256" cy="1234440"/>
          </a:xfrm>
          <a:prstGeom prst="roundRect">
            <a:avLst>
              <a:gd name="adj" fmla="val 5926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49" name="text_968"/>
          <p:cNvSpPr txBox="1"/>
          <p:nvPr/>
        </p:nvSpPr>
        <p:spPr>
          <a:xfrm>
            <a:off x="6336792" y="461772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A1 − R0</a:t>
            </a:r>
            <a:r>
              <a:rPr lang="en-US" sz="14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practical competitiveness
</a:t>
            </a:r>
            <a:r>
              <a:rPr lang="en-US" sz="13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confounded by 4× parameters, a different backbone and token design → never read as an architectural effect</a:t>
            </a:r>
            <a:endParaRPr lang="en-US" sz="1400" dirty="0"/>
          </a:p>
        </p:txBody>
      </p:sp>
      <p:sp>
        <p:nvSpPr>
          <p:cNvPr id="250" name="text_969"/>
          <p:cNvSpPr txBox="1"/>
          <p:nvPr/>
        </p:nvSpPr>
        <p:spPr>
          <a:xfrm>
            <a:off x="548640" y="5870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spatial-causal, 256-token staged and channel-mask designs were dropped (appendix A5).</a:t>
            </a:r>
            <a:endParaRPr lang="en-US" sz="1150" dirty="0"/>
          </a:p>
        </p:txBody>
      </p:sp>
      <p:sp>
        <p:nvSpPr>
          <p:cNvPr id="251" name="text_970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Configs: third_party/DCTdiff/configs/ffhq64_exp.py (r0, a0_d256, a1_d256). Training FLOPs: FlopCounterMode, ffhq64/mature/summary.json.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  ·  32×32, 2×2 block DCT, 3 groups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CIFAR-10: causality looked nearly free, then plateaued</a:t>
            </a:r>
            <a:endParaRPr lang="en-US" sz="2800" dirty="0"/>
          </a:p>
        </p:txBody>
      </p:sp>
      <p:pic>
        <p:nvPicPr>
          <p:cNvPr id="4" name="img_971" descr="/home/nada/PycharmProjects/learned-spectral-basis/.claude/worktrees/shai-deck/reports/shai_deck/figures/plots/cifar_fid_vs_h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6084451" cy="3749040"/>
          </a:xfrm>
          <a:prstGeom prst="rect">
            <a:avLst/>
          </a:prstGeom>
        </p:spPr>
      </p:pic>
      <p:sp>
        <p:nvSpPr>
          <p:cNvPr id="5" name="box_972"/>
          <p:cNvSpPr/>
          <p:nvPr/>
        </p:nvSpPr>
        <p:spPr>
          <a:xfrm>
            <a:off x="7315200" y="14356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_973"/>
          <p:cNvSpPr txBox="1"/>
          <p:nvPr/>
        </p:nvSpPr>
        <p:spPr>
          <a:xfrm>
            <a:off x="7571232" y="1371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Early: A1 ≈ A0</a:t>
            </a:r>
            <a:endParaRPr lang="en-US" sz="1350" dirty="0"/>
          </a:p>
        </p:txBody>
      </p:sp>
      <p:sp>
        <p:nvSpPr>
          <p:cNvPr id="7" name="text_974"/>
          <p:cNvSpPr txBox="1"/>
          <p:nvPr/>
        </p:nvSpPr>
        <p:spPr>
          <a:xfrm>
            <a:off x="7571232" y="16367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A1/A0 = 1.05 at 100k (D192), recall −0.023</a:t>
            </a:r>
            <a:endParaRPr lang="en-US" sz="1150" dirty="0"/>
          </a:p>
        </p:txBody>
      </p:sp>
      <p:sp>
        <p:nvSpPr>
          <p:cNvPr id="8" name="box_975"/>
          <p:cNvSpPr/>
          <p:nvPr/>
        </p:nvSpPr>
        <p:spPr>
          <a:xfrm>
            <a:off x="7315200" y="2039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</p:sp>
      <p:sp>
        <p:nvSpPr>
          <p:cNvPr id="9" name="text_976"/>
          <p:cNvSpPr txBox="1"/>
          <p:nvPr/>
        </p:nvSpPr>
        <p:spPr>
          <a:xfrm>
            <a:off x="7571232" y="19751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Mature: A0 kept improving</a:t>
            </a:r>
            <a:endParaRPr lang="en-US" sz="1350" dirty="0"/>
          </a:p>
        </p:txBody>
      </p:sp>
      <p:sp>
        <p:nvSpPr>
          <p:cNvPr id="10" name="text_977"/>
          <p:cNvSpPr txBox="1"/>
          <p:nvPr/>
        </p:nvSpPr>
        <p:spPr>
          <a:xfrm>
            <a:off x="7571232" y="2240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D256: A0/A1 0.95 → 0.83 at 250k; A1 plateau ≈ 12.8</a:t>
            </a:r>
            <a:endParaRPr lang="en-US" sz="1150" dirty="0"/>
          </a:p>
        </p:txBody>
      </p:sp>
      <p:sp>
        <p:nvSpPr>
          <p:cNvPr id="11" name="box_978"/>
          <p:cNvSpPr/>
          <p:nvPr/>
        </p:nvSpPr>
        <p:spPr>
          <a:xfrm>
            <a:off x="7315200" y="264261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2" name="text_979"/>
          <p:cNvSpPr txBox="1"/>
          <p:nvPr/>
        </p:nvSpPr>
        <p:spPr>
          <a:xfrm>
            <a:off x="7571232" y="2578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helped</a:t>
            </a:r>
            <a:endParaRPr lang="en-US" sz="1350" dirty="0"/>
          </a:p>
        </p:txBody>
      </p:sp>
      <p:sp>
        <p:nvSpPr>
          <p:cNvPr id="13" name="text_980"/>
          <p:cNvSpPr txBox="1"/>
          <p:nvPr/>
        </p:nvSpPr>
        <p:spPr>
          <a:xfrm>
            <a:off x="7571232" y="28437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D192 → D256: 18.43 → 14.77 at 100k</a:t>
            </a:r>
            <a:endParaRPr lang="en-US" sz="1150" dirty="0"/>
          </a:p>
        </p:txBody>
      </p:sp>
      <p:sp>
        <p:nvSpPr>
          <p:cNvPr id="14" name="box_981"/>
          <p:cNvSpPr/>
          <p:nvPr/>
        </p:nvSpPr>
        <p:spPr>
          <a:xfrm>
            <a:off x="7315200" y="32461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5" name="text_982"/>
          <p:cNvSpPr txBox="1"/>
          <p:nvPr/>
        </p:nvSpPr>
        <p:spPr>
          <a:xfrm>
            <a:off x="7571232" y="3182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stages ≠ better</a:t>
            </a:r>
            <a:endParaRPr lang="en-US" sz="1350" dirty="0"/>
          </a:p>
        </p:txBody>
      </p:sp>
      <p:sp>
        <p:nvSpPr>
          <p:cNvPr id="16" name="text_983"/>
          <p:cNvSpPr txBox="1"/>
          <p:nvPr/>
        </p:nvSpPr>
        <p:spPr>
          <a:xfrm>
            <a:off x="7571232" y="34472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4×4 DCT K3 → K7: 0.95× FID at 2.06× H100-h</a:t>
            </a:r>
            <a:endParaRPr lang="en-US" sz="1150" dirty="0"/>
          </a:p>
        </p:txBody>
      </p:sp>
      <p:sp>
        <p:nvSpPr>
          <p:cNvPr id="17" name="box_984"/>
          <p:cNvSpPr/>
          <p:nvPr/>
        </p:nvSpPr>
        <p:spPr>
          <a:xfrm>
            <a:off x="7315200" y="384962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</p:sp>
      <p:sp>
        <p:nvSpPr>
          <p:cNvPr id="18" name="text_985"/>
          <p:cNvSpPr txBox="1"/>
          <p:nvPr/>
        </p:nvSpPr>
        <p:spPr>
          <a:xfrm>
            <a:off x="7571232" y="37856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Full-image DCT overfit</a:t>
            </a:r>
            <a:endParaRPr lang="en-US" sz="1350" dirty="0"/>
          </a:p>
        </p:txBody>
      </p:sp>
      <p:sp>
        <p:nvSpPr>
          <p:cNvPr id="19" name="text_986"/>
          <p:cNvSpPr txBox="1"/>
          <p:nvPr/>
        </p:nvSpPr>
        <p:spPr>
          <a:xfrm>
            <a:off x="7571232" y="40507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global bands memorise: FID 51.6, recall 0.25</a:t>
            </a:r>
            <a:endParaRPr lang="en-US" sz="1150" dirty="0"/>
          </a:p>
        </p:txBody>
      </p:sp>
      <p:sp>
        <p:nvSpPr>
          <p:cNvPr id="20" name="box_987"/>
          <p:cNvSpPr/>
          <p:nvPr/>
        </p:nvSpPr>
        <p:spPr>
          <a:xfrm>
            <a:off x="7315200" y="44531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21" name="text_988"/>
          <p:cNvSpPr txBox="1"/>
          <p:nvPr/>
        </p:nvSpPr>
        <p:spPr>
          <a:xfrm>
            <a:off x="7571232" y="4389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G₋₁ context, stage noise</a:t>
            </a:r>
            <a:endParaRPr lang="en-US" sz="1350" dirty="0"/>
          </a:p>
        </p:txBody>
      </p:sp>
      <p:sp>
        <p:nvSpPr>
          <p:cNvPr id="22" name="text_989"/>
          <p:cNvSpPr txBox="1"/>
          <p:nvPr/>
        </p:nvSpPr>
        <p:spPr>
          <a:xfrm>
            <a:off x="7571232" y="46542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(1.07×, 1.02× FID)</a:t>
            </a:r>
            <a:endParaRPr lang="en-US" sz="1150" dirty="0"/>
          </a:p>
        </p:txBody>
      </p:sp>
      <p:sp>
        <p:nvSpPr>
          <p:cNvPr id="23" name="text_990"/>
          <p:cNvSpPr txBox="1"/>
          <p:nvPr/>
        </p:nvSpPr>
        <p:spPr>
          <a:xfrm>
            <a:off x="548640" y="51206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seeds · official released DCTdiff 500k (left) vs A1 D192 500k (right): note single-token checkerboards</a:t>
            </a:r>
            <a:endParaRPr lang="en-US" sz="1050" dirty="0"/>
          </a:p>
        </p:txBody>
      </p:sp>
      <p:pic>
        <p:nvPicPr>
          <p:cNvPr id="24" name="img_991" descr="/home/nada/PycharmProjects/learned-spectral-basis/.claude/worktrees/shai-deck/reports/shai_deck/figures/samples/cifar_official500k_rows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394960"/>
            <a:ext cx="2633472" cy="658368"/>
          </a:xfrm>
          <a:prstGeom prst="rect">
            <a:avLst/>
          </a:prstGeom>
        </p:spPr>
      </p:pic>
      <p:pic>
        <p:nvPicPr>
          <p:cNvPr id="25" name="img_992" descr="/home/nada/PycharmProjects/learned-spectral-basis/.claude/worktrees/shai-deck/reports/shai_deck/figures/samples/cifar_a1d192_500k_rows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5394960"/>
            <a:ext cx="2633472" cy="658368"/>
          </a:xfrm>
          <a:prstGeom prst="rect">
            <a:avLst/>
          </a:prstGeom>
        </p:spPr>
      </p:pic>
      <p:sp>
        <p:nvSpPr>
          <p:cNvPr id="26" name="box_993"/>
          <p:cNvSpPr/>
          <p:nvPr/>
        </p:nvSpPr>
        <p:spPr>
          <a:xfrm>
            <a:off x="7315200" y="5138928"/>
            <a:ext cx="4343400" cy="1051560"/>
          </a:xfrm>
          <a:prstGeom prst="roundRect">
            <a:avLst>
              <a:gd name="adj" fmla="val 6957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7" name="text_994"/>
          <p:cNvSpPr txBox="1"/>
          <p:nvPr/>
        </p:nvSpPr>
        <p:spPr>
          <a:xfrm>
            <a:off x="7479792" y="5175504"/>
            <a:ext cx="4069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CIFAR, strict low→high ordering costs a growing share of quality at maturity, and the joint axial backbone is itself 1.35× R0 at equal H100-h. </a:t>
            </a: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generalize to aligned faces?</a:t>
            </a:r>
            <a:endParaRPr lang="en-US" sz="1200" dirty="0"/>
          </a:p>
        </p:txBody>
      </p:sp>
      <p:sp>
        <p:nvSpPr>
          <p:cNvPr id="28" name="text_995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 (DCTdiff’s JPEG-q75 statistics), FID-10K, EMA, Euler NFE 100 per stage. scaling/summary.json (d256_maturity, arms, verdicts). EMA before 100k mostly measures lag, so curves start at 100k.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FFHQ-64  ·  EQUAL TRAINING BUDGET (3.34 H100-h EACH)  ·  EULER [100]×K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FFHQ-64: frequency AR beats its joint control</a:t>
            </a:r>
            <a:endParaRPr lang="en-US" sz="2800" dirty="0"/>
          </a:p>
        </p:txBody>
      </p:sp>
      <p:pic>
        <p:nvPicPr>
          <p:cNvPr id="4" name="img_996" descr="/home/nada/PycharmProjects/learned-spectral-basis/.claude/worktrees/shai-deck/reports/shai_deck/figures/plots/ffhq_matched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297722" cy="3291840"/>
          </a:xfrm>
          <a:prstGeom prst="rect">
            <a:avLst/>
          </a:prstGeom>
        </p:spPr>
      </p:pic>
      <p:sp>
        <p:nvSpPr>
          <p:cNvPr id="5" name="text_997"/>
          <p:cNvSpPr txBox="1"/>
          <p:nvPr/>
        </p:nvSpPr>
        <p:spPr>
          <a:xfrm>
            <a:off x="7498080" y="137160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R0 250k</a:t>
            </a:r>
            <a:endParaRPr lang="en-US" sz="1150" dirty="0"/>
          </a:p>
        </p:txBody>
      </p:sp>
      <p:pic>
        <p:nvPicPr>
          <p:cNvPr id="6" name="img_998" descr="/home/nada/PycharmProjects/learned-spectral-basis/.claude/worktrees/shai-deck/reports/shai_deck/figures/samples/matched_r0_s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371600"/>
            <a:ext cx="804672" cy="804672"/>
          </a:xfrm>
          <a:prstGeom prst="rect">
            <a:avLst/>
          </a:prstGeom>
        </p:spPr>
      </p:pic>
      <p:pic>
        <p:nvPicPr>
          <p:cNvPr id="7" name="img_999" descr="/home/nada/PycharmProjects/learned-spectral-basis/.claude/worktrees/shai-deck/reports/shai_deck/figures/samples/matched_r0_s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1371600"/>
            <a:ext cx="804672" cy="804672"/>
          </a:xfrm>
          <a:prstGeom prst="rect">
            <a:avLst/>
          </a:prstGeom>
        </p:spPr>
      </p:pic>
      <p:pic>
        <p:nvPicPr>
          <p:cNvPr id="8" name="img_1000" descr="/home/nada/PycharmProjects/learned-spectral-basis/.claude/worktrees/shai-deck/reports/shai_deck/figures/samples/matched_r0_s0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371600"/>
            <a:ext cx="804672" cy="804672"/>
          </a:xfrm>
          <a:prstGeom prst="rect">
            <a:avLst/>
          </a:prstGeom>
        </p:spPr>
      </p:pic>
      <p:pic>
        <p:nvPicPr>
          <p:cNvPr id="9" name="img_1001" descr="/home/nada/PycharmProjects/learned-spectral-basis/.claude/worktrees/shai-deck/reports/shai_deck/figures/samples/matched_r0_s0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56" y="1371600"/>
            <a:ext cx="804672" cy="804672"/>
          </a:xfrm>
          <a:prstGeom prst="rect">
            <a:avLst/>
          </a:prstGeom>
        </p:spPr>
      </p:pic>
      <p:sp>
        <p:nvSpPr>
          <p:cNvPr id="10" name="text_1002"/>
          <p:cNvSpPr txBox="1"/>
          <p:nvPr/>
        </p:nvSpPr>
        <p:spPr>
          <a:xfrm>
            <a:off x="7498080" y="228600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A1 146k</a:t>
            </a:r>
            <a:endParaRPr lang="en-US" sz="1150" dirty="0"/>
          </a:p>
        </p:txBody>
      </p:sp>
      <p:pic>
        <p:nvPicPr>
          <p:cNvPr id="11" name="img_1003" descr="/home/nada/PycharmProjects/learned-spectral-basis/.claude/worktrees/shai-deck/reports/shai_deck/figures/samples/matched_a1_d256_s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2286000"/>
            <a:ext cx="804672" cy="804672"/>
          </a:xfrm>
          <a:prstGeom prst="rect">
            <a:avLst/>
          </a:prstGeom>
        </p:spPr>
      </p:pic>
      <p:pic>
        <p:nvPicPr>
          <p:cNvPr id="12" name="img_1004" descr="/home/nada/PycharmProjects/learned-spectral-basis/.claude/worktrees/shai-deck/reports/shai_deck/figures/samples/matched_a1_d256_s0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5984" y="2286000"/>
            <a:ext cx="804672" cy="804672"/>
          </a:xfrm>
          <a:prstGeom prst="rect">
            <a:avLst/>
          </a:prstGeom>
        </p:spPr>
      </p:pic>
      <p:pic>
        <p:nvPicPr>
          <p:cNvPr id="13" name="img_1005" descr="/home/nada/PycharmProjects/learned-spectral-basis/.claude/worktrees/shai-deck/reports/shai_deck/figures/samples/matched_a1_d256_s0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0" y="2286000"/>
            <a:ext cx="804672" cy="804672"/>
          </a:xfrm>
          <a:prstGeom prst="rect">
            <a:avLst/>
          </a:prstGeom>
        </p:spPr>
      </p:pic>
      <p:pic>
        <p:nvPicPr>
          <p:cNvPr id="14" name="img_1006" descr="/home/nada/PycharmProjects/learned-spectral-basis/.claude/worktrees/shai-deck/reports/shai_deck/figures/samples/matched_a1_d256_s0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5056" y="2286000"/>
            <a:ext cx="804672" cy="804672"/>
          </a:xfrm>
          <a:prstGeom prst="rect">
            <a:avLst/>
          </a:prstGeom>
        </p:spPr>
      </p:pic>
      <p:sp>
        <p:nvSpPr>
          <p:cNvPr id="15" name="text_1007"/>
          <p:cNvSpPr txBox="1"/>
          <p:nvPr/>
        </p:nvSpPr>
        <p:spPr>
          <a:xfrm>
            <a:off x="7498080" y="320040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A0 174k</a:t>
            </a:r>
            <a:endParaRPr lang="en-US" sz="1150" dirty="0"/>
          </a:p>
        </p:txBody>
      </p:sp>
      <p:pic>
        <p:nvPicPr>
          <p:cNvPr id="16" name="img_1008" descr="/home/nada/PycharmProjects/learned-spectral-basis/.claude/worktrees/shai-deck/reports/shai_deck/figures/samples/matched_a0_d256_s0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6448" y="3200400"/>
            <a:ext cx="804672" cy="804672"/>
          </a:xfrm>
          <a:prstGeom prst="rect">
            <a:avLst/>
          </a:prstGeom>
        </p:spPr>
      </p:pic>
      <p:pic>
        <p:nvPicPr>
          <p:cNvPr id="17" name="img_1009" descr="/home/nada/PycharmProjects/learned-spectral-basis/.claude/worktrees/shai-deck/reports/shai_deck/figures/samples/matched_a0_d256_s0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5984" y="3200400"/>
            <a:ext cx="804672" cy="804672"/>
          </a:xfrm>
          <a:prstGeom prst="rect">
            <a:avLst/>
          </a:prstGeom>
        </p:spPr>
      </p:pic>
      <p:pic>
        <p:nvPicPr>
          <p:cNvPr id="18" name="img_1010" descr="/home/nada/PycharmProjects/learned-spectral-basis/.claude/worktrees/shai-deck/reports/shai_deck/figures/samples/matched_a0_d256_s0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5520" y="3200400"/>
            <a:ext cx="804672" cy="804672"/>
          </a:xfrm>
          <a:prstGeom prst="rect">
            <a:avLst/>
          </a:prstGeom>
        </p:spPr>
      </p:pic>
      <p:pic>
        <p:nvPicPr>
          <p:cNvPr id="19" name="img_1011" descr="/home/nada/PycharmProjects/learned-spectral-basis/.claude/worktrees/shai-deck/reports/shai_deck/figures/samples/matched_a0_d256_s0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35056" y="3200400"/>
            <a:ext cx="804672" cy="804672"/>
          </a:xfrm>
          <a:prstGeom prst="rect">
            <a:avLst/>
          </a:prstGeom>
        </p:spPr>
      </p:pic>
      <p:sp>
        <p:nvSpPr>
          <p:cNvPr id="20" name="text_1012"/>
          <p:cNvSpPr txBox="1"/>
          <p:nvPr/>
        </p:nvSpPr>
        <p:spPr>
          <a:xfrm>
            <a:off x="7498080" y="44074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std seeds 0–3 for every arm, Euler, uncurated</a:t>
            </a:r>
            <a:endParaRPr lang="en-US" sz="1050" dirty="0"/>
          </a:p>
        </p:txBody>
      </p:sp>
      <p:sp>
        <p:nvSpPr>
          <p:cNvPr id="21" name="box_1013"/>
          <p:cNvSpPr/>
          <p:nvPr/>
        </p:nvSpPr>
        <p:spPr>
          <a:xfrm>
            <a:off x="548640" y="4892040"/>
            <a:ext cx="3611880" cy="1261872"/>
          </a:xfrm>
          <a:prstGeom prst="roundRect">
            <a:avLst>
              <a:gd name="adj" fmla="val 579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22" name="text_1014"/>
          <p:cNvSpPr txBox="1"/>
          <p:nvPr/>
        </p:nvSpPr>
        <p:spPr>
          <a:xfrm>
            <a:off x="713232" y="4983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&gt; A0 on every matched axis but FLOPs</a:t>
            </a:r>
            <a:endParaRPr lang="en-US" sz="1300" dirty="0"/>
          </a:p>
        </p:txBody>
      </p:sp>
      <p:sp>
        <p:nvSpPr>
          <p:cNvPr id="23" name="text_1015"/>
          <p:cNvSpPr txBox="1"/>
          <p:nvPr/>
        </p:nvSpPr>
        <p:spPr>
          <a:xfrm>
            <a:off x="713232" y="5276088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(FID-10K 20.09 vs 25.17 @100k) · H100-h (15.08 vs 18.49) · recall (.323 vs .286); per training FLOP ≈ tie (31.1 vs 17.8 GFLOP/img)</a:t>
            </a:r>
            <a:endParaRPr lang="en-US" sz="1150" dirty="0"/>
          </a:p>
        </p:txBody>
      </p:sp>
      <p:sp>
        <p:nvSpPr>
          <p:cNvPr id="24" name="box_1016"/>
          <p:cNvSpPr/>
          <p:nvPr/>
        </p:nvSpPr>
        <p:spPr>
          <a:xfrm>
            <a:off x="4279392" y="4892040"/>
            <a:ext cx="3611880" cy="1261872"/>
          </a:xfrm>
          <a:prstGeom prst="roundRect">
            <a:avLst>
              <a:gd name="adj" fmla="val 579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25" name="text_1017"/>
          <p:cNvSpPr txBox="1"/>
          <p:nvPr/>
        </p:nvSpPr>
        <p:spPr>
          <a:xfrm>
            <a:off x="4443984" y="4983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CIFAR ranking reversed</a:t>
            </a:r>
            <a:endParaRPr lang="en-US" sz="1300" dirty="0"/>
          </a:p>
        </p:txBody>
      </p:sp>
      <p:sp>
        <p:nvSpPr>
          <p:cNvPr id="26" name="text_1018"/>
          <p:cNvSpPr txBox="1"/>
          <p:nvPr/>
        </p:nvSpPr>
        <p:spPr>
          <a:xfrm>
            <a:off x="4443984" y="5276088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CIFAR: A0/A1 = 0.83 at 250k. FFHQ: A1/A0 = 0.82 at equal hours. Aligned faces may favour layout-first generation — one dataset, one seed per arm.</a:t>
            </a:r>
            <a:endParaRPr lang="en-US" sz="1150" dirty="0"/>
          </a:p>
        </p:txBody>
      </p:sp>
      <p:sp>
        <p:nvSpPr>
          <p:cNvPr id="27" name="box_1019"/>
          <p:cNvSpPr/>
          <p:nvPr/>
        </p:nvSpPr>
        <p:spPr>
          <a:xfrm>
            <a:off x="8010144" y="4892040"/>
            <a:ext cx="3621024" cy="1261872"/>
          </a:xfrm>
          <a:prstGeom prst="roundRect">
            <a:avLst>
              <a:gd name="adj" fmla="val 579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28" name="text_1020"/>
          <p:cNvSpPr txBox="1"/>
          <p:nvPr/>
        </p:nvSpPr>
        <p:spPr>
          <a:xfrm>
            <a:off x="8174736" y="498348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competitive with R0</a:t>
            </a:r>
            <a:endParaRPr lang="en-US" sz="1300" dirty="0"/>
          </a:p>
        </p:txBody>
      </p:sp>
      <p:sp>
        <p:nvSpPr>
          <p:cNvPr id="29" name="text_1021"/>
          <p:cNvSpPr txBox="1"/>
          <p:nvPr/>
        </p:nvSpPr>
        <p:spPr>
          <a:xfrm>
            <a:off x="8174736" y="5276088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= 1.19× R0 FID-50K (pre-registered target ≤ 1.10×), still improving fast at 146k; sampling 1.80× R0’s GPU-s at Euler.</a:t>
            </a:r>
            <a:endParaRPr lang="en-US" sz="1150" dirty="0"/>
          </a:p>
        </p:txBody>
      </p:sp>
      <p:sp>
        <p:nvSpPr>
          <p:cNvPr id="30" name="text_1022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FFHQ64-q90 (jpeg-ar q90, 70k), EDM Inception FID-50K, P/R k=3 at n=50k; EMA; Euler [100] per stage (A1 400 calls, R0/A0 100). ffhq64/summary.json · BandJoint winner: jpeg-ar campaign, same evaluator, 122.5M, its own sampler.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FFHQ-64  ·  A1 MATURITY (BEFORE SOLVER OPTIMIZATION)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training brought A1 close to R0, at higher cost</a:t>
            </a:r>
            <a:endParaRPr lang="en-US" sz="2800" dirty="0"/>
          </a:p>
        </p:txBody>
      </p:sp>
      <p:pic>
        <p:nvPicPr>
          <p:cNvPr id="4" name="img_1023" descr="/home/nada/PycharmProjects/learned-spectral-basis/.claude/worktrees/shai-deck/reports/shai_deck/figures/plots/ffhq_mat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122" y="1298448"/>
            <a:ext cx="9123451" cy="4069080"/>
          </a:xfrm>
          <a:prstGeom prst="rect">
            <a:avLst/>
          </a:prstGeom>
        </p:spPr>
      </p:pic>
      <p:sp>
        <p:nvSpPr>
          <p:cNvPr id="5" name="box_1024"/>
          <p:cNvSpPr/>
          <p:nvPr/>
        </p:nvSpPr>
        <p:spPr>
          <a:xfrm>
            <a:off x="548640" y="5486400"/>
            <a:ext cx="3611880" cy="749808"/>
          </a:xfrm>
          <a:prstGeom prst="roundRect">
            <a:avLst>
              <a:gd name="adj" fmla="val 9756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6" name="text_1025"/>
          <p:cNvSpPr txBox="1"/>
          <p:nvPr/>
        </p:nvSpPr>
        <p:spPr>
          <a:xfrm>
            <a:off x="694944" y="5522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B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Undertrained at 146k</a:t>
            </a:r>
            <a:endParaRPr lang="en-US" sz="1250" dirty="0"/>
          </a:p>
        </p:txBody>
      </p:sp>
      <p:sp>
        <p:nvSpPr>
          <p:cNvPr id="7" name="text_1026"/>
          <p:cNvSpPr txBox="1"/>
          <p:nvPr/>
        </p:nvSpPr>
        <p:spPr>
          <a:xfrm>
            <a:off x="694944" y="576072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pre-registered 200k gate passed: FID-10K 16.32 → 15.24, recall .367 → .385, memorisation 0.03%</a:t>
            </a:r>
            <a:endParaRPr lang="en-US" sz="1050" dirty="0"/>
          </a:p>
        </p:txBody>
      </p:sp>
      <p:sp>
        <p:nvSpPr>
          <p:cNvPr id="8" name="box_1027"/>
          <p:cNvSpPr/>
          <p:nvPr/>
        </p:nvSpPr>
        <p:spPr>
          <a:xfrm>
            <a:off x="4279392" y="5486400"/>
            <a:ext cx="3611880" cy="749808"/>
          </a:xfrm>
          <a:prstGeom prst="roundRect">
            <a:avLst>
              <a:gd name="adj" fmla="val 9756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9" name="text_1028"/>
          <p:cNvSpPr txBox="1"/>
          <p:nvPr/>
        </p:nvSpPr>
        <p:spPr>
          <a:xfrm>
            <a:off x="4425696" y="5522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Approaching a ceiling</a:t>
            </a:r>
            <a:endParaRPr lang="en-US" sz="1250" dirty="0"/>
          </a:p>
        </p:txBody>
      </p:sp>
      <p:sp>
        <p:nvSpPr>
          <p:cNvPr id="10" name="text_1029"/>
          <p:cNvSpPr txBox="1"/>
          <p:nvPr/>
        </p:nvSpPr>
        <p:spPr>
          <a:xfrm>
            <a:off x="4425696" y="576072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→ 250k: −0.31 FID-10K for 1.16 H100-h; FID-50K 13.69 = 1.08× R0 (inside the 1.10× band)</a:t>
            </a:r>
            <a:endParaRPr lang="en-US" sz="1050" dirty="0"/>
          </a:p>
        </p:txBody>
      </p:sp>
      <p:sp>
        <p:nvSpPr>
          <p:cNvPr id="11" name="box_1030"/>
          <p:cNvSpPr/>
          <p:nvPr/>
        </p:nvSpPr>
        <p:spPr>
          <a:xfrm>
            <a:off x="8010144" y="5486400"/>
            <a:ext cx="3611880" cy="749808"/>
          </a:xfrm>
          <a:prstGeom prst="roundRect">
            <a:avLst>
              <a:gd name="adj" fmla="val 9756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2" name="text_1031"/>
          <p:cNvSpPr txBox="1"/>
          <p:nvPr/>
        </p:nvSpPr>
        <p:spPr>
          <a:xfrm>
            <a:off x="8156448" y="5522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0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further extension</a:t>
            </a:r>
            <a:endParaRPr lang="en-US" sz="1250" dirty="0"/>
          </a:p>
        </p:txBody>
      </p:sp>
      <p:sp>
        <p:nvSpPr>
          <p:cNvPr id="13" name="text_1032"/>
          <p:cNvSpPr txBox="1"/>
          <p:nvPr/>
        </p:nvSpPr>
        <p:spPr>
          <a:xfrm>
            <a:off x="8156448" y="576072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5.77 H100-h = 1.72× R0, recall .347 vs .375, G3 tail rate 2.9 → 3.6%: more exposure was not the lever</a:t>
            </a:r>
            <a:endParaRPr lang="en-US" sz="1050" dirty="0"/>
          </a:p>
        </p:txBody>
      </p:sp>
      <p:sp>
        <p:nvSpPr>
          <p:cNvPr id="14" name="text_1033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Euler [100]×K, EMA, q90 ref. a: FID-10K (A1 146k/200k on std seeds; R0/A0 finals = first 10k of their 50k runs). b: FID-50K only where run. ffhq64/summary.json, ffhq64/mature/summary.json, efficiency/baseline.json.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SAMPLER  ·  SAME FROZEN A1 250k WEIGHTS, PAIRED NOISE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UniPC: 400 → 46 evaluations, FID-50K 13.75 → 9.46</a:t>
            </a:r>
            <a:endParaRPr lang="en-US" sz="2800" dirty="0"/>
          </a:p>
        </p:txBody>
      </p:sp>
      <p:sp>
        <p:nvSpPr>
          <p:cNvPr id="4" name="box_1034"/>
          <p:cNvSpPr/>
          <p:nvPr/>
        </p:nvSpPr>
        <p:spPr>
          <a:xfrm>
            <a:off x="548640" y="137160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5" name="text_1035"/>
          <p:cNvSpPr txBox="1"/>
          <p:nvPr/>
        </p:nvSpPr>
        <p:spPr>
          <a:xfrm>
            <a:off x="731520" y="1463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Euler</a:t>
            </a:r>
            <a:endParaRPr lang="en-US" sz="1200" dirty="0"/>
          </a:p>
        </p:txBody>
      </p:sp>
      <p:sp>
        <p:nvSpPr>
          <p:cNvPr id="6" name="text_1036"/>
          <p:cNvSpPr txBox="1"/>
          <p:nvPr/>
        </p:nvSpPr>
        <p:spPr>
          <a:xfrm>
            <a:off x="1554480" y="1463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[100, 100, 100, 100] → 400</a:t>
            </a:r>
            <a:endParaRPr lang="en-US" sz="1300" dirty="0"/>
          </a:p>
        </p:txBody>
      </p:sp>
      <p:sp>
        <p:nvSpPr>
          <p:cNvPr id="7" name="text_1037"/>
          <p:cNvSpPr txBox="1"/>
          <p:nvPr/>
        </p:nvSpPr>
        <p:spPr>
          <a:xfrm>
            <a:off x="731520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UniPC</a:t>
            </a:r>
            <a:endParaRPr lang="en-US" sz="1200" dirty="0"/>
          </a:p>
        </p:txBody>
      </p:sp>
      <p:sp>
        <p:nvSpPr>
          <p:cNvPr id="8" name="text_1038"/>
          <p:cNvSpPr txBox="1"/>
          <p:nvPr/>
        </p:nvSpPr>
        <p:spPr>
          <a:xfrm>
            <a:off x="1554480" y="18288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C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[ 20,  10,   8,   8] →  46</a:t>
            </a:r>
            <a:endParaRPr lang="en-US" sz="1300" dirty="0"/>
          </a:p>
        </p:txBody>
      </p:sp>
      <p:sp>
        <p:nvSpPr>
          <p:cNvPr id="9" name="text_1039"/>
          <p:cNvSpPr txBox="1"/>
          <p:nvPr/>
        </p:nvSpPr>
        <p:spPr>
          <a:xfrm>
            <a:off x="731520" y="2212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for G0, G1, G2, G3 · UniPC-2 bh2, logSNR grid, terminal Euler step</a:t>
            </a:r>
            <a:endParaRPr lang="en-US" sz="1050" dirty="0"/>
          </a:p>
        </p:txBody>
      </p:sp>
      <p:sp>
        <p:nvSpPr>
          <p:cNvPr id="10" name="box_1040"/>
          <p:cNvSpPr/>
          <p:nvPr/>
        </p:nvSpPr>
        <p:spPr>
          <a:xfrm>
            <a:off x="548640" y="2880360"/>
            <a:ext cx="1856232" cy="109728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1" name="text_1041"/>
          <p:cNvSpPr txBox="1"/>
          <p:nvPr/>
        </p:nvSpPr>
        <p:spPr>
          <a:xfrm>
            <a:off x="685800" y="2953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FID-50K</a:t>
            </a:r>
            <a:endParaRPr lang="en-US" sz="1050" dirty="0"/>
          </a:p>
        </p:txBody>
      </p:sp>
      <p:sp>
        <p:nvSpPr>
          <p:cNvPr id="12" name="text_1042"/>
          <p:cNvSpPr txBox="1"/>
          <p:nvPr/>
        </p:nvSpPr>
        <p:spPr>
          <a:xfrm>
            <a:off x="685800" y="31821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9.46</a:t>
            </a:r>
            <a:endParaRPr lang="en-US" sz="2800" dirty="0"/>
          </a:p>
        </p:txBody>
      </p:sp>
      <p:sp>
        <p:nvSpPr>
          <p:cNvPr id="13" name="text_1043"/>
          <p:cNvSpPr txBox="1"/>
          <p:nvPr/>
        </p:nvSpPr>
        <p:spPr>
          <a:xfrm>
            <a:off x="685800" y="366674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13.75  ·  −31%</a:t>
            </a:r>
            <a:endParaRPr lang="en-US" sz="1050" dirty="0"/>
          </a:p>
        </p:txBody>
      </p:sp>
      <p:sp>
        <p:nvSpPr>
          <p:cNvPr id="14" name="box_1044"/>
          <p:cNvSpPr/>
          <p:nvPr/>
        </p:nvSpPr>
        <p:spPr>
          <a:xfrm>
            <a:off x="2468880" y="2880360"/>
            <a:ext cx="1856232" cy="109728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5" name="text_1045"/>
          <p:cNvSpPr txBox="1"/>
          <p:nvPr/>
        </p:nvSpPr>
        <p:spPr>
          <a:xfrm>
            <a:off x="2606040" y="2953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050" dirty="0"/>
          </a:p>
        </p:txBody>
      </p:sp>
      <p:sp>
        <p:nvSpPr>
          <p:cNvPr id="16" name="text_1046"/>
          <p:cNvSpPr txBox="1"/>
          <p:nvPr/>
        </p:nvSpPr>
        <p:spPr>
          <a:xfrm>
            <a:off x="2606040" y="31821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0.413</a:t>
            </a:r>
            <a:endParaRPr lang="en-US" sz="2800" dirty="0"/>
          </a:p>
        </p:txBody>
      </p:sp>
      <p:sp>
        <p:nvSpPr>
          <p:cNvPr id="17" name="text_1047"/>
          <p:cNvSpPr txBox="1"/>
          <p:nvPr/>
        </p:nvSpPr>
        <p:spPr>
          <a:xfrm>
            <a:off x="2606040" y="366674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0.349  ·  +0.064</a:t>
            </a:r>
            <a:endParaRPr lang="en-US" sz="1050" dirty="0"/>
          </a:p>
        </p:txBody>
      </p:sp>
      <p:sp>
        <p:nvSpPr>
          <p:cNvPr id="18" name="box_1048"/>
          <p:cNvSpPr/>
          <p:nvPr/>
        </p:nvSpPr>
        <p:spPr>
          <a:xfrm>
            <a:off x="548640" y="4069080"/>
            <a:ext cx="1856232" cy="109728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9" name="text_1049"/>
          <p:cNvSpPr txBox="1"/>
          <p:nvPr/>
        </p:nvSpPr>
        <p:spPr>
          <a:xfrm>
            <a:off x="685800" y="4142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GPU-s / 50k</a:t>
            </a:r>
            <a:endParaRPr lang="en-US" sz="1050" dirty="0"/>
          </a:p>
        </p:txBody>
      </p:sp>
      <p:sp>
        <p:nvSpPr>
          <p:cNvPr id="20" name="text_1050"/>
          <p:cNvSpPr txBox="1"/>
          <p:nvPr/>
        </p:nvSpPr>
        <p:spPr>
          <a:xfrm>
            <a:off x="685800" y="43708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</a:t>
            </a:r>
            <a:endParaRPr lang="en-US" sz="2800" dirty="0"/>
          </a:p>
        </p:txBody>
      </p:sp>
      <p:sp>
        <p:nvSpPr>
          <p:cNvPr id="21" name="text_1051"/>
          <p:cNvSpPr txBox="1"/>
          <p:nvPr/>
        </p:nvSpPr>
        <p:spPr>
          <a:xfrm>
            <a:off x="685800" y="48554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1662  ·  8.0×</a:t>
            </a:r>
            <a:endParaRPr lang="en-US" sz="1050" dirty="0"/>
          </a:p>
        </p:txBody>
      </p:sp>
      <p:sp>
        <p:nvSpPr>
          <p:cNvPr id="22" name="box_1052"/>
          <p:cNvSpPr/>
          <p:nvPr/>
        </p:nvSpPr>
        <p:spPr>
          <a:xfrm>
            <a:off x="2468880" y="4069080"/>
            <a:ext cx="1856232" cy="1097280"/>
          </a:xfrm>
          <a:prstGeom prst="roundRect">
            <a:avLst>
              <a:gd name="adj" fmla="val 6667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23" name="text_1053"/>
          <p:cNvSpPr txBox="1"/>
          <p:nvPr/>
        </p:nvSpPr>
        <p:spPr>
          <a:xfrm>
            <a:off x="2606040" y="4142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/ image</a:t>
            </a:r>
            <a:endParaRPr lang="en-US" sz="1050" dirty="0"/>
          </a:p>
        </p:txBody>
      </p:sp>
      <p:sp>
        <p:nvSpPr>
          <p:cNvPr id="24" name="text_1054"/>
          <p:cNvSpPr txBox="1"/>
          <p:nvPr/>
        </p:nvSpPr>
        <p:spPr>
          <a:xfrm>
            <a:off x="2606040" y="43708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en-US" sz="2800" dirty="0"/>
          </a:p>
        </p:txBody>
      </p:sp>
      <p:sp>
        <p:nvSpPr>
          <p:cNvPr id="25" name="text_1055"/>
          <p:cNvSpPr txBox="1"/>
          <p:nvPr/>
        </p:nvSpPr>
        <p:spPr>
          <a:xfrm>
            <a:off x="2606040" y="48554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79.9  ·  9.3×</a:t>
            </a:r>
            <a:endParaRPr lang="en-US" sz="1050" dirty="0"/>
          </a:p>
        </p:txBody>
      </p:sp>
      <p:sp>
        <p:nvSpPr>
          <p:cNvPr id="26" name="text_1056"/>
          <p:cNvSpPr txBox="1"/>
          <p:nvPr/>
        </p:nvSpPr>
        <p:spPr>
          <a:xfrm>
            <a:off x="548640" y="532180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matters: G0 needs ≥ 15–20 calls (8 → FID-10K 13.8), G2/G3 tolerate 8; G0 errors amplify 3–4× downstream. Cuts compound non-additively.</a:t>
            </a:r>
            <a:endParaRPr lang="en-US" sz="1100" dirty="0"/>
          </a:p>
        </p:txBody>
      </p:sp>
      <p:pic>
        <p:nvPicPr>
          <p:cNvPr id="27" name="img_1057" descr="/home/nada/PycharmProjects/learned-spectral-basis/.claude/worktrees/shai-deck/reports/shai_deck/figures/plots/unipc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4" y="1325880"/>
            <a:ext cx="6016752" cy="2971800"/>
          </a:xfrm>
          <a:prstGeom prst="rect">
            <a:avLst/>
          </a:prstGeom>
        </p:spPr>
      </p:pic>
      <p:sp>
        <p:nvSpPr>
          <p:cNvPr id="28" name="box_1058"/>
          <p:cNvSpPr/>
          <p:nvPr/>
        </p:nvSpPr>
        <p:spPr>
          <a:xfrm>
            <a:off x="4526280" y="4480560"/>
            <a:ext cx="7114032" cy="1572768"/>
          </a:xfrm>
          <a:prstGeom prst="roundRect">
            <a:avLst>
              <a:gd name="adj" fmla="val 4651"/>
            </a:avLst>
          </a:prstGeom>
          <a:solidFill>
            <a:srgbClr val="1D2739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9" name="text_1059"/>
          <p:cNvSpPr txBox="1"/>
          <p:nvPr/>
        </p:nvSpPr>
        <p:spPr>
          <a:xfrm>
            <a:off x="4709160" y="4572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control: the same solver on R0</a:t>
            </a:r>
            <a:endParaRPr lang="en-US" sz="1400" dirty="0"/>
          </a:p>
        </p:txBody>
      </p:sp>
      <p:sp>
        <p:nvSpPr>
          <p:cNvPr id="30" name="text_1060"/>
          <p:cNvSpPr txBox="1"/>
          <p:nvPr/>
        </p:nvSpPr>
        <p:spPr>
          <a:xfrm>
            <a:off x="4709160" y="4901184"/>
            <a:ext cx="6812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 UniPC-15: </a:t>
            </a:r>
            <a:r>
              <a:rPr lang="en-US" sz="12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FID-50K 8.68</a:t>
            </a: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recall 0.440, 153 GPU-s / 50k, 4.7 ms / image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stays </a:t>
            </a:r>
            <a:r>
              <a:rPr lang="en-US" sz="12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1.09× R0 FID</a:t>
            </a: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</a:t>
            </a:r>
            <a:r>
              <a:rPr lang="en-US" sz="12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vs 15 serial calls</a:t>
            </a: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1.36× GPU-s, 1.84× latency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UniPC is not our contribution, and fewer sampling calls do not make training cheaper</a:t>
            </a:r>
            <a:endParaRPr lang="en-US" sz="1250" dirty="0"/>
          </a:p>
        </p:txBody>
      </p:sp>
      <p:sp>
        <p:nvSpPr>
          <p:cNvPr id="31" name="text_1061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FID-50K on paired H100 std seeds (A1 Euler 13.75 here vs 13.69 on A5000 seeds). Latency: isolated H100 NVL, compiled A1 noisy pass + exact prefix cache, R0 eager. *R0 Euler FID from its A5000 run. efficiency/phase2_verdict.json, bench*.json, runs.json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 ·  A1 250k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A1 fails: later groups lose conditional diversity</a:t>
            </a:r>
            <a:endParaRPr lang="en-US" sz="2800" dirty="0"/>
          </a:p>
        </p:txBody>
      </p:sp>
      <p:pic>
        <p:nvPicPr>
          <p:cNvPr id="4" name="img_1062" descr="/home/nada/PycharmProjects/learned-spectral-basis/.claude/worktrees/shai-deck/reports/shai_deck/figures/plots/stage_diagno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6602343" cy="2514600"/>
          </a:xfrm>
          <a:prstGeom prst="rect">
            <a:avLst/>
          </a:prstGeom>
        </p:spPr>
      </p:pic>
      <p:pic>
        <p:nvPicPr>
          <p:cNvPr id="5" name="img_1063" descr="/home/nada/PycharmProjects/learned-spectral-basis/.claude/worktrees/shai-deck/reports/shai_deck/figures/plots/oracle_pref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828" y="1261872"/>
            <a:ext cx="3367105" cy="2331720"/>
          </a:xfrm>
          <a:prstGeom prst="rect">
            <a:avLst/>
          </a:prstGeom>
        </p:spPr>
      </p:pic>
      <p:sp>
        <p:nvSpPr>
          <p:cNvPr id="6" name="text_1064"/>
          <p:cNvSpPr txBox="1"/>
          <p:nvPr/>
        </p:nvSpPr>
        <p:spPr>
          <a:xfrm>
            <a:off x="8001000" y="3639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real-prefix oracle (Euler sampler)</a:t>
            </a:r>
            <a:endParaRPr lang="en-US" sz="1000" dirty="0"/>
          </a:p>
        </p:txBody>
      </p:sp>
      <p:sp>
        <p:nvSpPr>
          <p:cNvPr id="7" name="text_1065"/>
          <p:cNvSpPr txBox="1"/>
          <p:nvPr/>
        </p:nvSpPr>
        <p:spPr>
          <a:xfrm>
            <a:off x="548640" y="402336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failure appears exactly when G3 is added (worst of 5k)</a:t>
            </a:r>
            <a:endParaRPr lang="en-US" sz="1150" dirty="0"/>
          </a:p>
        </p:txBody>
      </p:sp>
      <p:pic>
        <p:nvPicPr>
          <p:cNvPr id="8" name="img_1066" descr="/home/nada/PycharmProjects/learned-spectral-basis/.claude/worktrees/shai-deck/reports/shai_deck/figures/samples/fail_0_g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15968"/>
            <a:ext cx="749808" cy="749808"/>
          </a:xfrm>
          <a:prstGeom prst="rect">
            <a:avLst/>
          </a:prstGeom>
        </p:spPr>
      </p:pic>
      <p:sp>
        <p:nvSpPr>
          <p:cNvPr id="9" name="text_1067"/>
          <p:cNvSpPr txBox="1"/>
          <p:nvPr/>
        </p:nvSpPr>
        <p:spPr>
          <a:xfrm>
            <a:off x="548640" y="508406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1000" dirty="0"/>
          </a:p>
        </p:txBody>
      </p:sp>
      <p:pic>
        <p:nvPicPr>
          <p:cNvPr id="10" name="img_1068" descr="/home/nada/PycharmProjects/learned-spectral-basis/.claude/worktrees/shai-deck/reports/shai_deck/figures/samples/fail_0_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4315968"/>
            <a:ext cx="749808" cy="749808"/>
          </a:xfrm>
          <a:prstGeom prst="rect">
            <a:avLst/>
          </a:prstGeom>
        </p:spPr>
      </p:pic>
      <p:sp>
        <p:nvSpPr>
          <p:cNvPr id="11" name="text_1069"/>
          <p:cNvSpPr txBox="1"/>
          <p:nvPr/>
        </p:nvSpPr>
        <p:spPr>
          <a:xfrm>
            <a:off x="1344168" y="508406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≤G1</a:t>
            </a:r>
            <a:endParaRPr lang="en-US" sz="1000" dirty="0"/>
          </a:p>
        </p:txBody>
      </p:sp>
      <p:pic>
        <p:nvPicPr>
          <p:cNvPr id="12" name="img_1070" descr="/home/nada/PycharmProjects/learned-spectral-basis/.claude/worktrees/shai-deck/reports/shai_deck/figures/samples/fail_0_g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9696" y="4315968"/>
            <a:ext cx="749808" cy="749808"/>
          </a:xfrm>
          <a:prstGeom prst="rect">
            <a:avLst/>
          </a:prstGeom>
        </p:spPr>
      </p:pic>
      <p:sp>
        <p:nvSpPr>
          <p:cNvPr id="13" name="text_1071"/>
          <p:cNvSpPr txBox="1"/>
          <p:nvPr/>
        </p:nvSpPr>
        <p:spPr>
          <a:xfrm>
            <a:off x="2139696" y="508406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≤G2</a:t>
            </a:r>
            <a:endParaRPr lang="en-US" sz="1000" dirty="0"/>
          </a:p>
        </p:txBody>
      </p:sp>
      <p:pic>
        <p:nvPicPr>
          <p:cNvPr id="14" name="img_1072" descr="/home/nada/PycharmProjects/learned-spectral-basis/.claude/worktrees/shai-deck/reports/shai_deck/figures/samples/fail_0_g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5224" y="4315968"/>
            <a:ext cx="749808" cy="749808"/>
          </a:xfrm>
          <a:prstGeom prst="rect">
            <a:avLst/>
          </a:prstGeom>
        </p:spPr>
      </p:pic>
      <p:sp>
        <p:nvSpPr>
          <p:cNvPr id="15" name="text_1073"/>
          <p:cNvSpPr txBox="1"/>
          <p:nvPr/>
        </p:nvSpPr>
        <p:spPr>
          <a:xfrm>
            <a:off x="2935224" y="508406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000" dirty="0"/>
          </a:p>
        </p:txBody>
      </p:sp>
      <p:pic>
        <p:nvPicPr>
          <p:cNvPr id="16" name="img_1074" descr="/home/nada/PycharmProjects/learned-spectral-basis/.claude/worktrees/shai-deck/reports/shai_deck/figures/samples/fail_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4315968"/>
            <a:ext cx="749808" cy="749808"/>
          </a:xfrm>
          <a:prstGeom prst="rect">
            <a:avLst/>
          </a:prstGeom>
        </p:spPr>
      </p:pic>
      <p:pic>
        <p:nvPicPr>
          <p:cNvPr id="17" name="img_1075" descr="/home/nada/PycharmProjects/learned-spectral-basis/.claude/worktrees/shai-deck/reports/shai_deck/figures/samples/fail_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8" y="4315968"/>
            <a:ext cx="749808" cy="749808"/>
          </a:xfrm>
          <a:prstGeom prst="rect">
            <a:avLst/>
          </a:prstGeom>
        </p:spPr>
      </p:pic>
      <p:pic>
        <p:nvPicPr>
          <p:cNvPr id="18" name="img_1076" descr="/home/nada/PycharmProjects/learned-spectral-basis/.claude/worktrees/shai-deck/reports/shai_deck/figures/samples/fail_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5816" y="4315968"/>
            <a:ext cx="749808" cy="749808"/>
          </a:xfrm>
          <a:prstGeom prst="rect">
            <a:avLst/>
          </a:prstGeom>
        </p:spPr>
      </p:pic>
      <p:sp>
        <p:nvSpPr>
          <p:cNvPr id="19" name="text_1077"/>
          <p:cNvSpPr txBox="1"/>
          <p:nvPr/>
        </p:nvSpPr>
        <p:spPr>
          <a:xfrm>
            <a:off x="3794760" y="50840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failing seeds</a:t>
            </a:r>
            <a:endParaRPr lang="en-US" sz="1000" dirty="0"/>
          </a:p>
        </p:txBody>
      </p:sp>
      <p:sp>
        <p:nvSpPr>
          <p:cNvPr id="20" name="text_1078"/>
          <p:cNvSpPr txBox="1"/>
          <p:nvPr/>
        </p:nvSpPr>
        <p:spPr>
          <a:xfrm>
            <a:off x="548640" y="536752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 of UniPC samples have a G3 coefficient &gt; 5× the data max (113–153× in these); R0 0.5%, A0 0.6%. The trigger is the token’s own noise norm (≈3σ), not the prefix.</a:t>
            </a:r>
            <a:endParaRPr lang="en-US" sz="1050" dirty="0"/>
          </a:p>
        </p:txBody>
      </p:sp>
      <p:sp>
        <p:nvSpPr>
          <p:cNvPr id="21" name="box_1079"/>
          <p:cNvSpPr/>
          <p:nvPr/>
        </p:nvSpPr>
        <p:spPr>
          <a:xfrm>
            <a:off x="6355080" y="3950208"/>
            <a:ext cx="5303520" cy="2212848"/>
          </a:xfrm>
          <a:prstGeom prst="roundRect">
            <a:avLst>
              <a:gd name="adj" fmla="val 3306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22" name="text_1080"/>
          <p:cNvSpPr txBox="1"/>
          <p:nvPr/>
        </p:nvSpPr>
        <p:spPr>
          <a:xfrm>
            <a:off x="6519672" y="4041648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decides layout </a:t>
            </a: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(98% of pixel variance) but is adequately modelled: coverage ≈ real–real, spread/skill 0.99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G0 alone: </a:t>
            </a: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real-prefix oracle splits the gap G0 32 / G1 32 / G2 27 / G3 9% (cumulative, path-dependent — not additive attribution)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groups are under-dispersed </a:t>
            </a: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with a real prefix (spread/skill .83/.81, energy .90/.88) and it compounds along the chain (energy .84/.71)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variance probe: </a:t>
            </a:r>
            <a:r>
              <a:rPr lang="en-US" sz="11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FID-10K 10.77 → 10.50, recall +0.015 → supports H1 (variance under-estimation)</a:t>
            </a:r>
            <a:endParaRPr lang="en-US" sz="1150" dirty="0"/>
          </a:p>
        </p:txBody>
      </p:sp>
      <p:sp>
        <p:nvSpPr>
          <p:cNvPr id="23" name="text_1081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a–c: efficiency/diag2.json (UniPC [20,10,8,8], std+31M seeds, PCA-64 k=3 recall vs real–real). Oracle: phase1_verdict.json (Euler; real prefixes are also FID-reference images). Incidence: my recount on 5k paired samples (samples_meta.json).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ABLATIONS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width helped clearly; finer serialization never did</a:t>
            </a:r>
            <a:endParaRPr lang="en-US" sz="2800" dirty="0"/>
          </a:p>
        </p:txBody>
      </p:sp>
      <p:graphicFrame>
        <p:nvGraphicFramePr>
          <p:cNvPr id="12" name="ablation_table_10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240280"/>
                <a:gridCol w="2103120"/>
                <a:gridCol w="3520440"/>
                <a:gridCol w="1417320"/>
                <a:gridCol w="1152144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 vs reference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</a:tr>
              <a:tr h="301752">
                <a:tc row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Width D192 → D256 / D320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A1 capacity-limited?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FID-10K 18.43 → 14.77 / 14.27 @100k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1.27× / 1.62× H100-h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D49A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Groups K3 → K7 (same 4×4 DCT)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easier transitions help?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22.07 → 21.01 (0.95×)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2.06× H100-h, 700 calls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B8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Full-image DCT, 8 bands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global bands better?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51.57 (2.8× A1), P/R .74/.25 — memorises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2.4× H100-h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167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Gaussian G₋₁ context (OT)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a shared latent help G0?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19.67 (1.07×)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1.24× H100-h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B8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noise σ 0.005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Robustness to own prefix?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 1.02×; raw-weight FID 28.4 → 21.5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1.0×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B8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 refines A1 (no training)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joint refinement repair order?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12.59 → 11.64 (~70% of gap); never below A0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 calls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</a:tr>
              <a:tr h="301752">
                <a:tc row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FFHQ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 13 → 9 blocks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Cheaper calls at equal quality?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FID-10K 27.09 → 30.25, recall −.066 @50k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0.74× per step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167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radial rings (same 9 coef)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Finer serialization?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27.09 → 38.58 (+42%), +16 calls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1.44× per step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167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8×8 blocks, 36 coef (= 3456)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Fewer, richer tokens?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FID-10K 72 / 83 vs 29 / 27 (EMA / raw); blur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0.43× per step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167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 earlier groups (no training)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later bands fix layout?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16.13 → 16.04; random edit of equal norm as good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1.04× sampling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167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Per-group variance rescale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 groups too narrow?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FID-10K 10.77 → 10.50, recall +.015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GAIN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D49A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order G3 → G0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the order matter?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FID-10K 46.8 vs 13.7 @100k (each own sampler)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MATTERS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Per-group data-std precond.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late-group dispersion?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 28.81 → 25.41, raw 26.80 → 26.96; recall +.08 / +.07 @50k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BORDERLINE*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</a:tr>
              <a:tr h="30175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UniPC + per-stage allocation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sampling the limit?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FID-50K 13.75 → 9.46, recall +.064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8.0× fewer GPU-s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ARCH.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C3D6"/>
                    </a:solidFill>
                  </a:tcPr>
                </a:tc>
              </a:tr>
            </a:tbl>
          </a:graphicData>
        </a:graphic>
      </p:graphicFrame>
      <p:sp>
        <p:nvSpPr>
          <p:cNvPr id="5" name="text_1083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CIFAR: 100k steps, EMA FID-10K, Euler NFE 100 (scaling/summary.json; refine/results.json). FFHQ screens: 50k, canonical UniPC (efficiency/screens.json); edit: ffhq64/edit; probe &amp; reverse: efficiency/runs.json. Reverse order = 100k screen, stagewise-loss write-up pending. *Candidate A pilot evaluated 11:22 IDT today; not yet adjudicated by the campaign.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  ·  FFHQ-64, FID-50K, BEST VALIDATED SAMPLERS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present frontier: small and close, not cheaper</a:t>
            </a:r>
            <a:endParaRPr lang="en-US" sz="2800" dirty="0"/>
          </a:p>
        </p:txBody>
      </p:sp>
      <p:pic>
        <p:nvPicPr>
          <p:cNvPr id="4" name="img_1084" descr="/home/nada/PycharmProjects/learned-spectral-basis/.claude/worktrees/shai-deck/reports/shai_deck/figures/plots/frontier_a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334" y="1298448"/>
            <a:ext cx="9835026" cy="3566160"/>
          </a:xfrm>
          <a:prstGeom prst="rect">
            <a:avLst/>
          </a:prstGeom>
        </p:spPr>
      </p:pic>
      <p:sp>
        <p:nvSpPr>
          <p:cNvPr id="5" name="text_1085"/>
          <p:cNvSpPr txBox="1"/>
          <p:nvPr/>
        </p:nvSpPr>
        <p:spPr>
          <a:xfrm>
            <a:off x="548640" y="4919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Sampling</a:t>
            </a:r>
            <a:endParaRPr lang="en-US" sz="1250" dirty="0"/>
          </a:p>
        </p:txBody>
      </p:sp>
      <p:sp>
        <p:nvSpPr>
          <p:cNvPr id="6" name="text_1086"/>
          <p:cNvSpPr txBox="1"/>
          <p:nvPr/>
        </p:nvSpPr>
        <p:spPr>
          <a:xfrm>
            <a:off x="548640" y="51572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 UniPC-15 has lower FID and lower GPU-s than every A1 point: no A1 sampler is on this frontier.</a:t>
            </a:r>
            <a:endParaRPr lang="en-US" sz="1050" dirty="0"/>
          </a:p>
        </p:txBody>
      </p:sp>
      <p:sp>
        <p:nvSpPr>
          <p:cNvPr id="7" name="text_1087"/>
          <p:cNvSpPr txBox="1"/>
          <p:nvPr/>
        </p:nvSpPr>
        <p:spPr>
          <a:xfrm>
            <a:off x="4279392" y="4919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Training</a:t>
            </a:r>
            <a:endParaRPr lang="en-US" sz="1250" dirty="0"/>
          </a:p>
        </p:txBody>
      </p:sp>
      <p:sp>
        <p:nvSpPr>
          <p:cNvPr id="8" name="text_1088"/>
          <p:cNvSpPr txBox="1"/>
          <p:nvPr/>
        </p:nvSpPr>
        <p:spPr>
          <a:xfrm>
            <a:off x="4279392" y="51572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R0’s 3.34 H100-h A1 has no UniPC FID-50K; at 5.77 h it is 9.46 vs R0 8.68 at 3.34 h. R0 dominates.</a:t>
            </a:r>
            <a:endParaRPr lang="en-US" sz="1050" dirty="0"/>
          </a:p>
        </p:txBody>
      </p:sp>
      <p:sp>
        <p:nvSpPr>
          <p:cNvPr id="9" name="text_1089"/>
          <p:cNvSpPr txBox="1"/>
          <p:nvPr/>
        </p:nvSpPr>
        <p:spPr>
          <a:xfrm>
            <a:off x="8010144" y="4919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Size</a:t>
            </a:r>
            <a:endParaRPr lang="en-US" sz="1250" dirty="0"/>
          </a:p>
        </p:txBody>
      </p:sp>
      <p:sp>
        <p:nvSpPr>
          <p:cNvPr id="10" name="text_1090"/>
          <p:cNvSpPr txBox="1"/>
          <p:nvPr/>
        </p:nvSpPr>
        <p:spPr>
          <a:xfrm>
            <a:off x="8010144" y="51572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and R0 are both non-dominated: 4.0× fewer parameters for +0.77 FID and −0.027 recall.</a:t>
            </a:r>
            <a:endParaRPr lang="en-US" sz="1050" dirty="0"/>
          </a:p>
        </p:txBody>
      </p:sp>
      <p:sp>
        <p:nvSpPr>
          <p:cNvPr id="11" name="box_1091"/>
          <p:cNvSpPr/>
          <p:nvPr/>
        </p:nvSpPr>
        <p:spPr>
          <a:xfrm>
            <a:off x="548640" y="568756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2" name="text_1092"/>
          <p:cNvSpPr txBox="1"/>
          <p:nvPr/>
        </p:nvSpPr>
        <p:spPr>
          <a:xfrm>
            <a:off x="731520" y="570585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 </a:t>
            </a:r>
            <a:r>
              <a:rPr lang="en-US" sz="14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parameter-efficient and close in FID, but not yet training- or latency-efficient against optimized DCTdiff.</a:t>
            </a:r>
            <a:endParaRPr lang="en-US" sz="1400" dirty="0"/>
          </a:p>
        </p:txBody>
      </p:sp>
      <p:sp>
        <p:nvSpPr>
          <p:cNvPr id="13" name="text_1093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= UniPC (validated per model), hollow = Euler. A0 has FID-10K 15.00 with UniPC-15 but no UniPC FID-50K, so it appears only with Euler. BandJoint: different architecture and hardware budget, shown only in C. phase2_verdict.json, bench*.json, ffhq64/summary.json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ART  ·  ALL ENTRIES CHECKED AGAINST THE PAPER (APPENDIX A10)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art: what we cannot claim to be new</a:t>
            </a:r>
            <a:endParaRPr lang="en-US" sz="2800" dirty="0"/>
          </a:p>
        </p:txBody>
      </p:sp>
      <p:graphicFrame>
        <p:nvGraphicFramePr>
          <p:cNvPr id="14" name="prior_table_10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441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377440"/>
                <a:gridCol w="2240280"/>
                <a:gridCol w="2331720"/>
                <a:gridCol w="181051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/ representation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autoregressed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Within-step spatial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Stochastic generator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DCTransformer (Nash+ ICML’21)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quantized 8×8 DCT, sparse triples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non-zero coefficient, low→high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(one scalar / step)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JPEG-LM (Han+ 2024)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 file bytes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bytes in codec order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 (LLM)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DCTdiff (Ning+ ICML’25)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DCT (we reuse it)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— joint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over all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GDM (Lee+ 2023)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pixels, frequency groups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groups diffused in sequence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diffusion process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 (Yu+ 2025)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VAE latents, low-pass levels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 levels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parallel, per-token head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per-token diffusion MLP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NFIG (Huang+ 2025)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FFT-band-guided residual VQ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 / scale stages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per stage (VAR-like)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SpectralAR (Huang+ ICCV’25)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nested spectral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spectral token / step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· GIVT · JetFormer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latents (+ flow)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spatial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per-token head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diffusion MLP / GMM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Wavelet Flow (Yu+ NeurIPS’20)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Haar wavelet levels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resolution levels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conditional flow per level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normalizing flow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BandJoint (ours, Sep 2026)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JPEG-q90 8×8 DCT, radial bands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bands; summed re-encoded prefix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per band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per-band diffusion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 (ours)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 4×4 DCT, 9 coef, 4 groups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coefficient groups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64-position field, causal freq axis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conditional diffusion (46 calls)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3A"/>
                    </a:solidFill>
                  </a:tcPr>
                </a:tc>
              </a:tr>
            </a:tbl>
          </a:graphicData>
        </a:graphic>
      </p:graphicFrame>
      <p:sp>
        <p:nvSpPr>
          <p:cNvPr id="5" name="box_1095"/>
          <p:cNvSpPr/>
          <p:nvPr/>
        </p:nvSpPr>
        <p:spPr>
          <a:xfrm>
            <a:off x="548640" y="457200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6" name="text_1096"/>
          <p:cNvSpPr txBox="1"/>
          <p:nvPr/>
        </p:nvSpPr>
        <p:spPr>
          <a:xfrm>
            <a:off x="694944" y="4645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0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claim</a:t>
            </a:r>
            <a:endParaRPr lang="en-US" sz="1250" dirty="0"/>
          </a:p>
        </p:txBody>
      </p:sp>
      <p:sp>
        <p:nvSpPr>
          <p:cNvPr id="7" name="text_1097"/>
          <p:cNvSpPr txBox="1"/>
          <p:nvPr/>
        </p:nvSpPr>
        <p:spPr>
          <a:xfrm>
            <a:off x="694944" y="493776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/ coarse-to-fine AR (Nash, FAR, NFIG, SpectralAR, VAR)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per-stage diffusion over frequency groups (GDM, FAR, BandJoint)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DCT-space diffusion (DCTdiff); UniPC</a:t>
            </a:r>
            <a:endParaRPr lang="en-US" sz="1050" dirty="0"/>
          </a:p>
        </p:txBody>
      </p:sp>
      <p:sp>
        <p:nvSpPr>
          <p:cNvPr id="8" name="box_1098"/>
          <p:cNvSpPr/>
          <p:nvPr/>
        </p:nvSpPr>
        <p:spPr>
          <a:xfrm>
            <a:off x="4279392" y="457200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9" name="text_1099"/>
          <p:cNvSpPr txBox="1"/>
          <p:nvPr/>
        </p:nvSpPr>
        <p:spPr>
          <a:xfrm>
            <a:off x="4425696" y="4645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Potentially defensible (needs controls)</a:t>
            </a:r>
            <a:endParaRPr lang="en-US" sz="1250" dirty="0"/>
          </a:p>
        </p:txBody>
      </p:sp>
      <p:sp>
        <p:nvSpPr>
          <p:cNvPr id="10" name="text_1100"/>
          <p:cNvSpPr txBox="1"/>
          <p:nvPr/>
        </p:nvSpPr>
        <p:spPr>
          <a:xfrm>
            <a:off x="4425696" y="493776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frequency axis inside one axial net with exact prefix cache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jointly modelled spatial field per group (vs per-token heads)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per-band evaluation allocation</a:t>
            </a:r>
            <a:endParaRPr lang="en-US" sz="1050" dirty="0"/>
          </a:p>
        </p:txBody>
      </p:sp>
      <p:sp>
        <p:nvSpPr>
          <p:cNvPr id="11" name="box_1101"/>
          <p:cNvSpPr/>
          <p:nvPr/>
        </p:nvSpPr>
        <p:spPr>
          <a:xfrm>
            <a:off x="8010144" y="457200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2" name="text_1102"/>
          <p:cNvSpPr txBox="1"/>
          <p:nvPr/>
        </p:nvSpPr>
        <p:spPr>
          <a:xfrm>
            <a:off x="8156448" y="46451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evidence</a:t>
            </a:r>
            <a:endParaRPr lang="en-US" sz="1250" dirty="0"/>
          </a:p>
        </p:txBody>
      </p:sp>
      <p:sp>
        <p:nvSpPr>
          <p:cNvPr id="13" name="text_1103"/>
          <p:cNvSpPr txBox="1"/>
          <p:nvPr/>
        </p:nvSpPr>
        <p:spPr>
          <a:xfrm>
            <a:off x="8156448" y="493776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written-up reverse-order mechanism (100k screen only)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frontier win vs optimized DCTdiff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diffusion-free field head (F1) result; 2nd dataset / resolution</a:t>
            </a:r>
            <a:endParaRPr lang="en-US" sz="1050" dirty="0"/>
          </a:p>
        </p:txBody>
      </p:sp>
      <p:sp>
        <p:nvSpPr>
          <p:cNvPr id="14" name="text_1104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 verified 19 Oct 2026 (arXiv / CVF / PMLR). Closest concept: FAR-Yu (next-frequency + diffusion head); closest to F1: Wavelet Flow, JetFormer, GIVT. Audit: reports/dct_causal/PRIOR_ART_AUDIT.md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EXPERIMENTS  ·  PREREG_DIFFPP.md (18 H100-h CEILING)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experiments, and what each outcome would imply</a:t>
            </a:r>
            <a:endParaRPr lang="en-US" sz="2800" dirty="0"/>
          </a:p>
        </p:txBody>
      </p:sp>
      <p:sp>
        <p:nvSpPr>
          <p:cNvPr id="4" name="box_1105"/>
          <p:cNvSpPr/>
          <p:nvPr/>
        </p:nvSpPr>
        <p:spPr>
          <a:xfrm>
            <a:off x="548640" y="1353312"/>
            <a:ext cx="2670048" cy="2084832"/>
          </a:xfrm>
          <a:prstGeom prst="roundRect">
            <a:avLst>
              <a:gd name="adj" fmla="val 3509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5" name="text_1106"/>
          <p:cNvSpPr txBox="1"/>
          <p:nvPr/>
        </p:nvSpPr>
        <p:spPr>
          <a:xfrm>
            <a:off x="694944" y="14630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Does low→high order matter?</a:t>
            </a:r>
            <a:endParaRPr lang="en-US" sz="1300" dirty="0"/>
          </a:p>
        </p:txBody>
      </p:sp>
      <p:sp>
        <p:nvSpPr>
          <p:cNvPr id="6" name="box_1107"/>
          <p:cNvSpPr/>
          <p:nvPr/>
        </p:nvSpPr>
        <p:spPr>
          <a:xfrm>
            <a:off x="694944" y="201168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7" name="text_1108"/>
          <p:cNvSpPr txBox="1"/>
          <p:nvPr/>
        </p:nvSpPr>
        <p:spPr>
          <a:xfrm>
            <a:off x="694944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DONE</a:t>
            </a:r>
            <a:endParaRPr lang="en-US" sz="950" dirty="0"/>
          </a:p>
        </p:txBody>
      </p:sp>
      <p:sp>
        <p:nvSpPr>
          <p:cNvPr id="8" name="text_1109"/>
          <p:cNvSpPr txBox="1"/>
          <p:nvPr/>
        </p:nvSpPr>
        <p:spPr>
          <a:xfrm>
            <a:off x="694944" y="235915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order, 100k: FID-10K 46.8 vs 13.7 (own samplers), recall .055 vs .43. Next: stagewise-loss write-up; interleaved order if budget.</a:t>
            </a:r>
            <a:endParaRPr lang="en-US" sz="1100" dirty="0"/>
          </a:p>
        </p:txBody>
      </p:sp>
      <p:sp>
        <p:nvSpPr>
          <p:cNvPr id="9" name="box_1110"/>
          <p:cNvSpPr/>
          <p:nvPr/>
        </p:nvSpPr>
        <p:spPr>
          <a:xfrm>
            <a:off x="3346704" y="1353312"/>
            <a:ext cx="2670048" cy="2084832"/>
          </a:xfrm>
          <a:prstGeom prst="roundRect">
            <a:avLst>
              <a:gd name="adj" fmla="val 3509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0" name="text_1111"/>
          <p:cNvSpPr txBox="1"/>
          <p:nvPr/>
        </p:nvSpPr>
        <p:spPr>
          <a:xfrm>
            <a:off x="3493008" y="14630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Is diffusion needed per field?</a:t>
            </a:r>
            <a:endParaRPr lang="en-US" sz="1300" dirty="0"/>
          </a:p>
        </p:txBody>
      </p:sp>
      <p:sp>
        <p:nvSpPr>
          <p:cNvPr id="11" name="box_1112"/>
          <p:cNvSpPr/>
          <p:nvPr/>
        </p:nvSpPr>
        <p:spPr>
          <a:xfrm>
            <a:off x="3493008" y="201168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_1113"/>
          <p:cNvSpPr txBox="1"/>
          <p:nvPr/>
        </p:nvSpPr>
        <p:spPr>
          <a:xfrm>
            <a:off x="3493008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PASSED · QUEUED</a:t>
            </a:r>
            <a:endParaRPr lang="en-US" sz="950" dirty="0"/>
          </a:p>
        </p:txBody>
      </p:sp>
      <p:sp>
        <p:nvSpPr>
          <p:cNvPr id="13" name="text_1114"/>
          <p:cNvSpPr txBox="1"/>
          <p:nvPr/>
        </p:nvSpPr>
        <p:spPr>
          <a:xfrm>
            <a:off x="3493008" y="235915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axial trunk + conditional affine-coupling flow over each 64×Cₖ field (11.66M); 1 trunk + 8 couplings / stage. Strong if ≤ +10% FID at ≥ 2× speed.</a:t>
            </a:r>
            <a:endParaRPr lang="en-US" sz="1100" dirty="0"/>
          </a:p>
        </p:txBody>
      </p:sp>
      <p:sp>
        <p:nvSpPr>
          <p:cNvPr id="14" name="box_1115"/>
          <p:cNvSpPr/>
          <p:nvPr/>
        </p:nvSpPr>
        <p:spPr>
          <a:xfrm>
            <a:off x="6144768" y="1353312"/>
            <a:ext cx="2670048" cy="2084832"/>
          </a:xfrm>
          <a:prstGeom prst="roundRect">
            <a:avLst>
              <a:gd name="adj" fmla="val 3509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5" name="text_1116"/>
          <p:cNvSpPr txBox="1"/>
          <p:nvPr/>
        </p:nvSpPr>
        <p:spPr>
          <a:xfrm>
            <a:off x="6291072" y="14630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Coefficient-plane AR (K = 9)</a:t>
            </a:r>
            <a:endParaRPr lang="en-US" sz="1300" dirty="0"/>
          </a:p>
        </p:txBody>
      </p:sp>
      <p:sp>
        <p:nvSpPr>
          <p:cNvPr id="16" name="box_1117"/>
          <p:cNvSpPr/>
          <p:nvPr/>
        </p:nvSpPr>
        <p:spPr>
          <a:xfrm>
            <a:off x="6291072" y="201168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9AA6B8"/>
          </a:solidFill>
          <a:ln w="12700">
            <a:solidFill>
              <a:srgbClr val="9AA6B8"/>
            </a:solidFill>
            <a:prstDash val="solid"/>
          </a:ln>
        </p:spPr>
      </p:sp>
      <p:sp>
        <p:nvSpPr>
          <p:cNvPr id="17" name="text_1118"/>
          <p:cNvSpPr txBox="1"/>
          <p:nvPr/>
        </p:nvSpPr>
        <p:spPr>
          <a:xfrm>
            <a:off x="6291072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· NOT RUN</a:t>
            </a:r>
            <a:endParaRPr lang="en-US" sz="950" dirty="0"/>
          </a:p>
        </p:txBody>
      </p:sp>
      <p:sp>
        <p:nvSpPr>
          <p:cNvPr id="18" name="text_1119"/>
          <p:cNvSpPr txBox="1"/>
          <p:nvPr/>
        </p:nvSpPr>
        <p:spPr>
          <a:xfrm>
            <a:off x="6291072" y="235915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stage per DCT coordinate, same 3456 values; generator held fixed. Priors are weak: CIFAR K7 neutral, FFHQ K6 rings −42%.</a:t>
            </a:r>
            <a:endParaRPr lang="en-US" sz="1100" dirty="0"/>
          </a:p>
        </p:txBody>
      </p:sp>
      <p:sp>
        <p:nvSpPr>
          <p:cNvPr id="19" name="box_1120"/>
          <p:cNvSpPr/>
          <p:nvPr/>
        </p:nvSpPr>
        <p:spPr>
          <a:xfrm>
            <a:off x="8942832" y="1353312"/>
            <a:ext cx="2670048" cy="2084832"/>
          </a:xfrm>
          <a:prstGeom prst="roundRect">
            <a:avLst>
              <a:gd name="adj" fmla="val 3509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20" name="text_1121"/>
          <p:cNvSpPr txBox="1"/>
          <p:nvPr/>
        </p:nvSpPr>
        <p:spPr>
          <a:xfrm>
            <a:off x="9089136" y="14630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Fix late-group dispersion</a:t>
            </a:r>
            <a:endParaRPr lang="en-US" sz="1300" dirty="0"/>
          </a:p>
        </p:txBody>
      </p:sp>
      <p:sp>
        <p:nvSpPr>
          <p:cNvPr id="21" name="box_1122"/>
          <p:cNvSpPr/>
          <p:nvPr/>
        </p:nvSpPr>
        <p:spPr>
          <a:xfrm>
            <a:off x="9089136" y="201168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34C3D6"/>
          </a:solidFill>
          <a:ln w="12700">
            <a:solidFill>
              <a:srgbClr val="34C3D6"/>
            </a:solidFill>
            <a:prstDash val="solid"/>
          </a:ln>
        </p:spPr>
      </p:sp>
      <p:sp>
        <p:nvSpPr>
          <p:cNvPr id="22" name="text_1123"/>
          <p:cNvSpPr txBox="1"/>
          <p:nvPr/>
        </p:nvSpPr>
        <p:spPr>
          <a:xfrm>
            <a:off x="9089136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EVALUATED · B TRAINING</a:t>
            </a:r>
            <a:endParaRPr lang="en-US" sz="950" dirty="0"/>
          </a:p>
        </p:txBody>
      </p:sp>
      <p:sp>
        <p:nvSpPr>
          <p:cNvPr id="23" name="text_1124"/>
          <p:cNvSpPr txBox="1"/>
          <p:nvPr/>
        </p:nvSpPr>
        <p:spPr>
          <a:xfrm>
            <a:off x="9089136" y="2359152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(per-group data-std preconditioning, 50k): EMA FID −12%, raw +0.6%, recall +.07–.08 → borderline; verdict pending. B (depthwise 3×3 + 1×1 control) training now.</a:t>
            </a:r>
            <a:endParaRPr lang="en-US" sz="1100" dirty="0"/>
          </a:p>
        </p:txBody>
      </p:sp>
      <p:sp>
        <p:nvSpPr>
          <p:cNvPr id="24" name="text_1125"/>
          <p:cNvSpPr txBox="1"/>
          <p:nvPr/>
        </p:nvSpPr>
        <p:spPr>
          <a:xfrm>
            <a:off x="54864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25" name="box_1126"/>
          <p:cNvSpPr/>
          <p:nvPr/>
        </p:nvSpPr>
        <p:spPr>
          <a:xfrm>
            <a:off x="548640" y="42062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D2739"/>
          </a:solidFill>
          <a:ln w="12700">
            <a:solidFill>
              <a:srgbClr val="34C3D6"/>
            </a:solidFill>
            <a:prstDash val="solid"/>
          </a:ln>
        </p:spPr>
      </p:sp>
      <p:sp>
        <p:nvSpPr>
          <p:cNvPr id="26" name="text_1127"/>
          <p:cNvSpPr txBox="1"/>
          <p:nvPr/>
        </p:nvSpPr>
        <p:spPr>
          <a:xfrm>
            <a:off x="621792" y="420624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pilot survives? (50k, paired seeds, calls unchanged)</a:t>
            </a:r>
            <a:endParaRPr lang="en-US" sz="1050" dirty="0"/>
          </a:p>
        </p:txBody>
      </p:sp>
      <p:sp>
        <p:nvSpPr>
          <p:cNvPr id="27" name="box_1128"/>
          <p:cNvSpPr/>
          <p:nvPr/>
        </p:nvSpPr>
        <p:spPr>
          <a:xfrm>
            <a:off x="2971800" y="3977640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1D2739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8" name="text_1129"/>
          <p:cNvSpPr txBox="1"/>
          <p:nvPr/>
        </p:nvSpPr>
        <p:spPr>
          <a:xfrm>
            <a:off x="3044952" y="3977640"/>
            <a:ext cx="2551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mature to 200k + seed replicate; re-test vs R0 at equal H100-h</a:t>
            </a:r>
            <a:endParaRPr lang="en-US" sz="1050" dirty="0"/>
          </a:p>
        </p:txBody>
      </p:sp>
      <p:sp>
        <p:nvSpPr>
          <p:cNvPr id="29" name="box_1130"/>
          <p:cNvSpPr/>
          <p:nvPr/>
        </p:nvSpPr>
        <p:spPr>
          <a:xfrm>
            <a:off x="2971800" y="4645152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1D2739"/>
          </a:solidFill>
          <a:ln w="12700">
            <a:solidFill>
              <a:srgbClr val="F07167"/>
            </a:solidFill>
            <a:prstDash val="solid"/>
          </a:ln>
        </p:spPr>
      </p:sp>
      <p:sp>
        <p:nvSpPr>
          <p:cNvPr id="30" name="text_1131"/>
          <p:cNvSpPr txBox="1"/>
          <p:nvPr/>
        </p:nvSpPr>
        <p:spPr>
          <a:xfrm>
            <a:off x="3044952" y="4645152"/>
            <a:ext cx="2551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late-group deficit is not a scale issue; budget returns</a:t>
            </a:r>
            <a:endParaRPr lang="en-US" sz="1050" dirty="0"/>
          </a:p>
        </p:txBody>
      </p:sp>
      <p:sp>
        <p:nvSpPr>
          <p:cNvPr id="31" name="line_1132"/>
          <p:cNvSpPr/>
          <p:nvPr/>
        </p:nvSpPr>
        <p:spPr>
          <a:xfrm flipV="1">
            <a:off x="2651760" y="4261104"/>
            <a:ext cx="320040" cy="173736"/>
          </a:xfrm>
          <a:prstGeom prst="line">
            <a:avLst/>
          </a:prstGeom>
          <a:noFill/>
          <a:ln w="15875">
            <a:solidFill>
              <a:srgbClr val="5BD49A"/>
            </a:solidFill>
            <a:prstDash val="solid"/>
            <a:headEnd type="none"/>
            <a:tailEnd type="triangle"/>
          </a:ln>
        </p:spPr>
      </p:sp>
      <p:sp>
        <p:nvSpPr>
          <p:cNvPr id="32" name="line_1133"/>
          <p:cNvSpPr/>
          <p:nvPr/>
        </p:nvSpPr>
        <p:spPr>
          <a:xfrm>
            <a:off x="2651760" y="4709160"/>
            <a:ext cx="320040" cy="219456"/>
          </a:xfrm>
          <a:prstGeom prst="line">
            <a:avLst/>
          </a:prstGeom>
          <a:noFill/>
          <a:ln w="15875">
            <a:solidFill>
              <a:srgbClr val="F07167"/>
            </a:solidFill>
            <a:prstDash val="solid"/>
            <a:headEnd type="none"/>
            <a:tailEnd type="triangle"/>
          </a:ln>
        </p:spPr>
      </p:sp>
      <p:sp>
        <p:nvSpPr>
          <p:cNvPr id="33" name="box_1134"/>
          <p:cNvSpPr/>
          <p:nvPr/>
        </p:nvSpPr>
        <p:spPr>
          <a:xfrm>
            <a:off x="5989320" y="42062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D2739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4" name="text_1135"/>
          <p:cNvSpPr txBox="1"/>
          <p:nvPr/>
        </p:nvSpPr>
        <p:spPr>
          <a:xfrm>
            <a:off x="6062472" y="420624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flow viable? (≤ 1.5× A1 FID at 50k)</a:t>
            </a:r>
            <a:endParaRPr lang="en-US" sz="1050" dirty="0"/>
          </a:p>
        </p:txBody>
      </p:sp>
      <p:sp>
        <p:nvSpPr>
          <p:cNvPr id="35" name="box_1136"/>
          <p:cNvSpPr/>
          <p:nvPr/>
        </p:nvSpPr>
        <p:spPr>
          <a:xfrm>
            <a:off x="8412480" y="3977640"/>
            <a:ext cx="3227832" cy="566928"/>
          </a:xfrm>
          <a:prstGeom prst="roundRect">
            <a:avLst>
              <a:gd name="adj" fmla="val 9677"/>
            </a:avLst>
          </a:prstGeom>
          <a:solidFill>
            <a:srgbClr val="1D2739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36" name="text_1137"/>
          <p:cNvSpPr txBox="1"/>
          <p:nvPr/>
        </p:nvSpPr>
        <p:spPr>
          <a:xfrm>
            <a:off x="8485632" y="3977640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(≤ +10% FID, ≥ 2× faster) → “diffusion-free frequency AR” is the paper</a:t>
            </a:r>
            <a:endParaRPr lang="en-US" sz="1050" dirty="0"/>
          </a:p>
        </p:txBody>
      </p:sp>
      <p:sp>
        <p:nvSpPr>
          <p:cNvPr id="37" name="box_1138"/>
          <p:cNvSpPr/>
          <p:nvPr/>
        </p:nvSpPr>
        <p:spPr>
          <a:xfrm>
            <a:off x="8412480" y="4645152"/>
            <a:ext cx="3227832" cy="566928"/>
          </a:xfrm>
          <a:prstGeom prst="roundRect">
            <a:avLst>
              <a:gd name="adj" fmla="val 9677"/>
            </a:avLst>
          </a:prstGeom>
          <a:solidFill>
            <a:srgbClr val="1D2739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8" name="text_1139"/>
          <p:cNvSpPr txBox="1"/>
          <p:nvPr/>
        </p:nvSpPr>
        <p:spPr>
          <a:xfrm>
            <a:off x="8485632" y="4645152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only → reuse as head for C (K9); else keep diffusion, write the mechanism paper</a:t>
            </a:r>
            <a:endParaRPr lang="en-US" sz="1050" dirty="0"/>
          </a:p>
        </p:txBody>
      </p:sp>
      <p:sp>
        <p:nvSpPr>
          <p:cNvPr id="39" name="line_1140"/>
          <p:cNvSpPr/>
          <p:nvPr/>
        </p:nvSpPr>
        <p:spPr>
          <a:xfrm flipV="1">
            <a:off x="8092440" y="4261104"/>
            <a:ext cx="320040" cy="173736"/>
          </a:xfrm>
          <a:prstGeom prst="line">
            <a:avLst/>
          </a:prstGeom>
          <a:noFill/>
          <a:ln w="15875">
            <a:solidFill>
              <a:srgbClr val="5BD49A"/>
            </a:solidFill>
            <a:prstDash val="solid"/>
            <a:headEnd type="none"/>
            <a:tailEnd type="triangle"/>
          </a:ln>
        </p:spPr>
      </p:sp>
      <p:sp>
        <p:nvSpPr>
          <p:cNvPr id="40" name="line_1141"/>
          <p:cNvSpPr/>
          <p:nvPr/>
        </p:nvSpPr>
        <p:spPr>
          <a:xfrm>
            <a:off x="8092440" y="4709160"/>
            <a:ext cx="320040" cy="219456"/>
          </a:xfrm>
          <a:prstGeom prst="line">
            <a:avLst/>
          </a:prstGeom>
          <a:noFill/>
          <a:ln w="15875">
            <a:solidFill>
              <a:srgbClr val="E9C46A"/>
            </a:solidFill>
            <a:prstDash val="solid"/>
            <a:headEnd type="none"/>
            <a:tailEnd type="triangle"/>
          </a:ln>
        </p:spPr>
      </p:sp>
      <p:sp>
        <p:nvSpPr>
          <p:cNvPr id="41" name="text_1142"/>
          <p:cNvSpPr txBox="1"/>
          <p:nvPr/>
        </p:nvSpPr>
        <p:spPr>
          <a:xfrm>
            <a:off x="548640" y="54681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(A) already says the factorization is not arbitrary for this model; whether that makes a contribution depends on B–D beating optimized DCTdiff on some axis other than parameters.</a:t>
            </a:r>
            <a:endParaRPr lang="en-US" sz="1250" dirty="0"/>
          </a:p>
        </p:txBody>
      </p:sp>
      <p:sp>
        <p:nvSpPr>
          <p:cNvPr id="42" name="text_1143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at 11:35 IDT 19 Oct from campaign branch 050f9dc + H100: a1_vp done &amp; scored (scr_a1_vp_50000_*, paired std/31M); a1_dw training; f1_flow gate-verified (verify_flow.json), queued; a1_k9 configured. No B or C results.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DISCUSSION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actual paper contribution?</a:t>
            </a:r>
            <a:endParaRPr lang="en-US" sz="2800" dirty="0"/>
          </a:p>
        </p:txBody>
      </p:sp>
      <p:sp>
        <p:nvSpPr>
          <p:cNvPr id="4" name="box_1144"/>
          <p:cNvSpPr/>
          <p:nvPr/>
        </p:nvSpPr>
        <p:spPr>
          <a:xfrm>
            <a:off x="548640" y="1371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5" name="text_1145"/>
          <p:cNvSpPr txBox="1"/>
          <p:nvPr/>
        </p:nvSpPr>
        <p:spPr>
          <a:xfrm>
            <a:off x="731520" y="14996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supported claim</a:t>
            </a:r>
            <a:endParaRPr lang="en-US" sz="1400" dirty="0"/>
          </a:p>
        </p:txBody>
      </p:sp>
      <p:sp>
        <p:nvSpPr>
          <p:cNvPr id="6" name="text_1146"/>
          <p:cNvSpPr txBox="1"/>
          <p:nvPr/>
        </p:nvSpPr>
        <p:spPr>
          <a:xfrm>
            <a:off x="731520" y="184708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matched backbone, explicit low→high frequency causality beats joint generation on FFHQ-64 (A1 15.08 vs A0 18.49 at equal H100-h), and reversing the order collapses it — at 4× fewer parameters than DCTdiff for 1.09× its FID.</a:t>
            </a:r>
            <a:endParaRPr lang="en-US" sz="1200" dirty="0"/>
          </a:p>
        </p:txBody>
      </p:sp>
      <p:sp>
        <p:nvSpPr>
          <p:cNvPr id="7" name="box_1147"/>
          <p:cNvSpPr/>
          <p:nvPr/>
        </p:nvSpPr>
        <p:spPr>
          <a:xfrm>
            <a:off x="4279392" y="1371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8" name="text_1148"/>
          <p:cNvSpPr txBox="1"/>
          <p:nvPr/>
        </p:nvSpPr>
        <p:spPr>
          <a:xfrm>
            <a:off x="4462272" y="14996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novelty threat</a:t>
            </a:r>
            <a:endParaRPr lang="en-US" sz="1400" dirty="0"/>
          </a:p>
        </p:txBody>
      </p:sp>
      <p:sp>
        <p:nvSpPr>
          <p:cNvPr id="9" name="text_1149"/>
          <p:cNvSpPr txBox="1"/>
          <p:nvPr/>
        </p:nvSpPr>
        <p:spPr>
          <a:xfrm>
            <a:off x="4462272" y="184708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Next-frequency AR with a diffusion head already exists (FAR-Yu; GDM, NFIG, SpectralAR; Nash for DCT). Our differences — analytic block DCT, joint spatial field, causal axis in one axial net — are design combinations until a controlled mechanism is shown.</a:t>
            </a:r>
            <a:endParaRPr lang="en-US" sz="1200" dirty="0"/>
          </a:p>
        </p:txBody>
      </p:sp>
      <p:sp>
        <p:nvSpPr>
          <p:cNvPr id="10" name="box_1150"/>
          <p:cNvSpPr/>
          <p:nvPr/>
        </p:nvSpPr>
        <p:spPr>
          <a:xfrm>
            <a:off x="8010144" y="1371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1E2E"/>
          </a:solidFill>
          <a:ln w="12700">
            <a:solidFill>
              <a:srgbClr val="161E2E"/>
            </a:solidFill>
            <a:prstDash val="solid"/>
          </a:ln>
        </p:spPr>
      </p:sp>
      <p:sp>
        <p:nvSpPr>
          <p:cNvPr id="11" name="text_1151"/>
          <p:cNvSpPr txBox="1"/>
          <p:nvPr/>
        </p:nvSpPr>
        <p:spPr>
          <a:xfrm>
            <a:off x="8193024" y="14996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decisive evidence</a:t>
            </a:r>
            <a:endParaRPr lang="en-US" sz="1400" dirty="0"/>
          </a:p>
        </p:txBody>
      </p:sp>
      <p:sp>
        <p:nvSpPr>
          <p:cNvPr id="12" name="text_1152"/>
          <p:cNvSpPr txBox="1"/>
          <p:nvPr/>
        </p:nvSpPr>
        <p:spPr>
          <a:xfrm>
            <a:off x="8193024" y="184708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frontier win over optimized DCTdiff on training or latency; a written-up order mechanism; one more dataset or resolution; a cheaper per-field generator (F1).</a:t>
            </a:r>
            <a:endParaRPr lang="en-US" sz="1200" dirty="0"/>
          </a:p>
        </p:txBody>
      </p:sp>
      <p:sp>
        <p:nvSpPr>
          <p:cNvPr id="13" name="text_1153"/>
          <p:cNvSpPr txBox="1"/>
          <p:nvPr/>
        </p:nvSpPr>
        <p:spPr>
          <a:xfrm>
            <a:off x="548640" y="3547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</a:t>
            </a:r>
            <a:endParaRPr lang="en-US" sz="1500" dirty="0"/>
          </a:p>
        </p:txBody>
      </p:sp>
      <p:sp>
        <p:nvSpPr>
          <p:cNvPr id="14" name="box_1154"/>
          <p:cNvSpPr/>
          <p:nvPr/>
        </p:nvSpPr>
        <p:spPr>
          <a:xfrm>
            <a:off x="548640" y="3931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4C3D6"/>
          </a:solidFill>
          <a:ln w="12700">
            <a:solidFill>
              <a:srgbClr val="34C3D6"/>
            </a:solidFill>
            <a:prstDash val="solid"/>
          </a:ln>
        </p:spPr>
      </p:sp>
      <p:sp>
        <p:nvSpPr>
          <p:cNvPr id="15" name="text_1155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_1156"/>
          <p:cNvSpPr txBox="1"/>
          <p:nvPr/>
        </p:nvSpPr>
        <p:spPr>
          <a:xfrm>
            <a:off x="1097280" y="39136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explicit frequency autoregression a sufficiently distinct and useful inductive bias — and what would convince a reviewer it is not just a coarse-to-fine schedule?</a:t>
            </a:r>
            <a:endParaRPr lang="en-US" sz="1350" dirty="0"/>
          </a:p>
        </p:txBody>
      </p:sp>
      <p:sp>
        <p:nvSpPr>
          <p:cNvPr id="17" name="box_1157"/>
          <p:cNvSpPr/>
          <p:nvPr/>
        </p:nvSpPr>
        <p:spPr>
          <a:xfrm>
            <a:off x="548640" y="4498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4C3D6"/>
          </a:solidFill>
          <a:ln w="12700">
            <a:solidFill>
              <a:srgbClr val="34C3D6"/>
            </a:solidFill>
            <a:prstDash val="solid"/>
          </a:ln>
        </p:spPr>
      </p:sp>
      <p:sp>
        <p:nvSpPr>
          <p:cNvPr id="18" name="text_1158"/>
          <p:cNvSpPr txBox="1"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_1159"/>
          <p:cNvSpPr txBox="1"/>
          <p:nvPr/>
        </p:nvSpPr>
        <p:spPr>
          <a:xfrm>
            <a:off x="109728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simplest stochastic spatial-field generator that preserves diversity without diffusion’s serial cost?</a:t>
            </a:r>
            <a:endParaRPr lang="en-US" sz="1350" dirty="0"/>
          </a:p>
        </p:txBody>
      </p:sp>
      <p:sp>
        <p:nvSpPr>
          <p:cNvPr id="20" name="box_1160"/>
          <p:cNvSpPr/>
          <p:nvPr/>
        </p:nvSpPr>
        <p:spPr>
          <a:xfrm>
            <a:off x="548640" y="50657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4C3D6"/>
          </a:solidFill>
          <a:ln w="12700">
            <a:solidFill>
              <a:srgbClr val="34C3D6"/>
            </a:solidFill>
            <a:prstDash val="solid"/>
          </a:ln>
        </p:spPr>
      </p:sp>
      <p:sp>
        <p:nvSpPr>
          <p:cNvPr id="21" name="text_1161"/>
          <p:cNvSpPr txBox="1"/>
          <p:nvPr/>
        </p:nvSpPr>
        <p:spPr>
          <a:xfrm>
            <a:off x="54864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_1162"/>
          <p:cNvSpPr txBox="1"/>
          <p:nvPr/>
        </p:nvSpPr>
        <p:spPr>
          <a:xfrm>
            <a:off x="1097280" y="50474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single experiment would make the architecture both competitive and clearly differentiated from FAR / DCTdiff?</a:t>
            </a:r>
            <a:endParaRPr lang="en-US" sz="1350" dirty="0"/>
          </a:p>
        </p:txBody>
      </p:sp>
      <p:sp>
        <p:nvSpPr>
          <p:cNvPr id="23" name="box_1163"/>
          <p:cNvSpPr/>
          <p:nvPr/>
        </p:nvSpPr>
        <p:spPr>
          <a:xfrm>
            <a:off x="548640" y="568756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4" name="text_1164"/>
          <p:cNvSpPr txBox="1"/>
          <p:nvPr/>
        </p:nvSpPr>
        <p:spPr>
          <a:xfrm>
            <a:off x="731520" y="570585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promising FFHQ results and a coherent architectural hypothesis, but we have not yet demonstrated a superior overall quality–compute frontier or established a definitive novel mechanism.</a:t>
            </a:r>
            <a:endParaRPr lang="en-US" sz="1250" dirty="0"/>
          </a:p>
        </p:txBody>
      </p:sp>
      <p:sp>
        <p:nvSpPr>
          <p:cNvPr id="25" name="text_1165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Numbers: slides 7, 9, 11, 12. Prior art: slide 13 / appendix A10.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appendix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packing · A2 masks &amp; causality · A3 samplers · A4 evaluation protocol · A5 abandoned designs · A6 throughput &amp; FLOPs · A7 tail artifact · A8 full screen table · A9 paired samples · A10 bibliography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 ·  REPRESENTATION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DCT packing: 54 channels, 4 radial groups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291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188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A6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A6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(u,v)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A6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B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A8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(1,0)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A8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(2,0)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3C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(1,1)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3C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(0,2)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3C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(0,3)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(1,2)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(2,1)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D4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5" name="text_1166"/>
          <p:cNvSpPr txBox="1"/>
          <p:nvPr/>
        </p:nvSpPr>
        <p:spPr>
          <a:xfrm>
            <a:off x="4160520" y="1371600"/>
            <a:ext cx="7498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64×64 RGB → YCbCr, chroma 4:2:0 → 4×4 block DCT (DCTdiff’s own transform, Y_bound η = 480.25, per-coefficient std reweighting, SNR scale 4.0)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= 8×8-pixel area: Y0, Y1, Y2, Y3 (four 4×4 luma blocks) + Cb + Cr (one 4×4 block each) → 6 blocks × 9 coefficients, channel c = block · 9 + 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of coefficient k = u + v of its zig-zag position (u = row / vertical, v = column / horizontal). G0 6 ch, G1 12, G2 18, G3 18 per token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 retained coefficients include (0,3) but not (3,0): G3 is not orientation-symmetric (zig-zag truncation)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are continuous (mean fractional part 0.247 vs 0.25 uniform; 126,593 of 128,000 values distinct) → no dequantization needed for the flow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floor: real images through encode/decode give FID-10K 3.01 (“all real” oracle)</a:t>
            </a:r>
            <a:endParaRPr lang="en-US" sz="1300" dirty="0"/>
          </a:p>
        </p:txBody>
      </p:sp>
      <p:sp>
        <p:nvSpPr>
          <p:cNvPr id="6" name="text_1167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DCT_utils.zigzag_order(4)[:9]; libs/axial_freqk.local_dct_stages; PRIOR_ART_AUDIT.md (dequantization check); efficiency/phase1_verdict.json (real_all).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 ·  CAUSALITY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masks and causality checks</a:t>
            </a:r>
            <a:endParaRPr lang="en-US" sz="2800" dirty="0"/>
          </a:p>
        </p:txBody>
      </p:sp>
      <p:sp>
        <p:nvSpPr>
          <p:cNvPr id="4" name="text_1168"/>
          <p:cNvSpPr txBox="1"/>
          <p:nvPr/>
        </p:nvSpPr>
        <p:spPr>
          <a:xfrm>
            <a:off x="548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training mask (frequency head; rows attend columns)</a:t>
            </a:r>
            <a:endParaRPr lang="en-US" sz="1300" dirty="0"/>
          </a:p>
        </p:txBody>
      </p:sp>
      <p:sp>
        <p:nvSpPr>
          <p:cNvPr id="5" name="text_1169"/>
          <p:cNvSpPr txBox="1"/>
          <p:nvPr/>
        </p:nvSpPr>
        <p:spPr>
          <a:xfrm>
            <a:off x="548640" y="173736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G0</a:t>
            </a:r>
            <a:endParaRPr lang="en-US" sz="1100" dirty="0"/>
          </a:p>
        </p:txBody>
      </p:sp>
      <p:sp>
        <p:nvSpPr>
          <p:cNvPr id="6" name="box_1170"/>
          <p:cNvSpPr/>
          <p:nvPr/>
        </p:nvSpPr>
        <p:spPr>
          <a:xfrm>
            <a:off x="1554480" y="1737360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7" name="box_1171"/>
          <p:cNvSpPr/>
          <p:nvPr/>
        </p:nvSpPr>
        <p:spPr>
          <a:xfrm>
            <a:off x="1938528" y="1737360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8" name="box_1172"/>
          <p:cNvSpPr/>
          <p:nvPr/>
        </p:nvSpPr>
        <p:spPr>
          <a:xfrm>
            <a:off x="2322576" y="1737360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9" name="box_1173"/>
          <p:cNvSpPr/>
          <p:nvPr/>
        </p:nvSpPr>
        <p:spPr>
          <a:xfrm>
            <a:off x="2706624" y="1737360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0" name="box_1174"/>
          <p:cNvSpPr/>
          <p:nvPr/>
        </p:nvSpPr>
        <p:spPr>
          <a:xfrm>
            <a:off x="3090672" y="1737360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1" name="box_1175"/>
          <p:cNvSpPr/>
          <p:nvPr/>
        </p:nvSpPr>
        <p:spPr>
          <a:xfrm>
            <a:off x="3474720" y="1737360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2" name="box_1176"/>
          <p:cNvSpPr/>
          <p:nvPr/>
        </p:nvSpPr>
        <p:spPr>
          <a:xfrm>
            <a:off x="3858768" y="1737360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3" name="text_1177"/>
          <p:cNvSpPr txBox="1"/>
          <p:nvPr/>
        </p:nvSpPr>
        <p:spPr>
          <a:xfrm>
            <a:off x="548640" y="212140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G1</a:t>
            </a:r>
            <a:endParaRPr lang="en-US" sz="1100" dirty="0"/>
          </a:p>
        </p:txBody>
      </p:sp>
      <p:sp>
        <p:nvSpPr>
          <p:cNvPr id="14" name="box_1178"/>
          <p:cNvSpPr/>
          <p:nvPr/>
        </p:nvSpPr>
        <p:spPr>
          <a:xfrm>
            <a:off x="1554480" y="2121408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5" name="box_1179"/>
          <p:cNvSpPr/>
          <p:nvPr/>
        </p:nvSpPr>
        <p:spPr>
          <a:xfrm>
            <a:off x="1938528" y="2121408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16" name="box_1180"/>
          <p:cNvSpPr/>
          <p:nvPr/>
        </p:nvSpPr>
        <p:spPr>
          <a:xfrm>
            <a:off x="2322576" y="2121408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" name="box_1181"/>
          <p:cNvSpPr/>
          <p:nvPr/>
        </p:nvSpPr>
        <p:spPr>
          <a:xfrm>
            <a:off x="2706624" y="2121408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8" name="box_1182"/>
          <p:cNvSpPr/>
          <p:nvPr/>
        </p:nvSpPr>
        <p:spPr>
          <a:xfrm>
            <a:off x="3090672" y="2121408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9" name="box_1183"/>
          <p:cNvSpPr/>
          <p:nvPr/>
        </p:nvSpPr>
        <p:spPr>
          <a:xfrm>
            <a:off x="3474720" y="2121408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0" name="box_1184"/>
          <p:cNvSpPr/>
          <p:nvPr/>
        </p:nvSpPr>
        <p:spPr>
          <a:xfrm>
            <a:off x="3858768" y="2121408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" name="text_1185"/>
          <p:cNvSpPr txBox="1"/>
          <p:nvPr/>
        </p:nvSpPr>
        <p:spPr>
          <a:xfrm>
            <a:off x="548640" y="2505456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G2</a:t>
            </a:r>
            <a:endParaRPr lang="en-US" sz="1100" dirty="0"/>
          </a:p>
        </p:txBody>
      </p:sp>
      <p:sp>
        <p:nvSpPr>
          <p:cNvPr id="22" name="box_1186"/>
          <p:cNvSpPr/>
          <p:nvPr/>
        </p:nvSpPr>
        <p:spPr>
          <a:xfrm>
            <a:off x="1554480" y="2505456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3" name="box_1187"/>
          <p:cNvSpPr/>
          <p:nvPr/>
        </p:nvSpPr>
        <p:spPr>
          <a:xfrm>
            <a:off x="1938528" y="2505456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4" name="box_1188"/>
          <p:cNvSpPr/>
          <p:nvPr/>
        </p:nvSpPr>
        <p:spPr>
          <a:xfrm>
            <a:off x="2322576" y="2505456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25" name="box_1189"/>
          <p:cNvSpPr/>
          <p:nvPr/>
        </p:nvSpPr>
        <p:spPr>
          <a:xfrm>
            <a:off x="2706624" y="2505456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6" name="box_1190"/>
          <p:cNvSpPr/>
          <p:nvPr/>
        </p:nvSpPr>
        <p:spPr>
          <a:xfrm>
            <a:off x="3090672" y="2505456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7" name="box_1191"/>
          <p:cNvSpPr/>
          <p:nvPr/>
        </p:nvSpPr>
        <p:spPr>
          <a:xfrm>
            <a:off x="3474720" y="2505456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8" name="box_1192"/>
          <p:cNvSpPr/>
          <p:nvPr/>
        </p:nvSpPr>
        <p:spPr>
          <a:xfrm>
            <a:off x="3858768" y="2505456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9" name="text_1193"/>
          <p:cNvSpPr txBox="1"/>
          <p:nvPr/>
        </p:nvSpPr>
        <p:spPr>
          <a:xfrm>
            <a:off x="548640" y="288950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G0</a:t>
            </a:r>
            <a:endParaRPr lang="en-US" sz="1100" dirty="0"/>
          </a:p>
        </p:txBody>
      </p:sp>
      <p:sp>
        <p:nvSpPr>
          <p:cNvPr id="30" name="box_1194"/>
          <p:cNvSpPr/>
          <p:nvPr/>
        </p:nvSpPr>
        <p:spPr>
          <a:xfrm>
            <a:off x="1554480" y="2889504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1" name="box_1195"/>
          <p:cNvSpPr/>
          <p:nvPr/>
        </p:nvSpPr>
        <p:spPr>
          <a:xfrm>
            <a:off x="1938528" y="2889504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2" name="box_1196"/>
          <p:cNvSpPr/>
          <p:nvPr/>
        </p:nvSpPr>
        <p:spPr>
          <a:xfrm>
            <a:off x="2322576" y="2889504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3" name="box_1197"/>
          <p:cNvSpPr/>
          <p:nvPr/>
        </p:nvSpPr>
        <p:spPr>
          <a:xfrm>
            <a:off x="2706624" y="2889504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34" name="box_1198"/>
          <p:cNvSpPr/>
          <p:nvPr/>
        </p:nvSpPr>
        <p:spPr>
          <a:xfrm>
            <a:off x="3090672" y="2889504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5" name="box_1199"/>
          <p:cNvSpPr/>
          <p:nvPr/>
        </p:nvSpPr>
        <p:spPr>
          <a:xfrm>
            <a:off x="3474720" y="2889504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6" name="box_1200"/>
          <p:cNvSpPr/>
          <p:nvPr/>
        </p:nvSpPr>
        <p:spPr>
          <a:xfrm>
            <a:off x="3858768" y="2889504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7" name="text_1201"/>
          <p:cNvSpPr txBox="1"/>
          <p:nvPr/>
        </p:nvSpPr>
        <p:spPr>
          <a:xfrm>
            <a:off x="548640" y="327355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G1</a:t>
            </a:r>
            <a:endParaRPr lang="en-US" sz="1100" dirty="0"/>
          </a:p>
        </p:txBody>
      </p:sp>
      <p:sp>
        <p:nvSpPr>
          <p:cNvPr id="38" name="box_1202"/>
          <p:cNvSpPr/>
          <p:nvPr/>
        </p:nvSpPr>
        <p:spPr>
          <a:xfrm>
            <a:off x="1554480" y="3273552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39" name="box_1203"/>
          <p:cNvSpPr/>
          <p:nvPr/>
        </p:nvSpPr>
        <p:spPr>
          <a:xfrm>
            <a:off x="1938528" y="3273552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40" name="box_1204"/>
          <p:cNvSpPr/>
          <p:nvPr/>
        </p:nvSpPr>
        <p:spPr>
          <a:xfrm>
            <a:off x="2322576" y="3273552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41" name="box_1205"/>
          <p:cNvSpPr/>
          <p:nvPr/>
        </p:nvSpPr>
        <p:spPr>
          <a:xfrm>
            <a:off x="2706624" y="3273552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42" name="box_1206"/>
          <p:cNvSpPr/>
          <p:nvPr/>
        </p:nvSpPr>
        <p:spPr>
          <a:xfrm>
            <a:off x="3090672" y="3273552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43" name="box_1207"/>
          <p:cNvSpPr/>
          <p:nvPr/>
        </p:nvSpPr>
        <p:spPr>
          <a:xfrm>
            <a:off x="3474720" y="3273552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44" name="box_1208"/>
          <p:cNvSpPr/>
          <p:nvPr/>
        </p:nvSpPr>
        <p:spPr>
          <a:xfrm>
            <a:off x="3858768" y="3273552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45" name="text_1209"/>
          <p:cNvSpPr txBox="1"/>
          <p:nvPr/>
        </p:nvSpPr>
        <p:spPr>
          <a:xfrm>
            <a:off x="548640" y="365760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G2</a:t>
            </a:r>
            <a:endParaRPr lang="en-US" sz="1100" dirty="0"/>
          </a:p>
        </p:txBody>
      </p:sp>
      <p:sp>
        <p:nvSpPr>
          <p:cNvPr id="46" name="box_1210"/>
          <p:cNvSpPr/>
          <p:nvPr/>
        </p:nvSpPr>
        <p:spPr>
          <a:xfrm>
            <a:off x="1554480" y="3657600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47" name="box_1211"/>
          <p:cNvSpPr/>
          <p:nvPr/>
        </p:nvSpPr>
        <p:spPr>
          <a:xfrm>
            <a:off x="1938528" y="3657600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48" name="box_1212"/>
          <p:cNvSpPr/>
          <p:nvPr/>
        </p:nvSpPr>
        <p:spPr>
          <a:xfrm>
            <a:off x="2322576" y="3657600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49" name="box_1213"/>
          <p:cNvSpPr/>
          <p:nvPr/>
        </p:nvSpPr>
        <p:spPr>
          <a:xfrm>
            <a:off x="2706624" y="3657600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0" name="box_1214"/>
          <p:cNvSpPr/>
          <p:nvPr/>
        </p:nvSpPr>
        <p:spPr>
          <a:xfrm>
            <a:off x="3090672" y="3657600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1" name="box_1215"/>
          <p:cNvSpPr/>
          <p:nvPr/>
        </p:nvSpPr>
        <p:spPr>
          <a:xfrm>
            <a:off x="3474720" y="3657600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52" name="box_1216"/>
          <p:cNvSpPr/>
          <p:nvPr/>
        </p:nvSpPr>
        <p:spPr>
          <a:xfrm>
            <a:off x="3858768" y="3657600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3" name="text_1217"/>
          <p:cNvSpPr txBox="1"/>
          <p:nvPr/>
        </p:nvSpPr>
        <p:spPr>
          <a:xfrm>
            <a:off x="548640" y="404164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G3</a:t>
            </a:r>
            <a:endParaRPr lang="en-US" sz="1100" dirty="0"/>
          </a:p>
        </p:txBody>
      </p:sp>
      <p:sp>
        <p:nvSpPr>
          <p:cNvPr id="54" name="box_1218"/>
          <p:cNvSpPr/>
          <p:nvPr/>
        </p:nvSpPr>
        <p:spPr>
          <a:xfrm>
            <a:off x="1554480" y="4041648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55" name="box_1219"/>
          <p:cNvSpPr/>
          <p:nvPr/>
        </p:nvSpPr>
        <p:spPr>
          <a:xfrm>
            <a:off x="1938528" y="4041648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56" name="box_1220"/>
          <p:cNvSpPr/>
          <p:nvPr/>
        </p:nvSpPr>
        <p:spPr>
          <a:xfrm>
            <a:off x="2322576" y="4041648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57" name="box_1221"/>
          <p:cNvSpPr/>
          <p:nvPr/>
        </p:nvSpPr>
        <p:spPr>
          <a:xfrm>
            <a:off x="2706624" y="4041648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8" name="box_1222"/>
          <p:cNvSpPr/>
          <p:nvPr/>
        </p:nvSpPr>
        <p:spPr>
          <a:xfrm>
            <a:off x="3090672" y="4041648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9" name="box_1223"/>
          <p:cNvSpPr/>
          <p:nvPr/>
        </p:nvSpPr>
        <p:spPr>
          <a:xfrm>
            <a:off x="3474720" y="4041648"/>
            <a:ext cx="365760" cy="365760"/>
          </a:xfrm>
          <a:prstGeom prst="rect">
            <a:avLst/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60" name="box_1224"/>
          <p:cNvSpPr/>
          <p:nvPr/>
        </p:nvSpPr>
        <p:spPr>
          <a:xfrm>
            <a:off x="3858768" y="4041648"/>
            <a:ext cx="365760" cy="365760"/>
          </a:xfrm>
          <a:prstGeom prst="rect">
            <a:avLst/>
          </a:prstGeom>
          <a:solidFill>
            <a:srgbClr val="5BD49A"/>
          </a:solidFill>
          <a:ln w="12700">
            <a:solidFill>
              <a:srgbClr val="5BD49A"/>
            </a:solidFill>
            <a:prstDash val="solid"/>
          </a:ln>
        </p:spPr>
      </p:sp>
      <p:sp>
        <p:nvSpPr>
          <p:cNvPr id="61" name="text_1225"/>
          <p:cNvSpPr txBox="1"/>
          <p:nvPr/>
        </p:nvSpPr>
        <p:spPr>
          <a:xfrm>
            <a:off x="1371600" y="4443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</a:t>
            </a:r>
            <a:endParaRPr lang="en-US" sz="1000" dirty="0"/>
          </a:p>
        </p:txBody>
      </p:sp>
      <p:sp>
        <p:nvSpPr>
          <p:cNvPr id="62" name="text_1226"/>
          <p:cNvSpPr txBox="1"/>
          <p:nvPr/>
        </p:nvSpPr>
        <p:spPr>
          <a:xfrm>
            <a:off x="1755648" y="4443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00" dirty="0"/>
          </a:p>
        </p:txBody>
      </p:sp>
      <p:sp>
        <p:nvSpPr>
          <p:cNvPr id="63" name="text_1227"/>
          <p:cNvSpPr txBox="1"/>
          <p:nvPr/>
        </p:nvSpPr>
        <p:spPr>
          <a:xfrm>
            <a:off x="2139696" y="4443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00" dirty="0"/>
          </a:p>
        </p:txBody>
      </p:sp>
      <p:sp>
        <p:nvSpPr>
          <p:cNvPr id="64" name="text_1228"/>
          <p:cNvSpPr txBox="1"/>
          <p:nvPr/>
        </p:nvSpPr>
        <p:spPr>
          <a:xfrm>
            <a:off x="2523744" y="4443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</a:t>
            </a:r>
            <a:endParaRPr lang="en-US" sz="1000" dirty="0"/>
          </a:p>
        </p:txBody>
      </p:sp>
      <p:sp>
        <p:nvSpPr>
          <p:cNvPr id="65" name="text_1229"/>
          <p:cNvSpPr txBox="1"/>
          <p:nvPr/>
        </p:nvSpPr>
        <p:spPr>
          <a:xfrm>
            <a:off x="2907792" y="4443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000" dirty="0"/>
          </a:p>
        </p:txBody>
      </p:sp>
      <p:sp>
        <p:nvSpPr>
          <p:cNvPr id="66" name="text_1230"/>
          <p:cNvSpPr txBox="1"/>
          <p:nvPr/>
        </p:nvSpPr>
        <p:spPr>
          <a:xfrm>
            <a:off x="3291840" y="4443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000" dirty="0"/>
          </a:p>
        </p:txBody>
      </p:sp>
      <p:sp>
        <p:nvSpPr>
          <p:cNvPr id="67" name="text_1231"/>
          <p:cNvSpPr txBox="1"/>
          <p:nvPr/>
        </p:nvSpPr>
        <p:spPr>
          <a:xfrm>
            <a:off x="3675888" y="4443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1000" dirty="0"/>
          </a:p>
        </p:txBody>
      </p:sp>
      <p:sp>
        <p:nvSpPr>
          <p:cNvPr id="68" name="text_1232"/>
          <p:cNvSpPr txBox="1"/>
          <p:nvPr/>
        </p:nvSpPr>
        <p:spPr>
          <a:xfrm>
            <a:off x="548640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Gₖ ← clean G≤ₖ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noisy Gₖ ← clean G&lt;ₖ and itself</a:t>
            </a:r>
            <a:endParaRPr lang="en-US" sz="1200" dirty="0"/>
          </a:p>
        </p:txBody>
      </p:sp>
      <p:sp>
        <p:nvSpPr>
          <p:cNvPr id="69" name="text_1233"/>
          <p:cNvSpPr txBox="1"/>
          <p:nvPr/>
        </p:nvSpPr>
        <p:spPr>
          <a:xfrm>
            <a:off x="548640" y="5166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A0: 4 noisy slots, all-true mask. Spatial heads never masked (no spatial order).</a:t>
            </a:r>
            <a:endParaRPr lang="en-US" sz="1200" dirty="0"/>
          </a:p>
        </p:txBody>
      </p:sp>
      <p:sp>
        <p:nvSpPr>
          <p:cNvPr id="70" name="text_1234"/>
          <p:cNvSpPr txBox="1"/>
          <p:nvPr/>
        </p:nvSpPr>
        <p:spPr>
          <a:xfrm>
            <a:off x="6035040" y="1371600"/>
            <a:ext cx="56235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Jacobian tests (C–G), two attention backends, at init and after 200 AdamW steps: </a:t>
            </a: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∂ε̂(Gₖ)/∂ clean Gₖ = 0 exactly; noisy slots never see each other; later stages never reach earlier outputs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prefix cache: </a:t>
            </a: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slots depend only on lower clean slots and t = 0, so their per-layer frequency K/V are computed once per stage; cached vs training-path ε̂ differ ≤ 1e-6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probe: </a:t>
            </a: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gradients of stage-3 loss into G3’s own band are exactly 0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model a1_rev: </a:t>
            </a: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test passes; parameter count identical (adapters permuted)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BandJoint differs: </a:t>
            </a: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sums the prefix into one token per position and re-runs its encoder per stage; there is no frequency axis inside its transformer</a:t>
            </a:r>
            <a:endParaRPr lang="en-US" sz="1250" dirty="0"/>
          </a:p>
        </p:txBody>
      </p:sp>
      <p:sp>
        <p:nvSpPr>
          <p:cNvPr id="71" name="text_1235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axial/verify_axial_D192.json (B: fmask, inference_vs_training_eps; CDEFG), ffhq64/edit/preflight.json, verify_diffpp.py; report “Implementation audit”.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 ·  SAMPLERS &amp; NFE ACCOUNTING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Samplers: equations and evaluation accounting</a:t>
            </a:r>
            <a:endParaRPr lang="en-US" sz="2800" dirty="0"/>
          </a:p>
        </p:txBody>
      </p:sp>
      <p:pic>
        <p:nvPicPr>
          <p:cNvPr id="4" name="img_1236" descr="/home/nada/PycharmProjects/learned-spectral-basis/.claude/worktrees/shai-deck/reports/shai_deck/figures/plots/solver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8448"/>
            <a:ext cx="5221877" cy="3063240"/>
          </a:xfrm>
          <a:prstGeom prst="rect">
            <a:avLst/>
          </a:prstGeom>
        </p:spPr>
      </p:pic>
      <p:pic>
        <p:nvPicPr>
          <p:cNvPr id="5" name="img_1237" descr="/home/nada/PycharmProjects/learned-spectral-basis/.claude/worktrees/shai-deck/reports/shai_deck/figures/plots/stage_allo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98448"/>
            <a:ext cx="5283830" cy="3063240"/>
          </a:xfrm>
          <a:prstGeom prst="rect">
            <a:avLst/>
          </a:prstGeom>
        </p:spPr>
      </p:pic>
      <p:sp>
        <p:nvSpPr>
          <p:cNvPr id="6" name="text_1238"/>
          <p:cNvSpPr txBox="1"/>
          <p:nvPr/>
        </p:nvSpPr>
        <p:spPr>
          <a:xfrm>
            <a:off x="548640" y="4462272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ODE: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probability flow of DCTdiff’s SDE (SNR scale 4.0); data prediction x̂₀ = (xₜ − σₜ ε̂)/αₜ; t: 1 → 10⁻³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UniPC-2 bh2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(predictor + UniC corrector reusing the next evaluation), uniform-logSNR grid, final reference Euler step 10⁻³ → 0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calls = Σₖ nₖ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(one noisy-slot pass each) + one prefix-cache pass per stage k ≥ 1; GFLOP/image: Euler-400 599, UniPC-46 77; R0 UniPC-15 ≈ 88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curves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one stage with the others at 15; joint schedules are not additive ([12,8,6,6] 12.75 vs [20,10,8,8] 10.77)</a:t>
            </a:r>
            <a:endParaRPr lang="en-US" sz="1200" dirty="0"/>
          </a:p>
        </p:txBody>
      </p:sp>
      <p:sp>
        <p:nvSpPr>
          <p:cNvPr id="7" name="text_1239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lsb/dct_causal/ffhq64_eff.py (solvers), efficiency/runs.json (uni_*, fs_*, r0_unipc_*), baseline.json (GFLOP/call 1.47, prefix cache), phase2_verdict.json. FID-10K = mean of std &amp; 31M seed sets where both exist.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 ·  EVALUATION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protocol: q90 reference, FID-10K vs 50K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71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(FFHQ)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EDM Inception FID vs real_q90_pool: all 70k jpeg-ar q90 FFHQ-64 images (thumbnails128 → LANCZOS 64 → JPEG q90 4:2:0 → decode), exported losslessly; floor FID 1.4e-5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 vs the official EDM FFHQ-64 reference: includes the q90 codec floor (10.77) → R0 35.20, A1-146k 37.27, A1-250k 35.01 · never mixed with primary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/ recall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Kynkäänniemi k = 3, Inception pool3, at n = 50k for decisive numbers (at n = 10k real-vs-real recall is only 0.74)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FID-10K vs 50K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FID-10K is biased upward: A1 146k 16.43 (first 10k) vs 15.08 (50k); R0 13.95 vs 12.66 → separate axes, never one plot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 = generator 20261017 + shard (paired across samplers); 31M = second independent set. H100 and A5000 CUDA noise streams differ for the same seed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CIFAR-10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DCTdiff’s own statistics, which match JPEG-q75 re-encoded images; our R0 250k FID-10K 8.50 vs released checkpoint 8.54 (reproduction OK)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comparable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DCTdiff’s reported FFHQ-128 6.25 (its q75 stats, pytorch-fid); BandJoint training hours (A5000); any FID-10K against FID-50K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</a:tbl>
          </a:graphicData>
        </a:graphic>
      </p:graphicFrame>
      <p:sp>
        <p:nvSpPr>
          <p:cNvPr id="5" name="text_1240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PREREG_FFHQ64.md, PREREG_EFFICIENCY_FFHQ64.md, ffhq64/summary.json, efficiency/baseline.json (note on H100 vs A5000 streams), report “Reproduction and evaluator”.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 ·  HISTORY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architectures we abandoned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737360"/>
                <a:gridCol w="65196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Spatial-causal DCTdiff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AXIS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16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causality over token positions, not frequency; seams at every token boundary at 50k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256-token block-causal staging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COSTLY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16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stages × 64 positions as one sequence: correct but 4.18× R0 FLOPs; stopped at 5.7k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Prefix-causal E0 / E1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 PROBLEM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16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sampled target group per example; E1 needed 3 calls per solver 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Channel-causal C0 / C1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CONFOUNDED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16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trunk split into 128|256|128 lanes; C1 2.02× worse (recall −0.13), DC output reached 1/16 of weights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Depth-staged P0 / P1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groups injected at blocks 6/10/13; frozen at 9.8k when we switched to the axial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BandJoint (jpeg-ar, Sep 2026)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1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SUPERSEDED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radial bands of JPEG-q90 8×8 DCT, summed prefix re-encoded per stage, 122.5M; FID-50K 21.32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5" name="text_1241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put frequency on its own axis (slots) instead of serializing tokens or splitting channels — the axial design keeps attention cost at slots·(S+1)² + (S+1)·slots² and lets one forward train every conditional.</a:t>
            </a:r>
            <a:endParaRPr lang="en-US" sz="1300" dirty="0"/>
          </a:p>
        </p:txBody>
      </p:sp>
      <p:sp>
        <p:nvSpPr>
          <p:cNvPr id="6" name="text_1242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report.html “Archived 1–4b”; reports/dct_causal/PREREG_CHAN.md, PREREG_DEPTH.md, PREREG_FREQSTAGE.md; jpeg-ar BandJoint campaign memory.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  ·  COST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throughput and FLOP accounting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691640"/>
                <a:gridCol w="1600200"/>
                <a:gridCol w="2011680"/>
                <a:gridCol w="2057400"/>
                <a:gridCol w="8961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H100 steps/s (bs 256)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GFLOP / image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H100-h to final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sampling GFLOP / image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serial calls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R0 DCTdiff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44.2M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3.34 (250k)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88 (UniPC-15)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A88B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 joint axial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11.09M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3.34 (174k)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(UniPC best)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4C3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 frequency-AR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11.09M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3.36 (146k) · 5.77 (250k)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 (UniPC-46) · 599 (Euler-400)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5" name="text_1243"/>
          <p:cNvSpPr txBox="1"/>
          <p:nvPr/>
        </p:nvSpPr>
        <p:spPr>
          <a:xfrm>
            <a:off x="548640" y="361188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trains 4 conditionals per image in one forward over 7 slots × 65 tokens, so 1.75× A0’s FLOPs per image; its H100 utilization is higher, which is why A1 wins per hour but only ties per FLOP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call A1 costs 1.47 GFLOP (noisy slot only) vs ≈ 5.9 for R0, but narrow D256 calls are latency/memory-bound: 4× fewer FLOPs per call did not give 4× faster calls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GPU time (A5000 / H100 sampling) is not included in training H100-hours</a:t>
            </a:r>
            <a:endParaRPr lang="en-US" sz="1300" dirty="0"/>
          </a:p>
        </p:txBody>
      </p:sp>
      <p:sp>
        <p:nvSpPr>
          <p:cNvPr id="6" name="text_1244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ffhq64/summary.json (probe_steps_per_s, r0_h100_hours), ffhq64/mature/summary.json (FlopCounterMode, fwd+bwd), efficiency/baseline.json (GFLOP per call / prefix cache), phase2_verdict.json.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  ·  ROBUSTNESS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single-token tail artifact</a:t>
            </a:r>
            <a:endParaRPr lang="en-US" sz="2800" dirty="0"/>
          </a:p>
        </p:txBody>
      </p:sp>
      <p:pic>
        <p:nvPicPr>
          <p:cNvPr id="4" name="img_1245" descr="/home/nada/PycharmProjects/learned-spectral-basis/.claude/worktrees/shai-deck/reports/shai_deck/figures/samples/fail_0_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77824" cy="877824"/>
          </a:xfrm>
          <a:prstGeom prst="rect">
            <a:avLst/>
          </a:prstGeom>
        </p:spPr>
      </p:pic>
      <p:pic>
        <p:nvPicPr>
          <p:cNvPr id="5" name="img_1246" descr="/home/nada/PycharmProjects/learned-spectral-basis/.claude/worktrees/shai-deck/reports/shai_deck/figures/samples/fail_1_g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04288"/>
            <a:ext cx="877824" cy="877824"/>
          </a:xfrm>
          <a:prstGeom prst="rect">
            <a:avLst/>
          </a:prstGeom>
        </p:spPr>
      </p:pic>
      <p:pic>
        <p:nvPicPr>
          <p:cNvPr id="6" name="img_1247" descr="/home/nada/PycharmProjects/learned-spectral-basis/.claude/worktrees/shai-deck/reports/shai_deck/figures/samples/fail_2_g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6976"/>
            <a:ext cx="877824" cy="877824"/>
          </a:xfrm>
          <a:prstGeom prst="rect">
            <a:avLst/>
          </a:prstGeom>
        </p:spPr>
      </p:pic>
      <p:sp>
        <p:nvSpPr>
          <p:cNvPr id="7" name="text_1248"/>
          <p:cNvSpPr txBox="1"/>
          <p:nvPr/>
        </p:nvSpPr>
        <p:spPr>
          <a:xfrm>
            <a:off x="548640" y="416966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1050" dirty="0"/>
          </a:p>
        </p:txBody>
      </p:sp>
      <p:pic>
        <p:nvPicPr>
          <p:cNvPr id="8" name="img_1249" descr="/home/nada/PycharmProjects/learned-spectral-basis/.claude/worktrees/shai-deck/reports/shai_deck/figures/samples/fail_0_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1371600"/>
            <a:ext cx="877824" cy="877824"/>
          </a:xfrm>
          <a:prstGeom prst="rect">
            <a:avLst/>
          </a:prstGeom>
        </p:spPr>
      </p:pic>
      <p:pic>
        <p:nvPicPr>
          <p:cNvPr id="9" name="img_1250" descr="/home/nada/PycharmProjects/learned-spectral-basis/.claude/worktrees/shai-deck/reports/shai_deck/figures/samples/fail_1_g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2304288"/>
            <a:ext cx="877824" cy="877824"/>
          </a:xfrm>
          <a:prstGeom prst="rect">
            <a:avLst/>
          </a:prstGeom>
        </p:spPr>
      </p:pic>
      <p:pic>
        <p:nvPicPr>
          <p:cNvPr id="10" name="img_1251" descr="/home/nada/PycharmProjects/learned-spectral-basis/.claude/worktrees/shai-deck/reports/shai_deck/figures/samples/fail_2_g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3236976"/>
            <a:ext cx="877824" cy="877824"/>
          </a:xfrm>
          <a:prstGeom prst="rect">
            <a:avLst/>
          </a:prstGeom>
        </p:spPr>
      </p:pic>
      <p:sp>
        <p:nvSpPr>
          <p:cNvPr id="11" name="text_1252"/>
          <p:cNvSpPr txBox="1"/>
          <p:nvPr/>
        </p:nvSpPr>
        <p:spPr>
          <a:xfrm>
            <a:off x="1481328" y="416966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≤G1</a:t>
            </a:r>
            <a:endParaRPr lang="en-US" sz="1050" dirty="0"/>
          </a:p>
        </p:txBody>
      </p:sp>
      <p:pic>
        <p:nvPicPr>
          <p:cNvPr id="12" name="img_1253" descr="/home/nada/PycharmProjects/learned-spectral-basis/.claude/worktrees/shai-deck/reports/shai_deck/figures/samples/fail_0_g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4016" y="1371600"/>
            <a:ext cx="877824" cy="877824"/>
          </a:xfrm>
          <a:prstGeom prst="rect">
            <a:avLst/>
          </a:prstGeom>
        </p:spPr>
      </p:pic>
      <p:pic>
        <p:nvPicPr>
          <p:cNvPr id="13" name="img_1254" descr="/home/nada/PycharmProjects/learned-spectral-basis/.claude/worktrees/shai-deck/reports/shai_deck/figures/samples/fail_1_g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4016" y="2304288"/>
            <a:ext cx="877824" cy="877824"/>
          </a:xfrm>
          <a:prstGeom prst="rect">
            <a:avLst/>
          </a:prstGeom>
        </p:spPr>
      </p:pic>
      <p:pic>
        <p:nvPicPr>
          <p:cNvPr id="14" name="img_1255" descr="/home/nada/PycharmProjects/learned-spectral-basis/.claude/worktrees/shai-deck/reports/shai_deck/figures/samples/fail_2_g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4016" y="3236976"/>
            <a:ext cx="877824" cy="877824"/>
          </a:xfrm>
          <a:prstGeom prst="rect">
            <a:avLst/>
          </a:prstGeom>
        </p:spPr>
      </p:pic>
      <p:sp>
        <p:nvSpPr>
          <p:cNvPr id="15" name="text_1256"/>
          <p:cNvSpPr txBox="1"/>
          <p:nvPr/>
        </p:nvSpPr>
        <p:spPr>
          <a:xfrm>
            <a:off x="2414016" y="416966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≤G2</a:t>
            </a:r>
            <a:endParaRPr lang="en-US" sz="1050" dirty="0"/>
          </a:p>
        </p:txBody>
      </p:sp>
      <p:pic>
        <p:nvPicPr>
          <p:cNvPr id="16" name="img_1257" descr="/home/nada/PycharmProjects/learned-spectral-basis/.claude/worktrees/shai-deck/reports/shai_deck/figures/samples/fail_0_g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6704" y="1371600"/>
            <a:ext cx="877824" cy="877824"/>
          </a:xfrm>
          <a:prstGeom prst="rect">
            <a:avLst/>
          </a:prstGeom>
        </p:spPr>
      </p:pic>
      <p:pic>
        <p:nvPicPr>
          <p:cNvPr id="17" name="img_1258" descr="/home/nada/PycharmProjects/learned-spectral-basis/.claude/worktrees/shai-deck/reports/shai_deck/figures/samples/fail_1_g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6704" y="2304288"/>
            <a:ext cx="877824" cy="877824"/>
          </a:xfrm>
          <a:prstGeom prst="rect">
            <a:avLst/>
          </a:prstGeom>
        </p:spPr>
      </p:pic>
      <p:pic>
        <p:nvPicPr>
          <p:cNvPr id="18" name="img_1259" descr="/home/nada/PycharmProjects/learned-spectral-basis/.claude/worktrees/shai-deck/reports/shai_deck/figures/samples/fail_2_g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6704" y="3236976"/>
            <a:ext cx="877824" cy="877824"/>
          </a:xfrm>
          <a:prstGeom prst="rect">
            <a:avLst/>
          </a:prstGeom>
        </p:spPr>
      </p:pic>
      <p:sp>
        <p:nvSpPr>
          <p:cNvPr id="19" name="text_1260"/>
          <p:cNvSpPr txBox="1"/>
          <p:nvPr/>
        </p:nvSpPr>
        <p:spPr>
          <a:xfrm>
            <a:off x="3346704" y="416966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050" dirty="0"/>
          </a:p>
        </p:txBody>
      </p:sp>
      <p:sp>
        <p:nvSpPr>
          <p:cNvPr id="20" name="text_1261"/>
          <p:cNvSpPr txBox="1"/>
          <p:nvPr/>
        </p:nvSpPr>
        <p:spPr>
          <a:xfrm>
            <a:off x="4434840" y="137160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token’s highest group (G2 on CIFAR, G3 on FFHQ) reaches 2–150× the largest value in 10k real images; all 6 blocks of that token, chroma worst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token’s own stage noise norm: 0 failures below 4.5 (of ~255k tokens), 77% at 5–5.25, 100% above 5.25 (CIFAR A1 500k); prefix swaps do nothing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 = 1 the ε-network under-predicts extreme input noise (ε̂/x 1.00 up to 2.5σ, 0.91 at 3σ, 0.55 at 5σ); σ/α amplifies the miss; the deterministic ODE locks 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caused by frequency AR: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 100k rates A1 0.85%, A0 0.70%, R0 0.10% — a property of per-stage noise tokens in the axial design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measurable in FID (redraw all tokens with norm &gt; 4.5: 15.088 → 15.140). Grows with training. FFHQ UniPC 5k: &gt; 5× data max in 2.6% (A1) vs 0.5% (R0)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(not applied): </a:t>
            </a: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 per-token noise norm; dynamic x̂₀ thresholding; v- or x₀-prediction for noisy slots</a:t>
            </a:r>
            <a:endParaRPr lang="en-US" sz="1200" dirty="0"/>
          </a:p>
        </p:txBody>
      </p:sp>
      <p:sp>
        <p:nvSpPr>
          <p:cNvPr id="21" name="text_1262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G2_DIAG (CIFAR, A1 D192 500k); g2/tail.json, swap_*.json; FFHQ incidence recounted on efficiency j20_10_8_8 / r0_unipc_15 / a0_unipc_15 coefficient arrays (samples_meta.json).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 ·  ALL SCREENS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screen table (raw numbers)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40080"/>
                <a:gridCol w="1417320"/>
                <a:gridCol w="1143000"/>
                <a:gridCol w="1325880"/>
                <a:gridCol w="1600200"/>
                <a:gridCol w="1463040"/>
                <a:gridCol w="1325880"/>
                <a:gridCol w="7589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H100-h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FID-10K EMA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FID-10K raw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EMA / raw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AA6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 D192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 / 250k / 500k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 / 3.64 / 7.34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18.43 / 15.19 / 15.09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28.44 (100k)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.494 (100k)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Euler 100/stage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 D256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 / 185k / 250k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 / 3.32 / 4.48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14.77 / 12.81 / 13.16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18.18 / 19.70 / 21.40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.537 / .564 / .560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Euler 100/stage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 D256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 / 200k / 250k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 / 3.30 / 4.12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13.99 / 11.49 / 10.97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17.04 / 16.81 / 17.30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.557 / .575 / .589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Euler 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R0 (ours)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 / 250k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 / 3.35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12.67 / 8.50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16.05 / 18.31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.565 / .600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Euler 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 D320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17.29M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4×4 K3 / K7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 / 2.88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22.07 / 21.01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25.88 / 25.31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.472 / .473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full-image K8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G₋₁ / σ 0.005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 / 1.48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19.67 / 18.75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30.61 / 21.48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.500 / .497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 D256 (ctrl)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FFHQ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11.09M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≈1.15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.204 / .315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UniPC 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L8 · K6 · 8×8 k36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FFHQ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7.67 / — / 11.14M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 / — / 0.52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48.43 / 52.08 / 72.41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30.25 / 38.58 / 82.67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.053 / .053 / .011 (EMA)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UniPC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 vs reverse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FFHQ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11.09M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≈2.3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13.69 vs 46.77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22.94 vs 69.87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.428 vs .055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best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 D256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FFHQ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11.09M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 (UniPC-15)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.393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UniPC 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739"/>
                    </a:solidFill>
                  </a:tcPr>
                </a:tc>
              </a:tr>
            </a:tbl>
          </a:graphicData>
        </a:graphic>
      </p:graphicFrame>
      <p:sp>
        <p:nvSpPr>
          <p:cNvPr id="5" name="text_1263"/>
          <p:cNvSpPr txBox="1"/>
          <p:nvPr/>
        </p:nvSpPr>
        <p:spPr>
          <a:xfrm>
            <a:off x="548640" y="6291072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scaling/summary.json (arms, d256_maturity, a1), efficiency/screens.json, efficiency/runs.json (rev100_*, a1100_*, a0_unipc_*). FFHQ 100k reverse comparison: FID-10K mean of std/31M where both exist; reverse std only.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A9  ·  SAME NOISE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initial noise, different samplers and models</a:t>
            </a:r>
            <a:endParaRPr lang="en-US" sz="2800" dirty="0"/>
          </a:p>
        </p:txBody>
      </p:sp>
      <p:sp>
        <p:nvSpPr>
          <p:cNvPr id="4" name="text_1264"/>
          <p:cNvSpPr txBox="1"/>
          <p:nvPr/>
        </p:nvSpPr>
        <p:spPr>
          <a:xfrm>
            <a:off x="548640" y="135331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A1 250k · Euler 400</a:t>
            </a:r>
            <a:endParaRPr lang="en-US" sz="1150" dirty="0"/>
          </a:p>
        </p:txBody>
      </p:sp>
      <p:pic>
        <p:nvPicPr>
          <p:cNvPr id="5" name="img_1265" descr="/home/nada/PycharmProjects/learned-spectral-basis/.claude/worktrees/shai-deck/reports/shai_deck/figures/samples/base_std_s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353312"/>
            <a:ext cx="676656" cy="676656"/>
          </a:xfrm>
          <a:prstGeom prst="rect">
            <a:avLst/>
          </a:prstGeom>
        </p:spPr>
      </p:pic>
      <p:pic>
        <p:nvPicPr>
          <p:cNvPr id="6" name="img_1266" descr="/home/nada/PycharmProjects/learned-spectral-basis/.claude/worktrees/shai-deck/reports/shai_deck/figures/samples/base_std_s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353312"/>
            <a:ext cx="676656" cy="676656"/>
          </a:xfrm>
          <a:prstGeom prst="rect">
            <a:avLst/>
          </a:prstGeom>
        </p:spPr>
      </p:pic>
      <p:pic>
        <p:nvPicPr>
          <p:cNvPr id="7" name="img_1267" descr="/home/nada/PycharmProjects/learned-spectral-basis/.claude/worktrees/shai-deck/reports/shai_deck/figures/samples/base_std_s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353312"/>
            <a:ext cx="676656" cy="676656"/>
          </a:xfrm>
          <a:prstGeom prst="rect">
            <a:avLst/>
          </a:prstGeom>
        </p:spPr>
      </p:pic>
      <p:pic>
        <p:nvPicPr>
          <p:cNvPr id="8" name="img_1268" descr="/home/nada/PycharmProjects/learned-spectral-basis/.claude/worktrees/shai-deck/reports/shai_deck/figures/samples/base_std_s0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353312"/>
            <a:ext cx="676656" cy="676656"/>
          </a:xfrm>
          <a:prstGeom prst="rect">
            <a:avLst/>
          </a:prstGeom>
        </p:spPr>
      </p:pic>
      <p:pic>
        <p:nvPicPr>
          <p:cNvPr id="9" name="img_1269" descr="/home/nada/PycharmProjects/learned-spectral-basis/.claude/worktrees/shai-deck/reports/shai_deck/figures/samples/base_std_s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264" y="1353312"/>
            <a:ext cx="676656" cy="676656"/>
          </a:xfrm>
          <a:prstGeom prst="rect">
            <a:avLst/>
          </a:prstGeom>
        </p:spPr>
      </p:pic>
      <p:pic>
        <p:nvPicPr>
          <p:cNvPr id="10" name="img_1270" descr="/home/nada/PycharmProjects/learned-spectral-basis/.claude/worktrees/shai-deck/reports/shai_deck/figures/samples/base_std_s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353312"/>
            <a:ext cx="676656" cy="676656"/>
          </a:xfrm>
          <a:prstGeom prst="rect">
            <a:avLst/>
          </a:prstGeom>
        </p:spPr>
      </p:pic>
      <p:pic>
        <p:nvPicPr>
          <p:cNvPr id="11" name="img_1271" descr="/home/nada/PycharmProjects/learned-spectral-basis/.claude/worktrees/shai-deck/reports/shai_deck/figures/samples/base_std_s0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6016" y="1353312"/>
            <a:ext cx="676656" cy="676656"/>
          </a:xfrm>
          <a:prstGeom prst="rect">
            <a:avLst/>
          </a:prstGeom>
        </p:spPr>
      </p:pic>
      <p:pic>
        <p:nvPicPr>
          <p:cNvPr id="12" name="img_1272" descr="/home/nada/PycharmProjects/learned-spectral-basis/.claude/worktrees/shai-deck/reports/shai_deck/figures/samples/base_std_s0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392" y="1353312"/>
            <a:ext cx="676656" cy="676656"/>
          </a:xfrm>
          <a:prstGeom prst="rect">
            <a:avLst/>
          </a:prstGeom>
        </p:spPr>
      </p:pic>
      <p:pic>
        <p:nvPicPr>
          <p:cNvPr id="13" name="img_1273" descr="/home/nada/PycharmProjects/learned-spectral-basis/.claude/worktrees/shai-deck/reports/shai_deck/figures/samples/base_std_s0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0768" y="1353312"/>
            <a:ext cx="676656" cy="676656"/>
          </a:xfrm>
          <a:prstGeom prst="rect">
            <a:avLst/>
          </a:prstGeom>
        </p:spPr>
      </p:pic>
      <p:pic>
        <p:nvPicPr>
          <p:cNvPr id="14" name="img_1274" descr="/home/nada/PycharmProjects/learned-spectral-basis/.claude/worktrees/shai-deck/reports/shai_deck/figures/samples/base_std_s0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3144" y="1353312"/>
            <a:ext cx="676656" cy="676656"/>
          </a:xfrm>
          <a:prstGeom prst="rect">
            <a:avLst/>
          </a:prstGeom>
        </p:spPr>
      </p:pic>
      <p:pic>
        <p:nvPicPr>
          <p:cNvPr id="15" name="img_1275" descr="/home/nada/PycharmProjects/learned-spectral-basis/.claude/worktrees/shai-deck/reports/shai_deck/figures/samples/base_std_s1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5520" y="1353312"/>
            <a:ext cx="676656" cy="676656"/>
          </a:xfrm>
          <a:prstGeom prst="rect">
            <a:avLst/>
          </a:prstGeom>
        </p:spPr>
      </p:pic>
      <p:pic>
        <p:nvPicPr>
          <p:cNvPr id="16" name="img_1276" descr="/home/nada/PycharmProjects/learned-spectral-basis/.claude/worktrees/shai-deck/reports/shai_deck/figures/samples/base_std_s1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7896" y="1353312"/>
            <a:ext cx="676656" cy="676656"/>
          </a:xfrm>
          <a:prstGeom prst="rect">
            <a:avLst/>
          </a:prstGeom>
        </p:spPr>
      </p:pic>
      <p:sp>
        <p:nvSpPr>
          <p:cNvPr id="17" name="text_1277"/>
          <p:cNvSpPr txBox="1"/>
          <p:nvPr/>
        </p:nvSpPr>
        <p:spPr>
          <a:xfrm>
            <a:off x="548640" y="209397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A1 250k · UniPC 46</a:t>
            </a:r>
            <a:endParaRPr lang="en-US" sz="1150" dirty="0"/>
          </a:p>
        </p:txBody>
      </p:sp>
      <p:pic>
        <p:nvPicPr>
          <p:cNvPr id="18" name="img_1278" descr="/home/nada/PycharmProjects/learned-spectral-basis/.claude/worktrees/shai-deck/reports/shai_deck/figures/samples/j20_10_8_8_s0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1760" y="2093976"/>
            <a:ext cx="676656" cy="676656"/>
          </a:xfrm>
          <a:prstGeom prst="rect">
            <a:avLst/>
          </a:prstGeom>
        </p:spPr>
      </p:pic>
      <p:pic>
        <p:nvPicPr>
          <p:cNvPr id="19" name="img_1279" descr="/home/nada/PycharmProjects/learned-spectral-basis/.claude/worktrees/shai-deck/reports/shai_deck/figures/samples/j20_10_8_8_s0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74136" y="2093976"/>
            <a:ext cx="676656" cy="676656"/>
          </a:xfrm>
          <a:prstGeom prst="rect">
            <a:avLst/>
          </a:prstGeom>
        </p:spPr>
      </p:pic>
      <p:pic>
        <p:nvPicPr>
          <p:cNvPr id="20" name="img_1280" descr="/home/nada/PycharmProjects/learned-spectral-basis/.claude/worktrees/shai-deck/reports/shai_deck/figures/samples/j20_10_8_8_s0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96512" y="2093976"/>
            <a:ext cx="676656" cy="676656"/>
          </a:xfrm>
          <a:prstGeom prst="rect">
            <a:avLst/>
          </a:prstGeom>
        </p:spPr>
      </p:pic>
      <p:pic>
        <p:nvPicPr>
          <p:cNvPr id="21" name="img_1281" descr="/home/nada/PycharmProjects/learned-spectral-basis/.claude/worktrees/shai-deck/reports/shai_deck/figures/samples/j20_10_8_8_s03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18888" y="2093976"/>
            <a:ext cx="676656" cy="676656"/>
          </a:xfrm>
          <a:prstGeom prst="rect">
            <a:avLst/>
          </a:prstGeom>
        </p:spPr>
      </p:pic>
      <p:pic>
        <p:nvPicPr>
          <p:cNvPr id="22" name="img_1282" descr="/home/nada/PycharmProjects/learned-spectral-basis/.claude/worktrees/shai-deck/reports/shai_deck/figures/samples/j20_10_8_8_s04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41264" y="2093976"/>
            <a:ext cx="676656" cy="676656"/>
          </a:xfrm>
          <a:prstGeom prst="rect">
            <a:avLst/>
          </a:prstGeom>
        </p:spPr>
      </p:pic>
      <p:pic>
        <p:nvPicPr>
          <p:cNvPr id="23" name="img_1283" descr="/home/nada/PycharmProjects/learned-spectral-basis/.claude/worktrees/shai-deck/reports/shai_deck/figures/samples/j20_10_8_8_s05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63640" y="2093976"/>
            <a:ext cx="676656" cy="676656"/>
          </a:xfrm>
          <a:prstGeom prst="rect">
            <a:avLst/>
          </a:prstGeom>
        </p:spPr>
      </p:pic>
      <p:pic>
        <p:nvPicPr>
          <p:cNvPr id="24" name="img_1284" descr="/home/nada/PycharmProjects/learned-spectral-basis/.claude/worktrees/shai-deck/reports/shai_deck/figures/samples/j20_10_8_8_s06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86016" y="2093976"/>
            <a:ext cx="676656" cy="676656"/>
          </a:xfrm>
          <a:prstGeom prst="rect">
            <a:avLst/>
          </a:prstGeom>
        </p:spPr>
      </p:pic>
      <p:pic>
        <p:nvPicPr>
          <p:cNvPr id="25" name="img_1285" descr="/home/nada/PycharmProjects/learned-spectral-basis/.claude/worktrees/shai-deck/reports/shai_deck/figures/samples/j20_10_8_8_s07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08392" y="2093976"/>
            <a:ext cx="676656" cy="676656"/>
          </a:xfrm>
          <a:prstGeom prst="rect">
            <a:avLst/>
          </a:prstGeom>
        </p:spPr>
      </p:pic>
      <p:pic>
        <p:nvPicPr>
          <p:cNvPr id="26" name="img_1286" descr="/home/nada/PycharmProjects/learned-spectral-basis/.claude/worktrees/shai-deck/reports/shai_deck/figures/samples/j20_10_8_8_s08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30768" y="2093976"/>
            <a:ext cx="676656" cy="676656"/>
          </a:xfrm>
          <a:prstGeom prst="rect">
            <a:avLst/>
          </a:prstGeom>
        </p:spPr>
      </p:pic>
      <p:pic>
        <p:nvPicPr>
          <p:cNvPr id="27" name="img_1287" descr="/home/nada/PycharmProjects/learned-spectral-basis/.claude/worktrees/shai-deck/reports/shai_deck/figures/samples/j20_10_8_8_s09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53144" y="2093976"/>
            <a:ext cx="676656" cy="676656"/>
          </a:xfrm>
          <a:prstGeom prst="rect">
            <a:avLst/>
          </a:prstGeom>
        </p:spPr>
      </p:pic>
      <p:pic>
        <p:nvPicPr>
          <p:cNvPr id="28" name="img_1288" descr="/home/nada/PycharmProjects/learned-spectral-basis/.claude/worktrees/shai-deck/reports/shai_deck/figures/samples/j20_10_8_8_s10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75520" y="2093976"/>
            <a:ext cx="676656" cy="676656"/>
          </a:xfrm>
          <a:prstGeom prst="rect">
            <a:avLst/>
          </a:prstGeom>
        </p:spPr>
      </p:pic>
      <p:pic>
        <p:nvPicPr>
          <p:cNvPr id="29" name="img_1289" descr="/home/nada/PycharmProjects/learned-spectral-basis/.claude/worktrees/shai-deck/reports/shai_deck/figures/samples/j20_10_8_8_s11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97896" y="2093976"/>
            <a:ext cx="676656" cy="676656"/>
          </a:xfrm>
          <a:prstGeom prst="rect">
            <a:avLst/>
          </a:prstGeom>
        </p:spPr>
      </p:pic>
      <p:sp>
        <p:nvSpPr>
          <p:cNvPr id="30" name="text_1290"/>
          <p:cNvSpPr txBox="1"/>
          <p:nvPr/>
        </p:nvSpPr>
        <p:spPr>
          <a:xfrm>
            <a:off x="548640" y="283464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R0 250k · UniPC-15</a:t>
            </a:r>
            <a:endParaRPr lang="en-US" sz="1150" dirty="0"/>
          </a:p>
        </p:txBody>
      </p:sp>
      <p:pic>
        <p:nvPicPr>
          <p:cNvPr id="31" name="img_1291" descr="/home/nada/PycharmProjects/learned-spectral-basis/.claude/worktrees/shai-deck/reports/shai_deck/figures/samples/r0_unipc_15_s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651760" y="2834640"/>
            <a:ext cx="676656" cy="676656"/>
          </a:xfrm>
          <a:prstGeom prst="rect">
            <a:avLst/>
          </a:prstGeom>
        </p:spPr>
      </p:pic>
      <p:pic>
        <p:nvPicPr>
          <p:cNvPr id="32" name="img_1292" descr="/home/nada/PycharmProjects/learned-spectral-basis/.claude/worktrees/shai-deck/reports/shai_deck/figures/samples/r0_unipc_15_s01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74136" y="2834640"/>
            <a:ext cx="676656" cy="676656"/>
          </a:xfrm>
          <a:prstGeom prst="rect">
            <a:avLst/>
          </a:prstGeom>
        </p:spPr>
      </p:pic>
      <p:pic>
        <p:nvPicPr>
          <p:cNvPr id="33" name="img_1293" descr="/home/nada/PycharmProjects/learned-spectral-basis/.claude/worktrees/shai-deck/reports/shai_deck/figures/samples/r0_unipc_15_s02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96512" y="2834640"/>
            <a:ext cx="676656" cy="676656"/>
          </a:xfrm>
          <a:prstGeom prst="rect">
            <a:avLst/>
          </a:prstGeom>
        </p:spPr>
      </p:pic>
      <p:pic>
        <p:nvPicPr>
          <p:cNvPr id="34" name="img_1294" descr="/home/nada/PycharmProjects/learned-spectral-basis/.claude/worktrees/shai-deck/reports/shai_deck/figures/samples/r0_unipc_15_s03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18888" y="2834640"/>
            <a:ext cx="676656" cy="676656"/>
          </a:xfrm>
          <a:prstGeom prst="rect">
            <a:avLst/>
          </a:prstGeom>
        </p:spPr>
      </p:pic>
      <p:pic>
        <p:nvPicPr>
          <p:cNvPr id="35" name="img_1295" descr="/home/nada/PycharmProjects/learned-spectral-basis/.claude/worktrees/shai-deck/reports/shai_deck/figures/samples/r0_unipc_15_s04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541264" y="2834640"/>
            <a:ext cx="676656" cy="676656"/>
          </a:xfrm>
          <a:prstGeom prst="rect">
            <a:avLst/>
          </a:prstGeom>
        </p:spPr>
      </p:pic>
      <p:pic>
        <p:nvPicPr>
          <p:cNvPr id="36" name="img_1296" descr="/home/nada/PycharmProjects/learned-spectral-basis/.claude/worktrees/shai-deck/reports/shai_deck/figures/samples/r0_unipc_15_s05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63640" y="2834640"/>
            <a:ext cx="676656" cy="676656"/>
          </a:xfrm>
          <a:prstGeom prst="rect">
            <a:avLst/>
          </a:prstGeom>
        </p:spPr>
      </p:pic>
      <p:pic>
        <p:nvPicPr>
          <p:cNvPr id="37" name="img_1297" descr="/home/nada/PycharmProjects/learned-spectral-basis/.claude/worktrees/shai-deck/reports/shai_deck/figures/samples/r0_unipc_15_s06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986016" y="2834640"/>
            <a:ext cx="676656" cy="676656"/>
          </a:xfrm>
          <a:prstGeom prst="rect">
            <a:avLst/>
          </a:prstGeom>
        </p:spPr>
      </p:pic>
      <p:pic>
        <p:nvPicPr>
          <p:cNvPr id="38" name="img_1298" descr="/home/nada/PycharmProjects/learned-spectral-basis/.claude/worktrees/shai-deck/reports/shai_deck/figures/samples/r0_unipc_15_s07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708392" y="2834640"/>
            <a:ext cx="676656" cy="676656"/>
          </a:xfrm>
          <a:prstGeom prst="rect">
            <a:avLst/>
          </a:prstGeom>
        </p:spPr>
      </p:pic>
      <p:pic>
        <p:nvPicPr>
          <p:cNvPr id="39" name="img_1299" descr="/home/nada/PycharmProjects/learned-spectral-basis/.claude/worktrees/shai-deck/reports/shai_deck/figures/samples/r0_unipc_15_s08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30768" y="2834640"/>
            <a:ext cx="676656" cy="676656"/>
          </a:xfrm>
          <a:prstGeom prst="rect">
            <a:avLst/>
          </a:prstGeom>
        </p:spPr>
      </p:pic>
      <p:pic>
        <p:nvPicPr>
          <p:cNvPr id="40" name="img_1300" descr="/home/nada/PycharmProjects/learned-spectral-basis/.claude/worktrees/shai-deck/reports/shai_deck/figures/samples/r0_unipc_15_s09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153144" y="2834640"/>
            <a:ext cx="676656" cy="676656"/>
          </a:xfrm>
          <a:prstGeom prst="rect">
            <a:avLst/>
          </a:prstGeom>
        </p:spPr>
      </p:pic>
      <p:pic>
        <p:nvPicPr>
          <p:cNvPr id="41" name="img_1301" descr="/home/nada/PycharmProjects/learned-spectral-basis/.claude/worktrees/shai-deck/reports/shai_deck/figures/samples/r0_unipc_15_s10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875520" y="2834640"/>
            <a:ext cx="676656" cy="676656"/>
          </a:xfrm>
          <a:prstGeom prst="rect">
            <a:avLst/>
          </a:prstGeom>
        </p:spPr>
      </p:pic>
      <p:pic>
        <p:nvPicPr>
          <p:cNvPr id="42" name="img_1302" descr="/home/nada/PycharmProjects/learned-spectral-basis/.claude/worktrees/shai-deck/reports/shai_deck/figures/samples/r0_unipc_15_s11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597896" y="2834640"/>
            <a:ext cx="676656" cy="676656"/>
          </a:xfrm>
          <a:prstGeom prst="rect">
            <a:avLst/>
          </a:prstGeom>
        </p:spPr>
      </p:pic>
      <p:sp>
        <p:nvSpPr>
          <p:cNvPr id="43" name="text_1303"/>
          <p:cNvSpPr txBox="1"/>
          <p:nvPr/>
        </p:nvSpPr>
        <p:spPr>
          <a:xfrm>
            <a:off x="548640" y="357530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A0 174k · UniPC-15</a:t>
            </a:r>
            <a:endParaRPr lang="en-US" sz="1150" dirty="0"/>
          </a:p>
        </p:txBody>
      </p:sp>
      <p:pic>
        <p:nvPicPr>
          <p:cNvPr id="44" name="img_1304" descr="/home/nada/PycharmProjects/learned-spectral-basis/.claude/worktrees/shai-deck/reports/shai_deck/figures/samples/a0_unipc_15_s00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651760" y="3575304"/>
            <a:ext cx="676656" cy="676656"/>
          </a:xfrm>
          <a:prstGeom prst="rect">
            <a:avLst/>
          </a:prstGeom>
        </p:spPr>
      </p:pic>
      <p:pic>
        <p:nvPicPr>
          <p:cNvPr id="45" name="img_1305" descr="/home/nada/PycharmProjects/learned-spectral-basis/.claude/worktrees/shai-deck/reports/shai_deck/figures/samples/a0_unipc_15_s01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74136" y="3575304"/>
            <a:ext cx="676656" cy="676656"/>
          </a:xfrm>
          <a:prstGeom prst="rect">
            <a:avLst/>
          </a:prstGeom>
        </p:spPr>
      </p:pic>
      <p:pic>
        <p:nvPicPr>
          <p:cNvPr id="46" name="img_1306" descr="/home/nada/PycharmProjects/learned-spectral-basis/.claude/worktrees/shai-deck/reports/shai_deck/figures/samples/a0_unipc_15_s02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096512" y="3575304"/>
            <a:ext cx="676656" cy="676656"/>
          </a:xfrm>
          <a:prstGeom prst="rect">
            <a:avLst/>
          </a:prstGeom>
        </p:spPr>
      </p:pic>
      <p:pic>
        <p:nvPicPr>
          <p:cNvPr id="47" name="img_1307" descr="/home/nada/PycharmProjects/learned-spectral-basis/.claude/worktrees/shai-deck/reports/shai_deck/figures/samples/a0_unipc_15_s03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818888" y="3575304"/>
            <a:ext cx="676656" cy="676656"/>
          </a:xfrm>
          <a:prstGeom prst="rect">
            <a:avLst/>
          </a:prstGeom>
        </p:spPr>
      </p:pic>
      <p:pic>
        <p:nvPicPr>
          <p:cNvPr id="48" name="img_1308" descr="/home/nada/PycharmProjects/learned-spectral-basis/.claude/worktrees/shai-deck/reports/shai_deck/figures/samples/a0_unipc_15_s04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541264" y="3575304"/>
            <a:ext cx="676656" cy="676656"/>
          </a:xfrm>
          <a:prstGeom prst="rect">
            <a:avLst/>
          </a:prstGeom>
        </p:spPr>
      </p:pic>
      <p:pic>
        <p:nvPicPr>
          <p:cNvPr id="49" name="img_1309" descr="/home/nada/PycharmProjects/learned-spectral-basis/.claude/worktrees/shai-deck/reports/shai_deck/figures/samples/a0_unipc_15_s05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263640" y="3575304"/>
            <a:ext cx="676656" cy="676656"/>
          </a:xfrm>
          <a:prstGeom prst="rect">
            <a:avLst/>
          </a:prstGeom>
        </p:spPr>
      </p:pic>
      <p:pic>
        <p:nvPicPr>
          <p:cNvPr id="50" name="img_1310" descr="/home/nada/PycharmProjects/learned-spectral-basis/.claude/worktrees/shai-deck/reports/shai_deck/figures/samples/a0_unipc_15_s06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986016" y="3575304"/>
            <a:ext cx="676656" cy="676656"/>
          </a:xfrm>
          <a:prstGeom prst="rect">
            <a:avLst/>
          </a:prstGeom>
        </p:spPr>
      </p:pic>
      <p:pic>
        <p:nvPicPr>
          <p:cNvPr id="51" name="img_1311" descr="/home/nada/PycharmProjects/learned-spectral-basis/.claude/worktrees/shai-deck/reports/shai_deck/figures/samples/a0_unipc_15_s07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708392" y="3575304"/>
            <a:ext cx="676656" cy="676656"/>
          </a:xfrm>
          <a:prstGeom prst="rect">
            <a:avLst/>
          </a:prstGeom>
        </p:spPr>
      </p:pic>
      <p:pic>
        <p:nvPicPr>
          <p:cNvPr id="52" name="img_1312" descr="/home/nada/PycharmProjects/learned-spectral-basis/.claude/worktrees/shai-deck/reports/shai_deck/figures/samples/a0_unipc_15_s08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430768" y="3575304"/>
            <a:ext cx="676656" cy="676656"/>
          </a:xfrm>
          <a:prstGeom prst="rect">
            <a:avLst/>
          </a:prstGeom>
        </p:spPr>
      </p:pic>
      <p:pic>
        <p:nvPicPr>
          <p:cNvPr id="53" name="img_1313" descr="/home/nada/PycharmProjects/learned-spectral-basis/.claude/worktrees/shai-deck/reports/shai_deck/figures/samples/a0_unipc_15_s09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153144" y="3575304"/>
            <a:ext cx="676656" cy="676656"/>
          </a:xfrm>
          <a:prstGeom prst="rect">
            <a:avLst/>
          </a:prstGeom>
        </p:spPr>
      </p:pic>
      <p:pic>
        <p:nvPicPr>
          <p:cNvPr id="54" name="img_1314" descr="/home/nada/PycharmProjects/learned-spectral-basis/.claude/worktrees/shai-deck/reports/shai_deck/figures/samples/a0_unipc_15_s10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875520" y="3575304"/>
            <a:ext cx="676656" cy="676656"/>
          </a:xfrm>
          <a:prstGeom prst="rect">
            <a:avLst/>
          </a:prstGeom>
        </p:spPr>
      </p:pic>
      <p:pic>
        <p:nvPicPr>
          <p:cNvPr id="55" name="img_1315" descr="/home/nada/PycharmProjects/learned-spectral-basis/.claude/worktrees/shai-deck/reports/shai_deck/figures/samples/a0_unipc_15_s11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597896" y="3575304"/>
            <a:ext cx="676656" cy="676656"/>
          </a:xfrm>
          <a:prstGeom prst="rect">
            <a:avLst/>
          </a:prstGeom>
        </p:spPr>
      </p:pic>
      <p:sp>
        <p:nvSpPr>
          <p:cNvPr id="56" name="text_1316"/>
          <p:cNvSpPr txBox="1"/>
          <p:nvPr/>
        </p:nvSpPr>
        <p:spPr>
          <a:xfrm>
            <a:off x="548640" y="431596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A1 100k · UniPC 46</a:t>
            </a:r>
            <a:endParaRPr lang="en-US" sz="1150" dirty="0"/>
          </a:p>
        </p:txBody>
      </p:sp>
      <p:pic>
        <p:nvPicPr>
          <p:cNvPr id="57" name="img_1317" descr="/home/nada/PycharmProjects/learned-spectral-basis/.claude/worktrees/shai-deck/reports/shai_deck/figures/samples/a1100_ema_j20_s00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651760" y="4315968"/>
            <a:ext cx="676656" cy="676656"/>
          </a:xfrm>
          <a:prstGeom prst="rect">
            <a:avLst/>
          </a:prstGeom>
        </p:spPr>
      </p:pic>
      <p:pic>
        <p:nvPicPr>
          <p:cNvPr id="58" name="img_1318" descr="/home/nada/PycharmProjects/learned-spectral-basis/.claude/worktrees/shai-deck/reports/shai_deck/figures/samples/a1100_ema_j20_s01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374136" y="4315968"/>
            <a:ext cx="676656" cy="676656"/>
          </a:xfrm>
          <a:prstGeom prst="rect">
            <a:avLst/>
          </a:prstGeom>
        </p:spPr>
      </p:pic>
      <p:pic>
        <p:nvPicPr>
          <p:cNvPr id="59" name="img_1319" descr="/home/nada/PycharmProjects/learned-spectral-basis/.claude/worktrees/shai-deck/reports/shai_deck/figures/samples/a1100_ema_j20_s02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096512" y="4315968"/>
            <a:ext cx="676656" cy="676656"/>
          </a:xfrm>
          <a:prstGeom prst="rect">
            <a:avLst/>
          </a:prstGeom>
        </p:spPr>
      </p:pic>
      <p:pic>
        <p:nvPicPr>
          <p:cNvPr id="60" name="img_1320" descr="/home/nada/PycharmProjects/learned-spectral-basis/.claude/worktrees/shai-deck/reports/shai_deck/figures/samples/a1100_ema_j20_s03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818888" y="4315968"/>
            <a:ext cx="676656" cy="676656"/>
          </a:xfrm>
          <a:prstGeom prst="rect">
            <a:avLst/>
          </a:prstGeom>
        </p:spPr>
      </p:pic>
      <p:pic>
        <p:nvPicPr>
          <p:cNvPr id="61" name="img_1321" descr="/home/nada/PycharmProjects/learned-spectral-basis/.claude/worktrees/shai-deck/reports/shai_deck/figures/samples/a1100_ema_j20_s04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541264" y="4315968"/>
            <a:ext cx="676656" cy="676656"/>
          </a:xfrm>
          <a:prstGeom prst="rect">
            <a:avLst/>
          </a:prstGeom>
        </p:spPr>
      </p:pic>
      <p:pic>
        <p:nvPicPr>
          <p:cNvPr id="62" name="img_1322" descr="/home/nada/PycharmProjects/learned-spectral-basis/.claude/worktrees/shai-deck/reports/shai_deck/figures/samples/a1100_ema_j20_s05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263640" y="4315968"/>
            <a:ext cx="676656" cy="676656"/>
          </a:xfrm>
          <a:prstGeom prst="rect">
            <a:avLst/>
          </a:prstGeom>
        </p:spPr>
      </p:pic>
      <p:pic>
        <p:nvPicPr>
          <p:cNvPr id="63" name="img_1323" descr="/home/nada/PycharmProjects/learned-spectral-basis/.claude/worktrees/shai-deck/reports/shai_deck/figures/samples/a1100_ema_j20_s06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986016" y="4315968"/>
            <a:ext cx="676656" cy="676656"/>
          </a:xfrm>
          <a:prstGeom prst="rect">
            <a:avLst/>
          </a:prstGeom>
        </p:spPr>
      </p:pic>
      <p:pic>
        <p:nvPicPr>
          <p:cNvPr id="64" name="img_1324" descr="/home/nada/PycharmProjects/learned-spectral-basis/.claude/worktrees/shai-deck/reports/shai_deck/figures/samples/a1100_ema_j20_s07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708392" y="4315968"/>
            <a:ext cx="676656" cy="676656"/>
          </a:xfrm>
          <a:prstGeom prst="rect">
            <a:avLst/>
          </a:prstGeom>
        </p:spPr>
      </p:pic>
      <p:pic>
        <p:nvPicPr>
          <p:cNvPr id="65" name="img_1325" descr="/home/nada/PycharmProjects/learned-spectral-basis/.claude/worktrees/shai-deck/reports/shai_deck/figures/samples/a1100_ema_j20_s08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430768" y="4315968"/>
            <a:ext cx="676656" cy="676656"/>
          </a:xfrm>
          <a:prstGeom prst="rect">
            <a:avLst/>
          </a:prstGeom>
        </p:spPr>
      </p:pic>
      <p:pic>
        <p:nvPicPr>
          <p:cNvPr id="66" name="img_1326" descr="/home/nada/PycharmProjects/learned-spectral-basis/.claude/worktrees/shai-deck/reports/shai_deck/figures/samples/a1100_ema_j20_s09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153144" y="4315968"/>
            <a:ext cx="676656" cy="676656"/>
          </a:xfrm>
          <a:prstGeom prst="rect">
            <a:avLst/>
          </a:prstGeom>
        </p:spPr>
      </p:pic>
      <p:pic>
        <p:nvPicPr>
          <p:cNvPr id="67" name="img_1327" descr="/home/nada/PycharmProjects/learned-spectral-basis/.claude/worktrees/shai-deck/reports/shai_deck/figures/samples/a1100_ema_j20_s10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875520" y="4315968"/>
            <a:ext cx="676656" cy="676656"/>
          </a:xfrm>
          <a:prstGeom prst="rect">
            <a:avLst/>
          </a:prstGeom>
        </p:spPr>
      </p:pic>
      <p:pic>
        <p:nvPicPr>
          <p:cNvPr id="68" name="img_1328" descr="/home/nada/PycharmProjects/learned-spectral-basis/.claude/worktrees/shai-deck/reports/shai_deck/figures/samples/a1100_ema_j20_s11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0597896" y="4315968"/>
            <a:ext cx="676656" cy="676656"/>
          </a:xfrm>
          <a:prstGeom prst="rect">
            <a:avLst/>
          </a:prstGeom>
        </p:spPr>
      </p:pic>
      <p:sp>
        <p:nvSpPr>
          <p:cNvPr id="69" name="text_1329"/>
          <p:cNvSpPr txBox="1"/>
          <p:nvPr/>
        </p:nvSpPr>
        <p:spPr>
          <a:xfrm>
            <a:off x="548640" y="505663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7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100k · UniPC</a:t>
            </a:r>
            <a:endParaRPr lang="en-US" sz="1150" dirty="0"/>
          </a:p>
        </p:txBody>
      </p:sp>
      <p:pic>
        <p:nvPicPr>
          <p:cNvPr id="70" name="img_1330" descr="/home/nada/PycharmProjects/learned-spectral-basis/.claude/worktrees/shai-deck/reports/shai_deck/figures/samples/rev100_ema_pos_s00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651760" y="5056632"/>
            <a:ext cx="676656" cy="676656"/>
          </a:xfrm>
          <a:prstGeom prst="rect">
            <a:avLst/>
          </a:prstGeom>
        </p:spPr>
      </p:pic>
      <p:pic>
        <p:nvPicPr>
          <p:cNvPr id="71" name="img_1331" descr="/home/nada/PycharmProjects/learned-spectral-basis/.claude/worktrees/shai-deck/reports/shai_deck/figures/samples/rev100_ema_pos_s01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374136" y="5056632"/>
            <a:ext cx="676656" cy="676656"/>
          </a:xfrm>
          <a:prstGeom prst="rect">
            <a:avLst/>
          </a:prstGeom>
        </p:spPr>
      </p:pic>
      <p:pic>
        <p:nvPicPr>
          <p:cNvPr id="72" name="img_1332" descr="/home/nada/PycharmProjects/learned-spectral-basis/.claude/worktrees/shai-deck/reports/shai_deck/figures/samples/rev100_ema_pos_s02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096512" y="5056632"/>
            <a:ext cx="676656" cy="676656"/>
          </a:xfrm>
          <a:prstGeom prst="rect">
            <a:avLst/>
          </a:prstGeom>
        </p:spPr>
      </p:pic>
      <p:pic>
        <p:nvPicPr>
          <p:cNvPr id="73" name="img_1333" descr="/home/nada/PycharmProjects/learned-spectral-basis/.claude/worktrees/shai-deck/reports/shai_deck/figures/samples/rev100_ema_pos_s03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818888" y="5056632"/>
            <a:ext cx="676656" cy="676656"/>
          </a:xfrm>
          <a:prstGeom prst="rect">
            <a:avLst/>
          </a:prstGeom>
        </p:spPr>
      </p:pic>
      <p:pic>
        <p:nvPicPr>
          <p:cNvPr id="74" name="img_1334" descr="/home/nada/PycharmProjects/learned-spectral-basis/.claude/worktrees/shai-deck/reports/shai_deck/figures/samples/rev100_ema_pos_s04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541264" y="5056632"/>
            <a:ext cx="676656" cy="676656"/>
          </a:xfrm>
          <a:prstGeom prst="rect">
            <a:avLst/>
          </a:prstGeom>
        </p:spPr>
      </p:pic>
      <p:pic>
        <p:nvPicPr>
          <p:cNvPr id="75" name="img_1335" descr="/home/nada/PycharmProjects/learned-spectral-basis/.claude/worktrees/shai-deck/reports/shai_deck/figures/samples/rev100_ema_pos_s05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6263640" y="5056632"/>
            <a:ext cx="676656" cy="676656"/>
          </a:xfrm>
          <a:prstGeom prst="rect">
            <a:avLst/>
          </a:prstGeom>
        </p:spPr>
      </p:pic>
      <p:pic>
        <p:nvPicPr>
          <p:cNvPr id="76" name="img_1336" descr="/home/nada/PycharmProjects/learned-spectral-basis/.claude/worktrees/shai-deck/reports/shai_deck/figures/samples/rev100_ema_pos_s06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6986016" y="5056632"/>
            <a:ext cx="676656" cy="676656"/>
          </a:xfrm>
          <a:prstGeom prst="rect">
            <a:avLst/>
          </a:prstGeom>
        </p:spPr>
      </p:pic>
      <p:pic>
        <p:nvPicPr>
          <p:cNvPr id="77" name="img_1337" descr="/home/nada/PycharmProjects/learned-spectral-basis/.claude/worktrees/shai-deck/reports/shai_deck/figures/samples/rev100_ema_pos_s07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708392" y="5056632"/>
            <a:ext cx="676656" cy="676656"/>
          </a:xfrm>
          <a:prstGeom prst="rect">
            <a:avLst/>
          </a:prstGeom>
        </p:spPr>
      </p:pic>
      <p:pic>
        <p:nvPicPr>
          <p:cNvPr id="78" name="img_1338" descr="/home/nada/PycharmProjects/learned-spectral-basis/.claude/worktrees/shai-deck/reports/shai_deck/figures/samples/rev100_ema_pos_s08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8430768" y="5056632"/>
            <a:ext cx="676656" cy="676656"/>
          </a:xfrm>
          <a:prstGeom prst="rect">
            <a:avLst/>
          </a:prstGeom>
        </p:spPr>
      </p:pic>
      <p:pic>
        <p:nvPicPr>
          <p:cNvPr id="79" name="img_1339" descr="/home/nada/PycharmProjects/learned-spectral-basis/.claude/worktrees/shai-deck/reports/shai_deck/figures/samples/rev100_ema_pos_s09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153144" y="5056632"/>
            <a:ext cx="676656" cy="676656"/>
          </a:xfrm>
          <a:prstGeom prst="rect">
            <a:avLst/>
          </a:prstGeom>
        </p:spPr>
      </p:pic>
      <p:pic>
        <p:nvPicPr>
          <p:cNvPr id="80" name="img_1340" descr="/home/nada/PycharmProjects/learned-spectral-basis/.claude/worktrees/shai-deck/reports/shai_deck/figures/samples/rev100_ema_pos_s10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9875520" y="5056632"/>
            <a:ext cx="676656" cy="676656"/>
          </a:xfrm>
          <a:prstGeom prst="rect">
            <a:avLst/>
          </a:prstGeom>
        </p:spPr>
      </p:pic>
      <p:pic>
        <p:nvPicPr>
          <p:cNvPr id="81" name="img_1341" descr="/home/nada/PycharmProjects/learned-spectral-basis/.claude/worktrees/shai-deck/reports/shai_deck/figures/samples/rev100_ema_pos_s11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0597896" y="5056632"/>
            <a:ext cx="676656" cy="676656"/>
          </a:xfrm>
          <a:prstGeom prst="rect">
            <a:avLst/>
          </a:prstGeom>
        </p:spPr>
      </p:pic>
      <p:sp>
        <p:nvSpPr>
          <p:cNvPr id="82" name="text_1342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seeds 0–11, H100, uncurated. Euler → UniPC keeps identity and sharpens. The two joint models (R0, A0) map the same noise to nearly the same face; A1 diverges more, consistent with its layout being set by the G0 noise slice alone. Reverse order keeps faces but loses colour and diversity.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  ·  REFERENCES (VERIFIED 19 OCT 2026)</a:t>
            </a:r>
            <a:endParaRPr lang="en-US" sz="11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3035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Bibliography</a:t>
            </a:r>
            <a:endParaRPr lang="en-US" sz="2800" dirty="0"/>
          </a:p>
        </p:txBody>
      </p:sp>
      <p:sp>
        <p:nvSpPr>
          <p:cNvPr id="4" name="text_1343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Nash, Menick, Dieleman, Battaglia. Generating Images with Sparse Representations (DCTransformer). ICML 2021.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arxiv.org/abs/2103.03841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Han, Ghazvininejad, Koh, Tsvetkov. JPEG-LM: LLMs as Image Generators with Canonical Codec Representations. 2024.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arxiv.org/abs/2408.08459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 et al. DCTdiff: Intriguing Properties of Image Generative Modeling in the DCT Space. ICML 2025.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arxiv.org/abs/2412.15032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Lee, Lee, Kim, Kim, Uh. Sequential Data Generation with Groupwise Diffusion Process (GDM). 2023.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arxiv.org/abs/2310.01400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Yu, Luo, Yuan, Rong, Huang, Zhao. Frequency Autoregressive Image Generation with Continuous Tokens (FAR). 2025.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arxiv.org/abs/2503.05305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Huang et al. NFIG: Autoregressive Image Generation with Next-Frequency Prediction (later: Multi-Scale … via Frequency Ordering). 2025.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arxiv.org/abs/2503.07076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Huang, Chen, Zheng, Duan, Zhou, Lu. SpectralAR: Spectral Autoregressive Visual Generation. ICCV 2025.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arxiv.org/abs/2506.10962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Tian et al. Visual Autoregressive Modeling: Scalable Image Generation via Next-Scale Prediction (VAR). 2024.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arxiv.org/abs/2404.02905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Li, Tian, Li, Deng, He. Autoregressive Image Generation without Vector Quantization (MAR). 2024.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arxiv.org/abs/2406.11838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Tschannen, Eastwood, Mentzer. GIVT: Generative Infinite-Vocabulary Transformers. ECCV 2024.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arxiv.org/abs/2312.02116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Tschannen, Pinto, Kolesnikov. JetFormer: An Autoregressive Generative Model of Raw Images and Text. 2024.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arxiv.org/abs/2411.19722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Yu, Derpanis, Brubaker. Wavelet Flow: Fast Training of High Resolution Normalizing Flows. NeurIPS 2020.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arxiv.org/abs/2010.13821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Hang, Bao, Wei, Chen. Fast Autoregressive Models for Continuous Latent Generation (FAR, shortcut head). 2025.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arxiv.org/abs/2504.18391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Ma, Wei, Wang, Zhang, Tian. DeCo: Frequency-Decoupled Pixel Diffusion for End-to-End Image Generation. 2025.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arxiv.org/abs/2511.19365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Zhao et al. UniPC: A Unified Predictor-Corrector Framework for Fast Sampling of Diffusion Models. 2023.  </a:t>
            </a:r>
            <a:r>
              <a:rPr lang="en-US" sz="1100" u="sng" dirty="0">
                <a:solidFill>
                  <a:srgbClr val="7FD8E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arxiv.org/abs/2302.04867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quency AR Dark">
  <a:themeElements>
    <a:clrScheme name="Frequency AR Dark">
      <a:dk1>
        <a:srgbClr val="E8ECF2"/>
      </a:dk1>
      <a:lt1>
        <a:srgbClr val="0E1420"/>
      </a:lt1>
      <a:dk2>
        <a:srgbClr val="9AA6B8"/>
      </a:dk2>
      <a:lt2>
        <a:srgbClr val="161E2E"/>
      </a:lt2>
      <a:accent1>
        <a:srgbClr val="34C3D6"/>
      </a:accent1>
      <a:accent2>
        <a:srgbClr val="F2A93B"/>
      </a:accent2>
      <a:accent3>
        <a:srgbClr val="A88BFA"/>
      </a:accent3>
      <a:accent4>
        <a:srgbClr val="5BD49A"/>
      </a:accent4>
      <a:accent5>
        <a:srgbClr val="F07167"/>
      </a:accent5>
      <a:accent6>
        <a:srgbClr val="E9C46A"/>
      </a:accent6>
      <a:hlink>
        <a:srgbClr val="7FD8E3"/>
      </a:hlink>
      <a:folHlink>
        <a:srgbClr val="A88BFA"/>
      </a:folHlink>
    </a:clrScheme>
    <a:fontScheme name="Frequency AR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Frequency-Autoregressive Image Generation: What Have We Learned?</dc:title>
  <dc:subject>Lab discussion with Prof. Shai Avidan, 19 Oct 2026</dc:subject>
  <dc:creator>nadavo11</dc:creator>
  <cp:lastModifiedBy>nadavo11</cp:lastModifiedBy>
  <cp:revision>1</cp:revision>
  <dcterms:created xsi:type="dcterms:W3CDTF">2026-10-19T08:35:09Z</dcterms:created>
  <dcterms:modified xsi:type="dcterms:W3CDTF">2026-10-19T08:35:09Z</dcterms:modified>
</cp:coreProperties>
</file>